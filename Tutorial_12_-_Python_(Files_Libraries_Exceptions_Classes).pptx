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476" r:id="rId3"/>
    <p:sldId id="477" r:id="rId4"/>
    <p:sldId id="499" r:id="rId5"/>
    <p:sldId id="500" r:id="rId6"/>
    <p:sldId id="480" r:id="rId7"/>
    <p:sldId id="481" r:id="rId8"/>
    <p:sldId id="507" r:id="rId9"/>
    <p:sldId id="519" r:id="rId10"/>
    <p:sldId id="546" r:id="rId11"/>
    <p:sldId id="526" r:id="rId12"/>
    <p:sldId id="527" r:id="rId13"/>
    <p:sldId id="528" r:id="rId14"/>
    <p:sldId id="530" r:id="rId15"/>
    <p:sldId id="531" r:id="rId16"/>
    <p:sldId id="532" r:id="rId17"/>
    <p:sldId id="533" r:id="rId18"/>
    <p:sldId id="558" r:id="rId19"/>
    <p:sldId id="560" r:id="rId20"/>
    <p:sldId id="529" r:id="rId21"/>
    <p:sldId id="547" r:id="rId22"/>
    <p:sldId id="549" r:id="rId23"/>
    <p:sldId id="534" r:id="rId24"/>
    <p:sldId id="535" r:id="rId25"/>
    <p:sldId id="561" r:id="rId26"/>
    <p:sldId id="544" r:id="rId27"/>
    <p:sldId id="550" r:id="rId28"/>
    <p:sldId id="551" r:id="rId29"/>
    <p:sldId id="557" r:id="rId30"/>
    <p:sldId id="552" r:id="rId31"/>
    <p:sldId id="553" r:id="rId32"/>
    <p:sldId id="554" r:id="rId33"/>
    <p:sldId id="562" r:id="rId34"/>
    <p:sldId id="555" r:id="rId35"/>
    <p:sldId id="563" r:id="rId36"/>
    <p:sldId id="564" r:id="rId37"/>
    <p:sldId id="556" r:id="rId38"/>
  </p:sldIdLst>
  <p:sldSz cx="9144000" cy="6858000" type="screen4x3"/>
  <p:notesSz cx="10234613" cy="7102475"/>
  <p:embeddedFontLst>
    <p:embeddedFont>
      <p:font typeface="Consolas" panose="020B0609020204030204" pitchFamily="49" charset="0"/>
      <p:regular r:id="rId41"/>
      <p:bold r:id="rId42"/>
      <p:italic r:id="rId43"/>
      <p:boldItalic r:id="rId44"/>
    </p:embeddedFont>
    <p:embeddedFont>
      <p:font typeface="Gisha" panose="020B0502040204020203" pitchFamily="34" charset="-79"/>
      <p:regular r:id="rId45"/>
      <p:bold r:id="rId46"/>
    </p:embeddedFont>
    <p:embeddedFont>
      <p:font typeface="Segoe UI" panose="020B0502040204020203" pitchFamily="34" charset="0"/>
      <p:regular r:id="rId47"/>
      <p:bold r:id="rId48"/>
      <p:italic r:id="rId49"/>
      <p:boldItalic r:id="rId50"/>
    </p:embeddedFont>
    <p:embeddedFont>
      <p:font typeface="Verdana" panose="020B0604030504040204" pitchFamily="34" charset="0"/>
      <p:regular r:id="rId51"/>
      <p:bold r:id="rId52"/>
      <p:italic r:id="rId53"/>
      <p:boldItalic r:id="rId54"/>
    </p:embeddedFont>
  </p:embeddedFont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762FD74-8FE0-3742-9C81-3D0C61D0BFCF}">
          <p14:sldIdLst>
            <p14:sldId id="256"/>
            <p14:sldId id="476"/>
            <p14:sldId id="477"/>
            <p14:sldId id="499"/>
            <p14:sldId id="500"/>
            <p14:sldId id="480"/>
            <p14:sldId id="481"/>
            <p14:sldId id="507"/>
            <p14:sldId id="519"/>
            <p14:sldId id="546"/>
            <p14:sldId id="526"/>
            <p14:sldId id="527"/>
            <p14:sldId id="528"/>
            <p14:sldId id="530"/>
            <p14:sldId id="531"/>
            <p14:sldId id="532"/>
            <p14:sldId id="533"/>
            <p14:sldId id="558"/>
            <p14:sldId id="560"/>
            <p14:sldId id="529"/>
            <p14:sldId id="547"/>
            <p14:sldId id="549"/>
            <p14:sldId id="534"/>
            <p14:sldId id="535"/>
            <p14:sldId id="561"/>
            <p14:sldId id="544"/>
            <p14:sldId id="550"/>
            <p14:sldId id="551"/>
            <p14:sldId id="557"/>
            <p14:sldId id="552"/>
            <p14:sldId id="553"/>
            <p14:sldId id="554"/>
            <p14:sldId id="562"/>
            <p14:sldId id="555"/>
            <p14:sldId id="563"/>
            <p14:sldId id="564"/>
            <p14:sldId id="55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37">
          <p15:clr>
            <a:srgbClr val="A4A3A4"/>
          </p15:clr>
        </p15:guide>
        <p15:guide id="2" pos="322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om Hirshberg" initials="TH" lastIdx="20" clrIdx="0">
    <p:extLst>
      <p:ext uri="{19B8F6BF-5375-455C-9EA6-DF929625EA0E}">
        <p15:presenceInfo xmlns:p15="http://schemas.microsoft.com/office/powerpoint/2012/main" userId="Tom Hirshberg" providerId="None"/>
      </p:ext>
    </p:extLst>
  </p:cmAuthor>
  <p:cmAuthor id="2" name="Yuri Feldman" initials="YF" lastIdx="9" clrIdx="1">
    <p:extLst>
      <p:ext uri="{19B8F6BF-5375-455C-9EA6-DF929625EA0E}">
        <p15:presenceInfo xmlns:p15="http://schemas.microsoft.com/office/powerpoint/2012/main" userId="S::yurif@campus.technion.ac.il::4a8f689c-6efc-4cd3-8a34-4dc30ef7c661" providerId="AD"/>
      </p:ext>
    </p:extLst>
  </p:cmAuthor>
  <p:cmAuthor id="3" name="Ron Rubinstein" initials="RR" lastIdx="10" clrIdx="2">
    <p:extLst>
      <p:ext uri="{19B8F6BF-5375-455C-9EA6-DF929625EA0E}">
        <p15:presenceInfo xmlns:p15="http://schemas.microsoft.com/office/powerpoint/2012/main" userId="S::ronrub@technion.ac.il::61a556df-34cf-4b74-a5e4-81ece2bc6950" providerId="AD"/>
      </p:ext>
    </p:extLst>
  </p:cmAuthor>
  <p:cmAuthor id="4" name="Ron Rubinstein" initials="RR [2]" lastIdx="21" clrIdx="3">
    <p:extLst>
      <p:ext uri="{19B8F6BF-5375-455C-9EA6-DF929625EA0E}">
        <p15:presenceInfo xmlns:p15="http://schemas.microsoft.com/office/powerpoint/2012/main" userId="Ron Rubinstein" providerId="None"/>
      </p:ext>
    </p:extLst>
  </p:cmAuthor>
  <p:cmAuthor id="5" name="Yuri Feldman" initials="YF [2]" lastIdx="13" clrIdx="4">
    <p:extLst>
      <p:ext uri="{19B8F6BF-5375-455C-9EA6-DF929625EA0E}">
        <p15:presenceInfo xmlns:p15="http://schemas.microsoft.com/office/powerpoint/2012/main" userId="Yuri Feldm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66FF"/>
    <a:srgbClr val="99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73" autoAdjust="0"/>
    <p:restoredTop sz="77638" autoAdjust="0"/>
  </p:normalViewPr>
  <p:slideViewPr>
    <p:cSldViewPr snapToGrid="0">
      <p:cViewPr varScale="1">
        <p:scale>
          <a:sx n="123" d="100"/>
          <a:sy n="123" d="100"/>
        </p:scale>
        <p:origin x="2910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237"/>
        <p:guide pos="322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commentAuthors" Target="comment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font" Target="fonts/font5.fntdata"/><Relationship Id="rId53" Type="http://schemas.openxmlformats.org/officeDocument/2006/relationships/font" Target="fonts/font13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font" Target="fonts/font12.fntdata"/><Relationship Id="rId6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ri Feldman" userId="4a8f689c-6efc-4cd3-8a34-4dc30ef7c661" providerId="ADAL" clId="{6A0096FD-7098-4539-9479-38CE5B7DF534}"/>
    <pc:docChg chg="custSel">
      <pc:chgData name="Yuri Feldman" userId="4a8f689c-6efc-4cd3-8a34-4dc30ef7c661" providerId="ADAL" clId="{6A0096FD-7098-4539-9479-38CE5B7DF534}" dt="2020-05-12T11:57:03.380" v="47" actId="1592"/>
      <pc:docMkLst>
        <pc:docMk/>
      </pc:docMkLst>
      <pc:sldChg chg="delCm">
        <pc:chgData name="Yuri Feldman" userId="4a8f689c-6efc-4cd3-8a34-4dc30ef7c661" providerId="ADAL" clId="{6A0096FD-7098-4539-9479-38CE5B7DF534}" dt="2020-05-12T11:57:03.354" v="23" actId="1592"/>
        <pc:sldMkLst>
          <pc:docMk/>
          <pc:sldMk cId="605063424" sldId="466"/>
        </pc:sldMkLst>
      </pc:sldChg>
      <pc:sldChg chg="delCm">
        <pc:chgData name="Yuri Feldman" userId="4a8f689c-6efc-4cd3-8a34-4dc30ef7c661" providerId="ADAL" clId="{6A0096FD-7098-4539-9479-38CE5B7DF534}" dt="2020-05-12T11:57:03.354" v="28" actId="1592"/>
        <pc:sldMkLst>
          <pc:docMk/>
          <pc:sldMk cId="2102049820" sldId="467"/>
        </pc:sldMkLst>
      </pc:sldChg>
      <pc:sldChg chg="delCm">
        <pc:chgData name="Yuri Feldman" userId="4a8f689c-6efc-4cd3-8a34-4dc30ef7c661" providerId="ADAL" clId="{6A0096FD-7098-4539-9479-38CE5B7DF534}" dt="2020-05-12T11:57:03.368" v="38" actId="1592"/>
        <pc:sldMkLst>
          <pc:docMk/>
          <pc:sldMk cId="93146814" sldId="468"/>
        </pc:sldMkLst>
      </pc:sldChg>
      <pc:sldChg chg="delCm">
        <pc:chgData name="Yuri Feldman" userId="4a8f689c-6efc-4cd3-8a34-4dc30ef7c661" providerId="ADAL" clId="{6A0096FD-7098-4539-9479-38CE5B7DF534}" dt="2020-05-12T11:57:03.368" v="40" actId="1592"/>
        <pc:sldMkLst>
          <pc:docMk/>
          <pc:sldMk cId="3488476003" sldId="469"/>
        </pc:sldMkLst>
      </pc:sldChg>
      <pc:sldChg chg="delCm">
        <pc:chgData name="Yuri Feldman" userId="4a8f689c-6efc-4cd3-8a34-4dc30ef7c661" providerId="ADAL" clId="{6A0096FD-7098-4539-9479-38CE5B7DF534}" dt="2020-05-12T11:57:03.380" v="44" actId="1592"/>
        <pc:sldMkLst>
          <pc:docMk/>
          <pc:sldMk cId="3433857902" sldId="471"/>
        </pc:sldMkLst>
      </pc:sldChg>
      <pc:sldChg chg="delCm">
        <pc:chgData name="Yuri Feldman" userId="4a8f689c-6efc-4cd3-8a34-4dc30ef7c661" providerId="ADAL" clId="{6A0096FD-7098-4539-9479-38CE5B7DF534}" dt="2020-05-12T11:57:03.380" v="45" actId="1592"/>
        <pc:sldMkLst>
          <pc:docMk/>
          <pc:sldMk cId="4094571660" sldId="472"/>
        </pc:sldMkLst>
      </pc:sldChg>
      <pc:sldChg chg="delCm">
        <pc:chgData name="Yuri Feldman" userId="4a8f689c-6efc-4cd3-8a34-4dc30ef7c661" providerId="ADAL" clId="{6A0096FD-7098-4539-9479-38CE5B7DF534}" dt="2020-05-12T11:57:03.354" v="15" actId="1592"/>
        <pc:sldMkLst>
          <pc:docMk/>
          <pc:sldMk cId="2506698197" sldId="475"/>
        </pc:sldMkLst>
      </pc:sldChg>
      <pc:sldChg chg="delCm">
        <pc:chgData name="Yuri Feldman" userId="4a8f689c-6efc-4cd3-8a34-4dc30ef7c661" providerId="ADAL" clId="{6A0096FD-7098-4539-9479-38CE5B7DF534}" dt="2020-05-12T11:57:03.354" v="36" actId="1592"/>
        <pc:sldMkLst>
          <pc:docMk/>
          <pc:sldMk cId="1248241486" sldId="481"/>
        </pc:sldMkLst>
      </pc:sldChg>
      <pc:sldChg chg="delCm">
        <pc:chgData name="Yuri Feldman" userId="4a8f689c-6efc-4cd3-8a34-4dc30ef7c661" providerId="ADAL" clId="{6A0096FD-7098-4539-9479-38CE5B7DF534}" dt="2020-05-12T11:57:03.380" v="47" actId="1592"/>
        <pc:sldMkLst>
          <pc:docMk/>
          <pc:sldMk cId="214797581" sldId="483"/>
        </pc:sldMkLst>
      </pc:sldChg>
      <pc:sldChg chg="delCm">
        <pc:chgData name="Yuri Feldman" userId="4a8f689c-6efc-4cd3-8a34-4dc30ef7c661" providerId="ADAL" clId="{6A0096FD-7098-4539-9479-38CE5B7DF534}" dt="2020-05-12T11:57:03.354" v="7" actId="1592"/>
        <pc:sldMkLst>
          <pc:docMk/>
          <pc:sldMk cId="3806992587" sldId="489"/>
        </pc:sldMkLst>
      </pc:sldChg>
      <pc:sldChg chg="delCm">
        <pc:chgData name="Yuri Feldman" userId="4a8f689c-6efc-4cd3-8a34-4dc30ef7c661" providerId="ADAL" clId="{6A0096FD-7098-4539-9479-38CE5B7DF534}" dt="2020-05-12T11:57:03.354" v="6" actId="1592"/>
        <pc:sldMkLst>
          <pc:docMk/>
          <pc:sldMk cId="3314230651" sldId="490"/>
        </pc:sldMkLst>
      </pc:sldChg>
      <pc:sldChg chg="delCm">
        <pc:chgData name="Yuri Feldman" userId="4a8f689c-6efc-4cd3-8a34-4dc30ef7c661" providerId="ADAL" clId="{6A0096FD-7098-4539-9479-38CE5B7DF534}" dt="2020-05-12T11:57:03.354" v="9" actId="1592"/>
        <pc:sldMkLst>
          <pc:docMk/>
          <pc:sldMk cId="3508990445" sldId="491"/>
        </pc:sldMkLst>
      </pc:sldChg>
      <pc:sldChg chg="delCm">
        <pc:chgData name="Yuri Feldman" userId="4a8f689c-6efc-4cd3-8a34-4dc30ef7c661" providerId="ADAL" clId="{6A0096FD-7098-4539-9479-38CE5B7DF534}" dt="2020-05-12T11:57:03.354" v="32" actId="1592"/>
        <pc:sldMkLst>
          <pc:docMk/>
          <pc:sldMk cId="1751351805" sldId="494"/>
        </pc:sldMkLst>
      </pc:sldChg>
      <pc:sldChg chg="delCm">
        <pc:chgData name="Yuri Feldman" userId="4a8f689c-6efc-4cd3-8a34-4dc30ef7c661" providerId="ADAL" clId="{6A0096FD-7098-4539-9479-38CE5B7DF534}" dt="2020-05-12T11:57:03.354" v="4" actId="1592"/>
        <pc:sldMkLst>
          <pc:docMk/>
          <pc:sldMk cId="1243508924" sldId="495"/>
        </pc:sldMkLst>
      </pc:sldChg>
      <pc:sldChg chg="delCm">
        <pc:chgData name="Yuri Feldman" userId="4a8f689c-6efc-4cd3-8a34-4dc30ef7c661" providerId="ADAL" clId="{6A0096FD-7098-4539-9479-38CE5B7DF534}" dt="2020-05-12T11:57:03.354" v="12" actId="1592"/>
        <pc:sldMkLst>
          <pc:docMk/>
          <pc:sldMk cId="1071092785" sldId="498"/>
        </pc:sldMkLst>
      </pc:sldChg>
      <pc:sldChg chg="delCm">
        <pc:chgData name="Yuri Feldman" userId="4a8f689c-6efc-4cd3-8a34-4dc30ef7c661" providerId="ADAL" clId="{6A0096FD-7098-4539-9479-38CE5B7DF534}" dt="2020-05-12T11:57:03.368" v="41" actId="1592"/>
        <pc:sldMkLst>
          <pc:docMk/>
          <pc:sldMk cId="1804501566" sldId="501"/>
        </pc:sldMkLst>
      </pc:sldChg>
      <pc:sldChg chg="delCm">
        <pc:chgData name="Yuri Feldman" userId="4a8f689c-6efc-4cd3-8a34-4dc30ef7c661" providerId="ADAL" clId="{6A0096FD-7098-4539-9479-38CE5B7DF534}" dt="2020-05-12T11:57:03.354" v="16" actId="1592"/>
        <pc:sldMkLst>
          <pc:docMk/>
          <pc:sldMk cId="3540170483" sldId="502"/>
        </pc:sldMkLst>
      </pc:sldChg>
      <pc:sldChg chg="delCm">
        <pc:chgData name="Yuri Feldman" userId="4a8f689c-6efc-4cd3-8a34-4dc30ef7c661" providerId="ADAL" clId="{6A0096FD-7098-4539-9479-38CE5B7DF534}" dt="2020-05-12T11:57:03.354" v="17" actId="1592"/>
        <pc:sldMkLst>
          <pc:docMk/>
          <pc:sldMk cId="3399742482" sldId="503"/>
        </pc:sldMkLst>
      </pc:sldChg>
      <pc:sldChg chg="delCm">
        <pc:chgData name="Yuri Feldman" userId="4a8f689c-6efc-4cd3-8a34-4dc30ef7c661" providerId="ADAL" clId="{6A0096FD-7098-4539-9479-38CE5B7DF534}" dt="2020-05-12T11:57:03.354" v="18" actId="1592"/>
        <pc:sldMkLst>
          <pc:docMk/>
          <pc:sldMk cId="353855798" sldId="504"/>
        </pc:sldMkLst>
      </pc:sldChg>
      <pc:sldChg chg="delCm">
        <pc:chgData name="Yuri Feldman" userId="4a8f689c-6efc-4cd3-8a34-4dc30ef7c661" providerId="ADAL" clId="{6A0096FD-7098-4539-9479-38CE5B7DF534}" dt="2020-05-12T11:57:03.354" v="34" actId="1592"/>
        <pc:sldMkLst>
          <pc:docMk/>
          <pc:sldMk cId="3744167592" sldId="506"/>
        </pc:sldMkLst>
      </pc:sldChg>
      <pc:sldChg chg="delCm">
        <pc:chgData name="Yuri Feldman" userId="4a8f689c-6efc-4cd3-8a34-4dc30ef7c661" providerId="ADAL" clId="{6A0096FD-7098-4539-9479-38CE5B7DF534}" dt="2020-05-12T11:57:03.354" v="37" actId="1592"/>
        <pc:sldMkLst>
          <pc:docMk/>
          <pc:sldMk cId="1313173944" sldId="507"/>
        </pc:sldMkLst>
      </pc:sldChg>
      <pc:sldChg chg="delCm">
        <pc:chgData name="Yuri Feldman" userId="4a8f689c-6efc-4cd3-8a34-4dc30ef7c661" providerId="ADAL" clId="{6A0096FD-7098-4539-9479-38CE5B7DF534}" dt="2020-05-12T11:57:03.354" v="20" actId="1592"/>
        <pc:sldMkLst>
          <pc:docMk/>
          <pc:sldMk cId="2917980468" sldId="508"/>
        </pc:sldMkLst>
      </pc:sldChg>
      <pc:sldChg chg="delCm">
        <pc:chgData name="Yuri Feldman" userId="4a8f689c-6efc-4cd3-8a34-4dc30ef7c661" providerId="ADAL" clId="{6A0096FD-7098-4539-9479-38CE5B7DF534}" dt="2020-05-12T11:57:03.354" v="22" actId="1592"/>
        <pc:sldMkLst>
          <pc:docMk/>
          <pc:sldMk cId="632732863" sldId="509"/>
        </pc:sldMkLst>
      </pc:sldChg>
      <pc:sldChg chg="delCm">
        <pc:chgData name="Yuri Feldman" userId="4a8f689c-6efc-4cd3-8a34-4dc30ef7c661" providerId="ADAL" clId="{6A0096FD-7098-4539-9479-38CE5B7DF534}" dt="2020-05-12T11:57:03.354" v="11" actId="1592"/>
        <pc:sldMkLst>
          <pc:docMk/>
          <pc:sldMk cId="4251497945" sldId="512"/>
        </pc:sldMkLst>
      </pc:sldChg>
      <pc:sldChg chg="delCm">
        <pc:chgData name="Yuri Feldman" userId="4a8f689c-6efc-4cd3-8a34-4dc30ef7c661" providerId="ADAL" clId="{6A0096FD-7098-4539-9479-38CE5B7DF534}" dt="2020-05-12T11:57:03.354" v="2" actId="1592"/>
        <pc:sldMkLst>
          <pc:docMk/>
          <pc:sldMk cId="1780861934" sldId="516"/>
        </pc:sldMkLst>
      </pc:sldChg>
      <pc:sldChg chg="delCm">
        <pc:chgData name="Yuri Feldman" userId="4a8f689c-6efc-4cd3-8a34-4dc30ef7c661" providerId="ADAL" clId="{6A0096FD-7098-4539-9479-38CE5B7DF534}" dt="2020-05-12T11:57:03.354" v="21" actId="1592"/>
        <pc:sldMkLst>
          <pc:docMk/>
          <pc:sldMk cId="1358338097" sldId="52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799615" y="0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1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2371" y="0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1"/>
          <a:lstStyle>
            <a:lvl1pPr algn="l">
              <a:defRPr sz="1300"/>
            </a:lvl1pPr>
          </a:lstStyle>
          <a:p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5799615" y="6746119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1" anchor="b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2371" y="6746119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1" anchor="b"/>
          <a:lstStyle>
            <a:lvl1pPr algn="l">
              <a:defRPr sz="1300"/>
            </a:lvl1pPr>
          </a:lstStyle>
          <a:p>
            <a:fld id="{DB36883F-9FD6-4187-8968-4D1A4F852C7E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58619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5799615" y="0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1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371" y="0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1"/>
          <a:lstStyle>
            <a:lvl1pPr algn="l">
              <a:defRPr sz="1300"/>
            </a:lvl1pPr>
          </a:lstStyle>
          <a:p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33400"/>
            <a:ext cx="3551237" cy="26622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1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462" y="3373675"/>
            <a:ext cx="8187690" cy="3196114"/>
          </a:xfrm>
          <a:prstGeom prst="rect">
            <a:avLst/>
          </a:prstGeom>
        </p:spPr>
        <p:txBody>
          <a:bodyPr vert="horz" lIns="99066" tIns="49533" rIns="99066" bIns="49533" rtlCol="1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5799615" y="6746119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1" anchor="b"/>
          <a:lstStyle>
            <a:lvl1pPr algn="r">
              <a:defRPr sz="13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371" y="6746119"/>
            <a:ext cx="4434999" cy="355124"/>
          </a:xfrm>
          <a:prstGeom prst="rect">
            <a:avLst/>
          </a:prstGeom>
        </p:spPr>
        <p:txBody>
          <a:bodyPr vert="horz" lIns="99066" tIns="49533" rIns="99066" bIns="49533" rtlCol="1" anchor="b"/>
          <a:lstStyle>
            <a:lvl1pPr algn="l">
              <a:defRPr sz="1300"/>
            </a:lvl1pPr>
          </a:lstStyle>
          <a:p>
            <a:fld id="{6D7C8C35-7446-437D-A33D-E767527B8E45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54727801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/>
              <a:pPr/>
              <a:t>1</a:t>
            </a:fld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00938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39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3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8808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4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119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6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219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7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3824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8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43529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9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81714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כל החלק הזה אני כתבתי מאפס. אלעד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10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13639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11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1464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12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5761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13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756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14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5225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15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32125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למעשה יש גם בלוקי </a:t>
            </a:r>
            <a:r>
              <a:rPr lang="en-US" dirty="0"/>
              <a:t>else</a:t>
            </a:r>
            <a:r>
              <a:rPr lang="he-IL" dirty="0"/>
              <a:t> ל-</a:t>
            </a:r>
            <a:r>
              <a:rPr lang="en-US" dirty="0"/>
              <a:t>for, while</a:t>
            </a:r>
            <a:r>
              <a:rPr lang="he-IL" dirty="0"/>
              <a:t> אבל לא כל כך משתמשים בהם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16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62167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יש גם </a:t>
            </a:r>
            <a:r>
              <a:rPr lang="en-US" dirty="0"/>
              <a:t>finally</a:t>
            </a:r>
            <a:r>
              <a:rPr lang="he-IL" dirty="0"/>
              <a:t> ב-</a:t>
            </a:r>
            <a:r>
              <a:rPr lang="en-US" dirty="0"/>
              <a:t>C++</a:t>
            </a:r>
            <a:r>
              <a:rPr lang="he-IL" dirty="0"/>
              <a:t> למעשה (אם אני זוכר נכון)</a:t>
            </a:r>
          </a:p>
          <a:p>
            <a:pPr marL="0" algn="r" defTabSz="914400" rtl="1" eaLnBrk="1" latinLnBrk="0" hangingPunct="1"/>
            <a:r>
              <a:rPr lang="he-IL" dirty="0"/>
              <a:t>משתמשים ב-</a:t>
            </a:r>
            <a:r>
              <a:rPr lang="en-US" dirty="0"/>
              <a:t>Finally</a:t>
            </a:r>
            <a:r>
              <a:rPr lang="he-IL" dirty="0"/>
              <a:t> כדי לסגור קבצים למשל.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17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21523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יש גם </a:t>
            </a:r>
            <a:r>
              <a:rPr lang="en-US" dirty="0"/>
              <a:t>finally</a:t>
            </a:r>
            <a:r>
              <a:rPr lang="he-IL" dirty="0"/>
              <a:t> ב-</a:t>
            </a:r>
            <a:r>
              <a:rPr lang="en-US" dirty="0"/>
              <a:t>C++</a:t>
            </a:r>
            <a:r>
              <a:rPr lang="he-IL" dirty="0"/>
              <a:t> למעשה (אם אני זוכר נכון)</a:t>
            </a:r>
          </a:p>
          <a:p>
            <a:pPr marL="0" algn="r" defTabSz="914400" rtl="1" eaLnBrk="1" latinLnBrk="0" hangingPunct="1"/>
            <a:r>
              <a:rPr lang="he-IL" dirty="0"/>
              <a:t>משתמשים ב-</a:t>
            </a:r>
            <a:r>
              <a:rPr lang="en-US" dirty="0"/>
              <a:t>Finally</a:t>
            </a:r>
            <a:r>
              <a:rPr lang="he-IL" dirty="0"/>
              <a:t> כדי לסגור קבצים למשל.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18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84455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יש גם </a:t>
            </a:r>
            <a:r>
              <a:rPr lang="en-US" dirty="0"/>
              <a:t>finally</a:t>
            </a:r>
            <a:r>
              <a:rPr lang="he-IL" dirty="0"/>
              <a:t> ב-</a:t>
            </a:r>
            <a:r>
              <a:rPr lang="en-US" dirty="0"/>
              <a:t>C++</a:t>
            </a:r>
            <a:r>
              <a:rPr lang="he-IL" dirty="0"/>
              <a:t> למעשה (אם אני זוכר נכון)</a:t>
            </a:r>
          </a:p>
          <a:p>
            <a:pPr marL="0" algn="r" defTabSz="914400" rtl="1" eaLnBrk="1" latinLnBrk="0" hangingPunct="1"/>
            <a:r>
              <a:rPr lang="he-IL" dirty="0"/>
              <a:t>משתמשים ב-</a:t>
            </a:r>
            <a:r>
              <a:rPr lang="en-US" dirty="0"/>
              <a:t>Finally</a:t>
            </a:r>
            <a:r>
              <a:rPr lang="he-IL" dirty="0"/>
              <a:t> כדי לסגור קבצים למשל.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19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91092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20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96378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כל החלק הזה אני כתבתי מאפס. אלעד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21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50037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22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7728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23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60583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24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2212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25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01289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26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4131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כל החלק הזה אני כתבתי מאפס. אלעד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27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93079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28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1773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29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4496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30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39157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31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01590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32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471474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33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4924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34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138401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35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35504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36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595794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7C8C35-7446-437D-A33D-E767527B8E45}" type="slidenum">
              <a:rPr lang="he-IL" smtClean="0">
                <a:solidFill>
                  <a:prstClr val="black"/>
                </a:solidFill>
              </a:rPr>
              <a:pPr/>
              <a:t>37</a:t>
            </a:fld>
            <a:endParaRPr lang="he-IL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endParaRPr lang="he-IL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0521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5000"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>
              <a:bevelT w="38100" h="38100"/>
              <a:contourClr>
                <a:schemeClr val="accent1">
                  <a:shade val="75000"/>
                </a:schemeClr>
              </a:contourClr>
            </a:sp3d>
          </a:bodyPr>
          <a:lstStyle>
            <a:lvl1pPr>
              <a:defRPr kumimoji="0" lang="en-US" sz="6600" b="1" i="0" u="none" strike="noStrike" kern="1200" cap="none" spc="0" normalizeH="0" baseline="0" dirty="0" smtClean="0">
                <a:ln>
                  <a:prstDash val="solid"/>
                </a:ln>
                <a:gradFill flip="none" rotWithShape="1">
                  <a:gsLst>
                    <a:gs pos="0">
                      <a:srgbClr val="FFC000">
                        <a:shade val="30000"/>
                        <a:satMod val="115000"/>
                      </a:srgbClr>
                    </a:gs>
                    <a:gs pos="50000">
                      <a:srgbClr val="FFC000">
                        <a:shade val="67500"/>
                        <a:satMod val="115000"/>
                      </a:srgbClr>
                    </a:gs>
                    <a:gs pos="100000">
                      <a:srgbClr val="FFC000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effectLst>
                  <a:outerShdw blurRad="190500" dir="5040000" algn="tl">
                    <a:srgbClr val="FFC000">
                      <a:alpha val="45000"/>
                    </a:srgbClr>
                  </a:outerShdw>
                </a:effectLst>
                <a:uLnTx/>
                <a:uFillTx/>
                <a:latin typeface="Verdana"/>
                <a:ea typeface="+mj-ea"/>
                <a:cs typeface="Gisha"/>
              </a:defRPr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342900" indent="-342900" algn="r">
              <a:buClrTx/>
              <a:buFont typeface="Wingdings" pitchFamily="2" charset="2"/>
              <a:buChar char="v"/>
              <a:defRPr>
                <a:solidFill>
                  <a:schemeClr val="bg1">
                    <a:lumMod val="95000"/>
                  </a:schemeClr>
                </a:solidFill>
                <a:effectLst>
                  <a:outerShdw blurRad="127000" dir="5400000" algn="ctr" rotWithShape="0">
                    <a:schemeClr val="bg1">
                      <a:lumMod val="95000"/>
                      <a:alpha val="48000"/>
                    </a:scheme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75C7E-7A6A-4B80-8374-16F8C3FF5B1F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מבוא לתכנות מערכות - 234122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332188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ubject Title">
    <p:bg>
      <p:bgPr>
        <a:blipFill dpi="0"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5000" contrast="4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>
            <a:no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extrusionH="57150" contourW="6350">
              <a:bevelT w="38100" h="38100"/>
              <a:contourClr>
                <a:schemeClr val="accent1">
                  <a:shade val="75000"/>
                </a:schemeClr>
              </a:contourClr>
            </a:sp3d>
          </a:bodyPr>
          <a:lstStyle>
            <a:lvl1pPr>
              <a:defRPr kumimoji="0" lang="en-US" sz="5400" b="1" i="0" u="none" strike="noStrike" kern="1200" cap="none" spc="0" normalizeH="0" baseline="0" dirty="0" smtClean="0">
                <a:ln>
                  <a:prstDash val="solid"/>
                </a:ln>
                <a:gradFill flip="none" rotWithShape="1">
                  <a:gsLst>
                    <a:gs pos="0">
                      <a:srgbClr val="1F497D">
                        <a:lumMod val="40000"/>
                        <a:lumOff val="60000"/>
                        <a:shade val="30000"/>
                        <a:satMod val="115000"/>
                      </a:srgbClr>
                    </a:gs>
                    <a:gs pos="50000">
                      <a:srgbClr val="1F497D">
                        <a:lumMod val="40000"/>
                        <a:lumOff val="60000"/>
                        <a:shade val="67500"/>
                        <a:satMod val="115000"/>
                      </a:srgbClr>
                    </a:gs>
                    <a:gs pos="100000">
                      <a:srgbClr val="1F497D">
                        <a:lumMod val="40000"/>
                        <a:lumOff val="60000"/>
                        <a:shade val="100000"/>
                        <a:satMod val="115000"/>
                      </a:srgbClr>
                    </a:gs>
                  </a:gsLst>
                  <a:lin ang="16200000" scaled="1"/>
                  <a:tileRect/>
                </a:gradFill>
                <a:effectLst>
                  <a:outerShdw blurRad="190500" dir="5040000" algn="tl">
                    <a:srgbClr val="4F81BD">
                      <a:lumMod val="40000"/>
                      <a:lumOff val="60000"/>
                      <a:alpha val="45000"/>
                    </a:srgbClr>
                  </a:outerShdw>
                </a:effectLst>
                <a:uLnTx/>
                <a:uFillTx/>
                <a:latin typeface="Verdana"/>
                <a:ea typeface="+mj-ea"/>
                <a:cs typeface="Gisha"/>
              </a:defRPr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342900" indent="-342900" algn="r">
              <a:buClrTx/>
              <a:buFont typeface="Wingdings" pitchFamily="2" charset="2"/>
              <a:buChar char="v"/>
              <a:defRPr>
                <a:solidFill>
                  <a:schemeClr val="bg1">
                    <a:lumMod val="95000"/>
                  </a:schemeClr>
                </a:solidFill>
                <a:effectLst>
                  <a:outerShdw blurRad="127000" dir="5400000" algn="ctr" rotWithShape="0">
                    <a:schemeClr val="bg1">
                      <a:lumMod val="95000"/>
                      <a:alpha val="48000"/>
                    </a:schemeClr>
                  </a:outerShdw>
                </a:effectLst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F75C7E-7A6A-4B80-8374-16F8C3FF5B1F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מבוא לתכנות מערכות - 234124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29999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342900" indent="-342900">
              <a:buClr>
                <a:schemeClr val="tx1"/>
              </a:buClr>
              <a:buFont typeface="Wingdings" pitchFamily="2" charset="2"/>
              <a:buChar char="§"/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C4-6B3B-4DBB-8CAC-E4E86C4D1160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מבוא לתכנות מערכות - 234124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72769325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 algn="l" defTabSz="540000" rtl="0">
              <a:lnSpc>
                <a:spcPct val="100000"/>
              </a:lnSpc>
              <a:buClr>
                <a:schemeClr val="tx1"/>
              </a:buClr>
              <a:buFont typeface="Wingdings" pitchFamily="2" charset="2"/>
              <a:buNone/>
              <a:defRPr sz="1800">
                <a:latin typeface="Consolas" pitchFamily="49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5BC4-6B3B-4DBB-8CAC-E4E86C4D1160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מבוא לתכנות מערכות - 234124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6433544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52957-5740-47C6-9B82-4F37CD25FF8A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מבוא לתכנות מערכות - 234124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719447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6C1333-01B4-4126-9362-08440504D681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מבוא לתכנות מערכות - 234124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05581385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25A4E-A45B-4B2E-B12A-5302868269C4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מבוא לתכנות מערכות - 234124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35920731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CB9E0-2C1A-4D2B-8E61-88263BB0A089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מבוא לתכנות מערכות - 234124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9566025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2EF0-4954-4DCA-A0AE-451290F26F5A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/>
              <a:t>מבוא לתכנות מערכות - 234124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1694414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rightnessContrast bright="15000" contrast="1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/>
          </a:sp3d>
        </p:spPr>
        <p:txBody>
          <a:bodyPr vert="horz" lIns="91440" tIns="45720" rIns="91440" bIns="45720" rtlCol="1" anchor="ctr">
            <a:normAutofit/>
            <a:sp3d extrusionH="57150">
              <a:bevelT w="38100" h="38100"/>
            </a:sp3d>
          </a:bodyPr>
          <a:lstStyle/>
          <a:p>
            <a:r>
              <a:rPr lang="en-US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6C24E8-B483-4918-8938-604540FEACFD}" type="datetime8">
              <a:rPr lang="he-IL" smtClean="0"/>
              <a:pPr/>
              <a:t>17 מרץ 24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he-IL"/>
              <a:t>מבוא לתכנות מערכות - 234122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AA0D0A-8C4B-4719-B609-4D5056352519}" type="slidenum">
              <a:rPr lang="he-IL" smtClean="0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3306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0" r:id="rId3"/>
    <p:sldLayoutId id="2147483657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/>
  </p:transition>
  <p:hf hdr="0" dt="0"/>
  <p:txStyles>
    <p:titleStyle>
      <a:lvl1pPr algn="ctr" defTabSz="914400" rtl="1" eaLnBrk="1" latinLnBrk="0" hangingPunct="1">
        <a:spcBef>
          <a:spcPct val="0"/>
        </a:spcBef>
        <a:buNone/>
        <a:defRPr sz="4400" b="1" kern="1200" cap="none" spc="0">
          <a:ln w="10541" cmpd="sng">
            <a:solidFill>
              <a:schemeClr val="accent1">
                <a:shade val="88000"/>
                <a:satMod val="110000"/>
              </a:schemeClr>
            </a:solidFill>
            <a:prstDash val="solid"/>
          </a:ln>
          <a:gradFill>
            <a:gsLst>
              <a:gs pos="0">
                <a:schemeClr val="accent1">
                  <a:tint val="40000"/>
                  <a:satMod val="250000"/>
                </a:schemeClr>
              </a:gs>
              <a:gs pos="9000">
                <a:schemeClr val="accent1">
                  <a:tint val="52000"/>
                  <a:satMod val="300000"/>
                </a:schemeClr>
              </a:gs>
              <a:gs pos="50000">
                <a:schemeClr val="accent1">
                  <a:shade val="20000"/>
                  <a:satMod val="300000"/>
                </a:schemeClr>
              </a:gs>
              <a:gs pos="79000">
                <a:schemeClr val="accent1">
                  <a:tint val="52000"/>
                  <a:satMod val="300000"/>
                </a:schemeClr>
              </a:gs>
              <a:gs pos="100000">
                <a:schemeClr val="accent1">
                  <a:tint val="40000"/>
                  <a:satMod val="250000"/>
                </a:schemeClr>
              </a:gs>
            </a:gsLst>
            <a:lin ang="5400000"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lnSpc>
          <a:spcPct val="114000"/>
        </a:lnSpc>
        <a:spcBef>
          <a:spcPct val="20000"/>
        </a:spcBef>
        <a:buClr>
          <a:schemeClr val="tx1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lnSpc>
          <a:spcPct val="114000"/>
        </a:lnSpc>
        <a:spcBef>
          <a:spcPct val="20000"/>
        </a:spcBef>
        <a:buClr>
          <a:schemeClr val="tx1"/>
        </a:buClr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14000"/>
        </a:lnSpc>
        <a:spcBef>
          <a:spcPct val="20000"/>
        </a:spcBef>
        <a:buClr>
          <a:schemeClr val="tx1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14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14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153575"/>
            <a:ext cx="8796758" cy="1470025"/>
          </a:xfrm>
        </p:spPr>
        <p:txBody>
          <a:bodyPr/>
          <a:lstStyle/>
          <a:p>
            <a:r>
              <a:rPr lang="he-IL" dirty="0"/>
              <a:t>תרגול מס’ 12 - המשך</a:t>
            </a:r>
            <a:r>
              <a:rPr lang="en-US" dirty="0"/>
              <a:t> </a:t>
            </a:r>
            <a:endParaRPr lang="he-I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15736" y="3886200"/>
            <a:ext cx="6156664" cy="1393371"/>
          </a:xfrm>
        </p:spPr>
        <p:txBody>
          <a:bodyPr numCol="2">
            <a:normAutofit/>
          </a:bodyPr>
          <a:lstStyle/>
          <a:p>
            <a:pPr marL="342900" indent="-342900" defTabSz="91440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itchFamily="2" charset="2"/>
              <a:buChar char="v"/>
            </a:pPr>
            <a:r>
              <a:rPr lang="he-IL" dirty="0"/>
              <a:t>קלט/פלט עם קבצים</a:t>
            </a:r>
          </a:p>
          <a:p>
            <a:pPr marL="342900" indent="-342900" defTabSz="91440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itchFamily="2" charset="2"/>
              <a:buChar char="v"/>
            </a:pPr>
            <a:r>
              <a:rPr lang="he-IL" dirty="0"/>
              <a:t>חריגות</a:t>
            </a:r>
          </a:p>
          <a:p>
            <a:pPr marL="342900" indent="-342900" defTabSz="91440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itchFamily="2" charset="2"/>
              <a:buChar char="v"/>
            </a:pPr>
            <a:r>
              <a:rPr lang="he-IL" dirty="0"/>
              <a:t>מחלקות</a:t>
            </a:r>
          </a:p>
          <a:p>
            <a:pPr marL="342900" indent="-342900" defTabSz="914400" eaLnBrk="1" latinLnBrk="0" hangingPunct="1">
              <a:lnSpc>
                <a:spcPct val="114000"/>
              </a:lnSpc>
              <a:spcBef>
                <a:spcPct val="20000"/>
              </a:spcBef>
              <a:buClrTx/>
              <a:buFont typeface="Wingdings" pitchFamily="2" charset="2"/>
              <a:buChar char="v"/>
            </a:pPr>
            <a:r>
              <a:rPr lang="he-IL" dirty="0"/>
              <a:t>ספריות נפוצות בפייתון</a:t>
            </a:r>
          </a:p>
        </p:txBody>
      </p:sp>
    </p:spTree>
    <p:extLst>
      <p:ext uri="{BB962C8B-B14F-4D97-AF65-F5344CB8AC3E}">
        <p14:creationId xmlns:p14="http://schemas.microsoft.com/office/powerpoint/2010/main" val="1065249439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57400"/>
            <a:ext cx="7772400" cy="1470025"/>
          </a:xfrm>
        </p:spPr>
        <p:txBody>
          <a:bodyPr/>
          <a:lstStyle/>
          <a:p>
            <a:pPr defTabSz="914400" eaLnBrk="1" latinLnBrk="0" hangingPunct="1">
              <a:spcBef>
                <a:spcPct val="0"/>
              </a:spcBef>
              <a:buNone/>
            </a:pPr>
            <a:r>
              <a:rPr lang="he-IL"/>
              <a:t>עבודה עם קבצים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190600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/>
              <a:t>עבודה עם קבצים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268760"/>
            <a:ext cx="7935834" cy="507831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בפייתון ניתן לכתוב לקבצים ולקרוא מהם בצורה פשוטה.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נעבוד עם קבצי טקסט בלבד ונניח כי קיימת הרשאת קריאה וכתיבה לקבצים.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nsolas" pitchFamily="49" charset="0"/>
              </a:rPr>
              <a:t>הפונקציה </a:t>
            </a:r>
            <a:r>
              <a:rPr lang="en-US" dirty="0">
                <a:solidFill>
                  <a:srgbClr val="7030A0"/>
                </a:solidFill>
                <a:latin typeface="Consolas" pitchFamily="49" charset="0"/>
              </a:rPr>
              <a:t>open()</a:t>
            </a:r>
            <a:r>
              <a:rPr lang="he-IL" dirty="0">
                <a:solidFill>
                  <a:srgbClr val="7030A0"/>
                </a:solidFill>
                <a:latin typeface="Consolas" pitchFamily="49" charset="0"/>
              </a:rPr>
              <a:t> </a:t>
            </a:r>
            <a:r>
              <a:rPr lang="he-IL" dirty="0">
                <a:latin typeface="Consolas" pitchFamily="49" charset="0"/>
              </a:rPr>
              <a:t>מחזירה אובייקט אשר באמצעותו קוראים וכותבים אל תוך הקובץ: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nsolas" pitchFamily="49" charset="0"/>
            </a:endParaRPr>
          </a:p>
          <a:p>
            <a:pPr algn="l" rtl="0"/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Courier New" pitchFamily="49" charset="0"/>
              </a:rPr>
              <a:t>open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(filename, mode)</a:t>
            </a:r>
            <a:endParaRPr lang="he-IL" b="1" dirty="0">
              <a:latin typeface="Courier New" pitchFamily="49" charset="0"/>
              <a:cs typeface="Courier New" pitchFamily="49" charset="0"/>
            </a:endParaRPr>
          </a:p>
          <a:p>
            <a:r>
              <a:rPr lang="he-IL" b="1" dirty="0">
                <a:latin typeface="Courier New" pitchFamily="49" charset="0"/>
                <a:cs typeface="+mj-cs"/>
              </a:rPr>
              <a:t>פרמטרים:</a:t>
            </a:r>
          </a:p>
          <a:p>
            <a:endParaRPr lang="he-IL" b="1" dirty="0">
              <a:latin typeface="Courier New" pitchFamily="49" charset="0"/>
              <a:cs typeface="+mj-cs"/>
            </a:endParaRPr>
          </a:p>
          <a:p>
            <a:r>
              <a:rPr lang="en-US" b="1" dirty="0">
                <a:latin typeface="Courier New"/>
                <a:cs typeface="+mj-cs"/>
              </a:rPr>
              <a:t>filename</a:t>
            </a:r>
            <a:r>
              <a:rPr lang="he-IL" b="1" dirty="0">
                <a:latin typeface="Courier New"/>
                <a:cs typeface="+mj-cs"/>
              </a:rPr>
              <a:t> – </a:t>
            </a:r>
            <a:r>
              <a:rPr lang="he-IL" dirty="0">
                <a:latin typeface="Gisha"/>
                <a:cs typeface="+mj-cs"/>
              </a:rPr>
              <a:t>מסלול </a:t>
            </a:r>
            <a:r>
              <a:rPr lang="en-US" dirty="0">
                <a:latin typeface="Gisha"/>
                <a:cs typeface="+mj-cs"/>
              </a:rPr>
              <a:t>(path)</a:t>
            </a:r>
            <a:r>
              <a:rPr lang="he-IL" dirty="0">
                <a:latin typeface="Gisha"/>
                <a:cs typeface="+mj-cs"/>
              </a:rPr>
              <a:t> אל קובץ כלשהו במערכת הקבצים</a:t>
            </a:r>
          </a:p>
          <a:p>
            <a:endParaRPr lang="he-IL" dirty="0">
              <a:latin typeface="Courier New" pitchFamily="49" charset="0"/>
              <a:cs typeface="+mj-cs"/>
            </a:endParaRPr>
          </a:p>
          <a:p>
            <a:r>
              <a:rPr lang="en-US" b="1" dirty="0">
                <a:latin typeface="Courier New"/>
                <a:cs typeface="+mj-cs"/>
              </a:rPr>
              <a:t>mode</a:t>
            </a:r>
            <a:r>
              <a:rPr lang="he-IL" dirty="0">
                <a:latin typeface="Courier New"/>
                <a:cs typeface="+mj-cs"/>
              </a:rPr>
              <a:t> </a:t>
            </a:r>
            <a:r>
              <a:rPr lang="he-IL" dirty="0">
                <a:latin typeface="Consolas"/>
                <a:cs typeface="+mj-cs"/>
              </a:rPr>
              <a:t>– באיזה מצב לפתוח את הקובץ. אחד מ-3 אפשרויות:</a:t>
            </a:r>
          </a:p>
          <a:p>
            <a:endParaRPr lang="he-IL" dirty="0">
              <a:latin typeface="Courier New" pitchFamily="49" charset="0"/>
              <a:cs typeface="+mj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  <a:latin typeface="Courier New"/>
                <a:cs typeface="+mj-cs"/>
              </a:rPr>
              <a:t>'w'</a:t>
            </a:r>
            <a:r>
              <a:rPr lang="he-IL" dirty="0">
                <a:solidFill>
                  <a:srgbClr val="00B050"/>
                </a:solidFill>
                <a:latin typeface="Courier New"/>
                <a:cs typeface="+mj-cs"/>
              </a:rPr>
              <a:t> </a:t>
            </a:r>
            <a:r>
              <a:rPr lang="he-IL" dirty="0">
                <a:latin typeface="Courier New"/>
                <a:cs typeface="+mj-cs"/>
              </a:rPr>
              <a:t>- </a:t>
            </a:r>
            <a:r>
              <a:rPr lang="he-IL" dirty="0">
                <a:latin typeface="Gisha"/>
                <a:cs typeface="+mj-cs"/>
              </a:rPr>
              <a:t>פותח את הקובץ במצב כתיבה (מוחק את תוכן הקובץ אם הוא כבר היה קיים, אחרת יוצר קובץ חדש בשם הזה)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50"/>
                </a:solidFill>
                <a:latin typeface="Courier New"/>
                <a:cs typeface="+mj-cs"/>
              </a:rPr>
              <a:t>'r'</a:t>
            </a:r>
            <a:r>
              <a:rPr lang="he-IL" dirty="0">
                <a:latin typeface="Gisha"/>
                <a:cs typeface="+mj-cs"/>
              </a:rPr>
              <a:t> – פותח במצב קריאה (הקובץ חייב להיות קיים אחרת נקבל שגיאה)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b="1" dirty="0">
                <a:solidFill>
                  <a:srgbClr val="00B050"/>
                </a:solidFill>
                <a:latin typeface="Courier New"/>
                <a:cs typeface="Courier New"/>
              </a:rPr>
              <a:t>'a'</a:t>
            </a:r>
            <a:r>
              <a:rPr lang="he-IL" b="1" dirty="0">
                <a:solidFill>
                  <a:srgbClr val="00B050"/>
                </a:solidFill>
                <a:latin typeface="Gisha"/>
                <a:cs typeface="+mj-cs"/>
              </a:rPr>
              <a:t> </a:t>
            </a:r>
            <a:r>
              <a:rPr lang="he-IL" dirty="0">
                <a:latin typeface="Gisha"/>
                <a:cs typeface="+mj-cs"/>
              </a:rPr>
              <a:t>– </a:t>
            </a:r>
            <a:r>
              <a:rPr lang="en-US" dirty="0">
                <a:latin typeface="Gisha"/>
                <a:cs typeface="+mj-cs"/>
              </a:rPr>
              <a:t>append</a:t>
            </a:r>
            <a:r>
              <a:rPr lang="he-IL" dirty="0">
                <a:latin typeface="Gisha"/>
                <a:cs typeface="+mj-cs"/>
              </a:rPr>
              <a:t> פותח את הקובץ להוספה (כתיבה בסוף שלו)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797952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/>
              <a:t>קריאה</a:t>
            </a:r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268760"/>
            <a:ext cx="7935834" cy="75713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urier New" pitchFamily="49" charset="0"/>
                <a:cs typeface="+mj-cs"/>
              </a:rPr>
              <a:t>קיימות מספר דרכים לקריאה מתוך קובץ:</a:t>
            </a:r>
            <a:endParaRPr lang="en-US" dirty="0">
              <a:latin typeface="Courier New" pitchFamily="49" charset="0"/>
              <a:cs typeface="+mj-cs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dirty="0"/>
              <a:t>הפונקציה </a:t>
            </a:r>
            <a:r>
              <a:rPr lang="en-US" dirty="0"/>
              <a:t>read</a:t>
            </a:r>
            <a:r>
              <a:rPr lang="he-IL" dirty="0"/>
              <a:t> מחזירה את תוכן הקובץ (כולו) אל תוך מחרוזת אחת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lvl="1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 dirty="0"/>
              <a:t>הפונקציה </a:t>
            </a:r>
            <a:r>
              <a:rPr lang="en-US" dirty="0" err="1"/>
              <a:t>readlines</a:t>
            </a:r>
            <a:r>
              <a:rPr lang="he-IL" dirty="0"/>
              <a:t> מחזירה רשימה אשר כל איבר בה הוא מחרוזת המכילה תוכן של שורה.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urier New" pitchFamily="49" charset="0"/>
              <a:cs typeface="+mj-cs"/>
            </a:endParaRPr>
          </a:p>
          <a:p>
            <a:endParaRPr lang="he-IL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b="1" dirty="0"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b="1" dirty="0">
              <a:latin typeface="Courier New" pitchFamily="49" charset="0"/>
              <a:cs typeface="Courier New" pitchFamily="49" charset="0"/>
            </a:endParaRPr>
          </a:p>
          <a:p>
            <a:endParaRPr lang="he-IL" dirty="0">
              <a:latin typeface="Consolas" pitchFamily="49" charset="0"/>
            </a:endParaRPr>
          </a:p>
          <a:p>
            <a:endParaRPr lang="he-IL" dirty="0">
              <a:solidFill>
                <a:srgbClr val="7030A0"/>
              </a:solidFill>
              <a:latin typeface="Consolas" pitchFamily="49" charset="0"/>
            </a:endParaRPr>
          </a:p>
          <a:p>
            <a:endParaRPr lang="he-IL" dirty="0">
              <a:solidFill>
                <a:srgbClr val="7030A0"/>
              </a:solidFill>
              <a:latin typeface="Consolas" pitchFamily="49" charset="0"/>
            </a:endParaRPr>
          </a:p>
          <a:p>
            <a:endParaRPr lang="he-IL" dirty="0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 algn="r" defTabSz="914400" eaLnBrk="1" latinLnBrk="0" hangingPunct="1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C36ED58-1427-457F-9E55-C40C02490760}"/>
              </a:ext>
            </a:extLst>
          </p:cNvPr>
          <p:cNvSpPr/>
          <p:nvPr/>
        </p:nvSpPr>
        <p:spPr>
          <a:xfrm>
            <a:off x="1187624" y="2937944"/>
            <a:ext cx="4442986" cy="10801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sz="1600">
                <a:solidFill>
                  <a:schemeClr val="tx1"/>
                </a:solidFill>
              </a:rPr>
              <a:t>f</a:t>
            </a:r>
            <a:r>
              <a:rPr lang="en-US" sz="1600"/>
              <a:t>  </a:t>
            </a:r>
            <a:r>
              <a:rPr lang="en-US" sz="1600">
                <a:solidFill>
                  <a:srgbClr val="A52A2A"/>
                </a:solidFill>
              </a:rPr>
              <a:t>=</a:t>
            </a:r>
            <a:r>
              <a:rPr lang="en-US" sz="1600"/>
              <a:t> </a:t>
            </a:r>
            <a:r>
              <a:rPr lang="en-US" sz="1600">
                <a:solidFill>
                  <a:srgbClr val="800080"/>
                </a:solidFill>
              </a:rPr>
              <a:t>open</a:t>
            </a:r>
            <a:r>
              <a:rPr lang="en-US" sz="1600"/>
              <a:t> </a:t>
            </a:r>
            <a:r>
              <a:rPr lang="en-US" sz="1600">
                <a:solidFill>
                  <a:schemeClr val="tx1"/>
                </a:solidFill>
              </a:rPr>
              <a:t>(</a:t>
            </a:r>
            <a:r>
              <a:rPr lang="en-US" sz="1600">
                <a:solidFill>
                  <a:srgbClr val="228B22"/>
                </a:solidFill>
              </a:rPr>
              <a:t>'file.txt'</a:t>
            </a:r>
            <a:r>
              <a:rPr lang="en-US" sz="1600">
                <a:solidFill>
                  <a:schemeClr val="tx1"/>
                </a:solidFill>
              </a:rPr>
              <a:t>,</a:t>
            </a:r>
            <a:r>
              <a:rPr lang="en-US" sz="1600"/>
              <a:t> </a:t>
            </a:r>
            <a:r>
              <a:rPr lang="en-US" sz="1600">
                <a:solidFill>
                  <a:srgbClr val="228B22"/>
                </a:solidFill>
              </a:rPr>
              <a:t>'r</a:t>
            </a:r>
            <a:r>
              <a:rPr lang="en-US" sz="1600">
                <a:solidFill>
                  <a:schemeClr val="tx1"/>
                </a:solidFill>
              </a:rPr>
              <a:t>’)</a:t>
            </a:r>
          </a:p>
          <a:p>
            <a:pPr algn="l" rtl="0"/>
            <a:r>
              <a:rPr lang="en-US" sz="1500" err="1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f.read</a:t>
            </a:r>
            <a:r>
              <a:rPr lang="en-US" sz="1500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()</a:t>
            </a:r>
          </a:p>
          <a:p>
            <a:pPr algn="l" rtl="0"/>
            <a:endParaRPr lang="en-US" sz="1500">
              <a:solidFill>
                <a:schemeClr val="accent1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r>
              <a:rPr lang="en-US" sz="15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'1. Sunday\n2. Monday\n3.Tuesday'</a:t>
            </a:r>
          </a:p>
          <a:p>
            <a:pPr algn="l" rtl="0"/>
            <a:endParaRPr lang="en-US" sz="1500">
              <a:solidFill>
                <a:schemeClr val="accent1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3562DF-7620-4F47-BC3E-2902332EE8CA}"/>
              </a:ext>
            </a:extLst>
          </p:cNvPr>
          <p:cNvSpPr/>
          <p:nvPr/>
        </p:nvSpPr>
        <p:spPr>
          <a:xfrm>
            <a:off x="1187624" y="5060541"/>
            <a:ext cx="4838272" cy="10573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sz="1600" dirty="0">
                <a:solidFill>
                  <a:schemeClr val="tx1"/>
                </a:solidFill>
              </a:rPr>
              <a:t>f</a:t>
            </a:r>
            <a:r>
              <a:rPr lang="en-US" sz="1600" dirty="0"/>
              <a:t>  </a:t>
            </a:r>
            <a:r>
              <a:rPr lang="en-US" sz="1600" dirty="0">
                <a:solidFill>
                  <a:srgbClr val="A52A2A"/>
                </a:solidFill>
              </a:rPr>
              <a:t>=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800080"/>
                </a:solidFill>
              </a:rPr>
              <a:t>open</a:t>
            </a:r>
            <a:r>
              <a:rPr lang="en-US" sz="1600" dirty="0"/>
              <a:t> 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dirty="0">
                <a:solidFill>
                  <a:srgbClr val="228B22"/>
                </a:solidFill>
              </a:rPr>
              <a:t>'file.txt'</a:t>
            </a:r>
            <a:r>
              <a:rPr lang="en-US" sz="1600" dirty="0">
                <a:solidFill>
                  <a:schemeClr val="tx1"/>
                </a:solidFill>
              </a:rPr>
              <a:t>,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228B22"/>
                </a:solidFill>
              </a:rPr>
              <a:t>'r</a:t>
            </a:r>
            <a:r>
              <a:rPr lang="en-US" sz="1600" dirty="0">
                <a:solidFill>
                  <a:schemeClr val="tx1"/>
                </a:solidFill>
              </a:rPr>
              <a:t>’)</a:t>
            </a:r>
          </a:p>
          <a:p>
            <a:pPr algn="l" rtl="0"/>
            <a:r>
              <a:rPr lang="en-US" sz="1500" dirty="0" err="1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f.readlines</a:t>
            </a:r>
            <a:r>
              <a:rPr lang="en-US" sz="1500" dirty="0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()</a:t>
            </a:r>
          </a:p>
          <a:p>
            <a:pPr algn="l" rtl="0"/>
            <a:endParaRPr lang="en-US" sz="1500" dirty="0">
              <a:solidFill>
                <a:schemeClr val="accent1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r>
              <a:rPr lang="en-US" sz="150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['1. Sunday\n', 2. Monday\n', '3.Tuesday']</a:t>
            </a:r>
          </a:p>
          <a:p>
            <a:pPr algn="l" rtl="0"/>
            <a:endParaRPr lang="en-US" sz="1500" dirty="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endParaRPr lang="en-US" sz="1500" dirty="0">
              <a:solidFill>
                <a:schemeClr val="accent1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CFEE2D74-A087-49CC-B750-5C07A007B8C8}"/>
              </a:ext>
            </a:extLst>
          </p:cNvPr>
          <p:cNvGrpSpPr/>
          <p:nvPr/>
        </p:nvGrpSpPr>
        <p:grpSpPr>
          <a:xfrm>
            <a:off x="1187624" y="1196752"/>
            <a:ext cx="3597052" cy="1253339"/>
            <a:chOff x="5004046" y="4365104"/>
            <a:chExt cx="2714557" cy="1790485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D2BF200-3892-439F-A5F0-5BFB5FB4B159}"/>
                </a:ext>
              </a:extLst>
            </p:cNvPr>
            <p:cNvGrpSpPr/>
            <p:nvPr/>
          </p:nvGrpSpPr>
          <p:grpSpPr>
            <a:xfrm>
              <a:off x="5004046" y="4725145"/>
              <a:ext cx="2714557" cy="1430444"/>
              <a:chOff x="3131838" y="4509118"/>
              <a:chExt cx="3512958" cy="1771027"/>
            </a:xfrm>
          </p:grpSpPr>
          <p:sp>
            <p:nvSpPr>
              <p:cNvPr id="25" name="Folded Corner 11">
                <a:extLst>
                  <a:ext uri="{FF2B5EF4-FFF2-40B4-BE49-F238E27FC236}">
                    <a16:creationId xmlns:a16="http://schemas.microsoft.com/office/drawing/2014/main" id="{229922B0-12D3-4671-8781-3C4679E189E6}"/>
                  </a:ext>
                </a:extLst>
              </p:cNvPr>
              <p:cNvSpPr/>
              <p:nvPr/>
            </p:nvSpPr>
            <p:spPr>
              <a:xfrm rot="10800000" flipH="1">
                <a:off x="3131839" y="4509118"/>
                <a:ext cx="2184563" cy="1432890"/>
              </a:xfrm>
              <a:prstGeom prst="foldedCorner">
                <a:avLst>
                  <a:gd name="adj" fmla="val 21176"/>
                </a:avLst>
              </a:prstGeom>
              <a:gradFill flip="none" rotWithShape="1">
                <a:gsLst>
                  <a:gs pos="0">
                    <a:schemeClr val="accent6">
                      <a:lumMod val="20000"/>
                      <a:lumOff val="80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20000"/>
                      <a:lumOff val="80000"/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0C6956B-DB6A-43C6-A107-F5124E04B90E}"/>
                  </a:ext>
                </a:extLst>
              </p:cNvPr>
              <p:cNvSpPr/>
              <p:nvPr/>
            </p:nvSpPr>
            <p:spPr>
              <a:xfrm>
                <a:off x="3131838" y="4509120"/>
                <a:ext cx="3512958" cy="17710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t"/>
              <a:lstStyle/>
              <a:p>
                <a:pPr marL="342900" indent="-342900" algn="l" rtl="0">
                  <a:buAutoNum type="arabicPeriod"/>
                </a:pPr>
                <a:r>
                  <a:rPr lang="pt-BR" sz="1500">
                    <a:latin typeface="Consolas" panose="020B0609020204030204" pitchFamily="49" charset="0"/>
                    <a:cs typeface="Consolas" panose="020B0609020204030204" pitchFamily="49" charset="0"/>
                  </a:rPr>
                  <a:t>Sunday</a:t>
                </a:r>
              </a:p>
              <a:p>
                <a:pPr marL="342900" indent="-342900" algn="l" rtl="0">
                  <a:buAutoNum type="arabicPeriod"/>
                </a:pPr>
                <a:r>
                  <a:rPr lang="pt-BR" sz="1500">
                    <a:latin typeface="Consolas" panose="020B0609020204030204" pitchFamily="49" charset="0"/>
                    <a:cs typeface="Consolas" panose="020B0609020204030204" pitchFamily="49" charset="0"/>
                  </a:rPr>
                  <a:t>Monday</a:t>
                </a:r>
              </a:p>
              <a:p>
                <a:pPr marL="342900" indent="-342900" algn="l" rtl="0">
                  <a:buAutoNum type="arabicPeriod"/>
                </a:pPr>
                <a:r>
                  <a:rPr lang="pt-BR" sz="1500">
                    <a:latin typeface="Consolas" panose="020B0609020204030204" pitchFamily="49" charset="0"/>
                    <a:cs typeface="Consolas" panose="020B0609020204030204" pitchFamily="49" charset="0"/>
                  </a:rPr>
                  <a:t>Tuesday</a:t>
                </a:r>
              </a:p>
            </p:txBody>
          </p:sp>
        </p:grp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E36845D-8A74-4CD5-AC27-5FD2942B593D}"/>
                </a:ext>
              </a:extLst>
            </p:cNvPr>
            <p:cNvSpPr/>
            <p:nvPr/>
          </p:nvSpPr>
          <p:spPr>
            <a:xfrm>
              <a:off x="5004048" y="4365104"/>
              <a:ext cx="1224137" cy="3703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l"/>
              <a:r>
                <a:rPr lang="en-US" sz="1500" b="1" err="1"/>
                <a:t>file.txt</a:t>
              </a:r>
              <a:endParaRPr lang="he-IL" sz="1500" b="1"/>
            </a:p>
          </p:txBody>
        </p:sp>
      </p:grpSp>
    </p:spTree>
    <p:extLst>
      <p:ext uri="{BB962C8B-B14F-4D97-AF65-F5344CB8AC3E}">
        <p14:creationId xmlns:p14="http://schemas.microsoft.com/office/powerpoint/2010/main" val="142678392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C0DB4BC-C8DD-4A33-8392-33C1D99AA20A}"/>
              </a:ext>
            </a:extLst>
          </p:cNvPr>
          <p:cNvSpPr/>
          <p:nvPr/>
        </p:nvSpPr>
        <p:spPr>
          <a:xfrm>
            <a:off x="1187624" y="1511723"/>
            <a:ext cx="756084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/>
              <a:t>הפונקציה </a:t>
            </a:r>
            <a:r>
              <a:rPr lang="en-US" err="1"/>
              <a:t>readline</a:t>
            </a:r>
            <a:r>
              <a:rPr lang="he-IL"/>
              <a:t> תחזיר שורה בודדת מתוך הקובץ.</a:t>
            </a:r>
          </a:p>
          <a:p>
            <a:pPr lvl="1"/>
            <a:r>
              <a:rPr lang="he-IL"/>
              <a:t>	בכל קריאה השורה שמוחזרת היא השורה הבאה בקובץ:</a:t>
            </a:r>
          </a:p>
          <a:p>
            <a:pPr lvl="1"/>
            <a:endParaRPr lang="he-IL"/>
          </a:p>
          <a:p>
            <a:pPr lvl="1"/>
            <a:endParaRPr lang="he-IL"/>
          </a:p>
          <a:p>
            <a:pPr lvl="1"/>
            <a:endParaRPr lang="he-IL"/>
          </a:p>
          <a:p>
            <a:pPr lvl="1"/>
            <a:endParaRPr lang="he-IL"/>
          </a:p>
          <a:p>
            <a:pPr lvl="1"/>
            <a:endParaRPr lang="he-IL"/>
          </a:p>
          <a:p>
            <a:pPr lvl="1"/>
            <a:endParaRPr lang="he-IL"/>
          </a:p>
          <a:p>
            <a:pPr lvl="1"/>
            <a:endParaRPr lang="he-IL"/>
          </a:p>
          <a:p>
            <a:pPr lvl="1"/>
            <a:endParaRPr lang="he-IL"/>
          </a:p>
          <a:p>
            <a:pPr lvl="1"/>
            <a:endParaRPr lang="he-IL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e-IL">
                <a:latin typeface="Courier New" pitchFamily="49" charset="0"/>
              </a:rPr>
              <a:t>הדרך הנוחה לקרוא מקובץ היא על ידי לולאה, בקריאה של שורה-שורה מתוך הקובץ:</a:t>
            </a:r>
            <a:endParaRPr lang="en-US">
              <a:latin typeface="Courier New" pitchFamily="49" charset="0"/>
            </a:endParaRPr>
          </a:p>
          <a:p>
            <a:pPr lvl="1"/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FE704C-7BE7-4C1C-84CF-2455C0715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קריאה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C7F9D5-393D-4E60-BFCF-E91EBC65F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מבוא לתכנות מערכות - 234122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3B38A-A704-4A97-B668-4CDDB4897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/>
              <a:pPr/>
              <a:t>5</a:t>
            </a:fld>
            <a:endParaRPr lang="he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53CF36C-40D7-4698-BB10-D5E66C5EF567}"/>
              </a:ext>
            </a:extLst>
          </p:cNvPr>
          <p:cNvSpPr/>
          <p:nvPr/>
        </p:nvSpPr>
        <p:spPr>
          <a:xfrm>
            <a:off x="827584" y="2337838"/>
            <a:ext cx="3744416" cy="197859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sz="1600">
                <a:solidFill>
                  <a:schemeClr val="tx1"/>
                </a:solidFill>
              </a:rPr>
              <a:t>f</a:t>
            </a:r>
            <a:r>
              <a:rPr lang="en-US" sz="1600"/>
              <a:t>  </a:t>
            </a:r>
            <a:r>
              <a:rPr lang="en-US" sz="1600">
                <a:solidFill>
                  <a:srgbClr val="A52A2A"/>
                </a:solidFill>
              </a:rPr>
              <a:t>=</a:t>
            </a:r>
            <a:r>
              <a:rPr lang="en-US" sz="1600"/>
              <a:t> </a:t>
            </a:r>
            <a:r>
              <a:rPr lang="en-US" sz="1600">
                <a:solidFill>
                  <a:srgbClr val="800080"/>
                </a:solidFill>
              </a:rPr>
              <a:t>open</a:t>
            </a:r>
            <a:r>
              <a:rPr lang="en-US" sz="1600"/>
              <a:t> </a:t>
            </a:r>
            <a:r>
              <a:rPr lang="en-US" sz="1600">
                <a:solidFill>
                  <a:schemeClr val="tx1"/>
                </a:solidFill>
              </a:rPr>
              <a:t>(</a:t>
            </a:r>
            <a:r>
              <a:rPr lang="en-US" sz="1600">
                <a:solidFill>
                  <a:srgbClr val="228B22"/>
                </a:solidFill>
              </a:rPr>
              <a:t>'file.txt'</a:t>
            </a:r>
            <a:r>
              <a:rPr lang="en-US" sz="1600">
                <a:solidFill>
                  <a:schemeClr val="tx1"/>
                </a:solidFill>
              </a:rPr>
              <a:t>,</a:t>
            </a:r>
            <a:r>
              <a:rPr lang="en-US" sz="1600"/>
              <a:t> </a:t>
            </a:r>
            <a:r>
              <a:rPr lang="en-US" sz="1600">
                <a:solidFill>
                  <a:srgbClr val="228B22"/>
                </a:solidFill>
              </a:rPr>
              <a:t>'r</a:t>
            </a:r>
            <a:r>
              <a:rPr lang="en-US" sz="1600">
                <a:solidFill>
                  <a:schemeClr val="tx1"/>
                </a:solidFill>
              </a:rPr>
              <a:t>’)</a:t>
            </a:r>
          </a:p>
          <a:p>
            <a:pPr algn="l" rtl="0"/>
            <a:r>
              <a:rPr lang="en-US" sz="1500" err="1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f.readline</a:t>
            </a:r>
            <a:r>
              <a:rPr lang="en-US" sz="1500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()</a:t>
            </a:r>
          </a:p>
          <a:p>
            <a:pPr algn="l" rtl="0"/>
            <a:endParaRPr lang="en-US" sz="1500">
              <a:solidFill>
                <a:schemeClr val="accent1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r>
              <a:rPr lang="en-US" sz="15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'1. Sunday'</a:t>
            </a:r>
          </a:p>
          <a:p>
            <a:pPr algn="l" rtl="0"/>
            <a:endParaRPr lang="en-US" sz="150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r>
              <a:rPr lang="en-US" sz="1500" err="1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f.readline</a:t>
            </a:r>
            <a:r>
              <a:rPr lang="en-US" sz="1500">
                <a:solidFill>
                  <a:schemeClr val="accent1">
                    <a:lumMod val="75000"/>
                  </a:schemeClr>
                </a:solidFill>
                <a:latin typeface="Consolas" pitchFamily="49" charset="0"/>
                <a:cs typeface="Consolas" pitchFamily="49" charset="0"/>
              </a:rPr>
              <a:t>()</a:t>
            </a:r>
          </a:p>
          <a:p>
            <a:pPr algn="l" rtl="0"/>
            <a:endParaRPr lang="en-US" sz="1500">
              <a:solidFill>
                <a:schemeClr val="accent1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r>
              <a:rPr lang="en-US" sz="15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'2. Monday'</a:t>
            </a:r>
          </a:p>
          <a:p>
            <a:pPr algn="l" rtl="0"/>
            <a:endParaRPr lang="en-US" sz="150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endParaRPr lang="en-US" sz="1500">
              <a:solidFill>
                <a:schemeClr val="accent1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8" name="Rectangular Callout 17">
            <a:extLst>
              <a:ext uri="{FF2B5EF4-FFF2-40B4-BE49-F238E27FC236}">
                <a16:creationId xmlns:a16="http://schemas.microsoft.com/office/drawing/2014/main" id="{10968063-1683-4ACE-986F-9FDDBD1709C8}"/>
              </a:ext>
            </a:extLst>
          </p:cNvPr>
          <p:cNvSpPr/>
          <p:nvPr/>
        </p:nvSpPr>
        <p:spPr>
          <a:xfrm>
            <a:off x="3408412" y="3509046"/>
            <a:ext cx="2095872" cy="365125"/>
          </a:xfrm>
          <a:prstGeom prst="wedgeRectCallout">
            <a:avLst>
              <a:gd name="adj1" fmla="val -102467"/>
              <a:gd name="adj2" fmla="val -3237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1500"/>
              <a:t>החזרת השורה הבאה</a:t>
            </a:r>
            <a:endParaRPr lang="en-US" sz="15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AC65BB-3CF4-4648-BCE1-151E17CA189D}"/>
              </a:ext>
            </a:extLst>
          </p:cNvPr>
          <p:cNvSpPr/>
          <p:nvPr/>
        </p:nvSpPr>
        <p:spPr>
          <a:xfrm>
            <a:off x="849288" y="5055052"/>
            <a:ext cx="3744416" cy="12542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sz="160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f = open("file.txt", 'r')</a:t>
            </a:r>
          </a:p>
          <a:p>
            <a:pPr algn="l" rtl="0"/>
            <a:endParaRPr lang="en-US" sz="160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r>
              <a:rPr lang="en-US" sz="160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for line in f:</a:t>
            </a:r>
          </a:p>
          <a:p>
            <a:pPr algn="l" rtl="0"/>
            <a:r>
              <a:rPr lang="en-US" sz="160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	print(line)</a:t>
            </a:r>
          </a:p>
          <a:p>
            <a:pPr algn="l" rtl="0"/>
            <a:endParaRPr lang="en-US" sz="150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endParaRPr lang="en-US" sz="150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endParaRPr lang="en-US" sz="1500">
              <a:solidFill>
                <a:schemeClr val="accent1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045D42C-32A3-49D6-B3D9-51FD4892A30A}"/>
              </a:ext>
            </a:extLst>
          </p:cNvPr>
          <p:cNvGrpSpPr/>
          <p:nvPr/>
        </p:nvGrpSpPr>
        <p:grpSpPr>
          <a:xfrm>
            <a:off x="611560" y="671441"/>
            <a:ext cx="3597052" cy="1253339"/>
            <a:chOff x="5004046" y="4365104"/>
            <a:chExt cx="2714557" cy="1790485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3D9986B7-2E2E-4759-A5D0-326C442F02CD}"/>
                </a:ext>
              </a:extLst>
            </p:cNvPr>
            <p:cNvGrpSpPr/>
            <p:nvPr/>
          </p:nvGrpSpPr>
          <p:grpSpPr>
            <a:xfrm>
              <a:off x="5004046" y="4725145"/>
              <a:ext cx="2714557" cy="1430444"/>
              <a:chOff x="3131838" y="4509118"/>
              <a:chExt cx="3512958" cy="1771027"/>
            </a:xfrm>
          </p:grpSpPr>
          <p:sp>
            <p:nvSpPr>
              <p:cNvPr id="15" name="Folded Corner 11">
                <a:extLst>
                  <a:ext uri="{FF2B5EF4-FFF2-40B4-BE49-F238E27FC236}">
                    <a16:creationId xmlns:a16="http://schemas.microsoft.com/office/drawing/2014/main" id="{6DA09117-3F26-49BA-8660-4025A39BEB24}"/>
                  </a:ext>
                </a:extLst>
              </p:cNvPr>
              <p:cNvSpPr/>
              <p:nvPr/>
            </p:nvSpPr>
            <p:spPr>
              <a:xfrm rot="10800000" flipH="1">
                <a:off x="3131839" y="4509118"/>
                <a:ext cx="2184563" cy="1432890"/>
              </a:xfrm>
              <a:prstGeom prst="foldedCorner">
                <a:avLst>
                  <a:gd name="adj" fmla="val 21176"/>
                </a:avLst>
              </a:prstGeom>
              <a:gradFill flip="none" rotWithShape="1">
                <a:gsLst>
                  <a:gs pos="0">
                    <a:schemeClr val="accent6">
                      <a:lumMod val="20000"/>
                      <a:lumOff val="80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20000"/>
                      <a:lumOff val="80000"/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B1760C3-725A-4419-8CF5-8BC84DE2E5F2}"/>
                  </a:ext>
                </a:extLst>
              </p:cNvPr>
              <p:cNvSpPr/>
              <p:nvPr/>
            </p:nvSpPr>
            <p:spPr>
              <a:xfrm>
                <a:off x="3131838" y="4509120"/>
                <a:ext cx="3512958" cy="17710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t"/>
              <a:lstStyle/>
              <a:p>
                <a:pPr marL="342900" indent="-342900" algn="l" rtl="0">
                  <a:buAutoNum type="arabicPeriod"/>
                </a:pPr>
                <a:r>
                  <a:rPr lang="pt-BR" sz="1500" err="1">
                    <a:latin typeface="Consolas" panose="020B0609020204030204" pitchFamily="49" charset="0"/>
                    <a:cs typeface="Consolas" panose="020B0609020204030204" pitchFamily="49" charset="0"/>
                  </a:rPr>
                  <a:t>Sunday</a:t>
                </a:r>
                <a:endParaRPr lang="pt-BR" sz="150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marL="342900" indent="-342900" algn="l" rtl="0">
                  <a:buAutoNum type="arabicPeriod"/>
                </a:pPr>
                <a:r>
                  <a:rPr lang="pt-BR" sz="1500" err="1">
                    <a:latin typeface="Consolas" panose="020B0609020204030204" pitchFamily="49" charset="0"/>
                    <a:cs typeface="Consolas" panose="020B0609020204030204" pitchFamily="49" charset="0"/>
                  </a:rPr>
                  <a:t>Monday</a:t>
                </a:r>
                <a:endParaRPr lang="pt-BR" sz="150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pPr marL="342900" indent="-342900" algn="l" rtl="0">
                  <a:buAutoNum type="arabicPeriod"/>
                </a:pPr>
                <a:r>
                  <a:rPr lang="pt-BR" sz="1500" err="1">
                    <a:latin typeface="Consolas" panose="020B0609020204030204" pitchFamily="49" charset="0"/>
                    <a:cs typeface="Consolas" panose="020B0609020204030204" pitchFamily="49" charset="0"/>
                  </a:rPr>
                  <a:t>Tuesday</a:t>
                </a:r>
                <a:endParaRPr lang="pt-BR" sz="150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</p:txBody>
          </p:sp>
        </p:grp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5AD0859-DB16-4F0C-984D-EE0C820DD0FA}"/>
                </a:ext>
              </a:extLst>
            </p:cNvPr>
            <p:cNvSpPr/>
            <p:nvPr/>
          </p:nvSpPr>
          <p:spPr>
            <a:xfrm>
              <a:off x="5004048" y="4365104"/>
              <a:ext cx="1224137" cy="3703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l"/>
              <a:r>
                <a:rPr lang="en-US" sz="1500" b="1" err="1"/>
                <a:t>file.txt</a:t>
              </a:r>
              <a:endParaRPr lang="he-IL" sz="1500" b="1"/>
            </a:p>
          </p:txBody>
        </p:sp>
      </p:grpSp>
    </p:spTree>
    <p:extLst>
      <p:ext uri="{BB962C8B-B14F-4D97-AF65-F5344CB8AC3E}">
        <p14:creationId xmlns:p14="http://schemas.microsoft.com/office/powerpoint/2010/main" val="11708354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/>
              <a:t>כתיבה לקובץ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- 234122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268760"/>
            <a:ext cx="7935834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>
                <a:latin typeface="Courier New" pitchFamily="49" charset="0"/>
                <a:cs typeface="+mj-cs"/>
              </a:rPr>
              <a:t>כתיבה מתבצעת באמצעות הפונקציה </a:t>
            </a:r>
            <a:r>
              <a:rPr lang="en-US" b="1">
                <a:latin typeface="Courier New" pitchFamily="49" charset="0"/>
                <a:cs typeface="+mj-cs"/>
              </a:rPr>
              <a:t>write</a:t>
            </a:r>
            <a:r>
              <a:rPr lang="he-IL">
                <a:latin typeface="Courier New" pitchFamily="49" charset="0"/>
                <a:cs typeface="+mj-cs"/>
              </a:rPr>
              <a:t>:</a:t>
            </a:r>
            <a:endParaRPr lang="en-US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>
                <a:latin typeface="Courier New" pitchFamily="49" charset="0"/>
                <a:cs typeface="+mj-cs"/>
              </a:rPr>
              <a:t>הפונקציה מקבלת כפרמטר מחרוזת וכותבת אותה לתוך הקובץ. </a:t>
            </a:r>
          </a:p>
          <a:p>
            <a:r>
              <a:rPr lang="he-IL">
                <a:latin typeface="Courier New" pitchFamily="49" charset="0"/>
                <a:cs typeface="+mj-cs"/>
              </a:rPr>
              <a:t>    במידה ורוצים לרדת שורה בקובץ יש להוסיף למחרוזת את תו ירידת שורה:</a:t>
            </a:r>
            <a:endParaRPr lang="en-US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>
              <a:latin typeface="Courier New" pitchFamily="49" charset="0"/>
              <a:cs typeface="+mj-cs"/>
            </a:endParaRPr>
          </a:p>
          <a:p>
            <a:endParaRPr lang="he-IL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b="1">
              <a:latin typeface="Courier New" pitchFamily="49" charset="0"/>
              <a:cs typeface="Courier New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b="1">
              <a:latin typeface="Courier New" pitchFamily="49" charset="0"/>
              <a:cs typeface="Courier New" pitchFamily="49" charset="0"/>
            </a:endParaRPr>
          </a:p>
          <a:p>
            <a:endParaRPr lang="he-IL">
              <a:latin typeface="Consolas" pitchFamily="49" charset="0"/>
            </a:endParaRPr>
          </a:p>
          <a:p>
            <a:endParaRPr lang="he-IL">
              <a:solidFill>
                <a:srgbClr val="7030A0"/>
              </a:solidFill>
              <a:latin typeface="Consolas" pitchFamily="49" charset="0"/>
            </a:endParaRPr>
          </a:p>
          <a:p>
            <a:endParaRPr lang="he-IL">
              <a:solidFill>
                <a:srgbClr val="7030A0"/>
              </a:solidFill>
              <a:latin typeface="Consolas" pitchFamily="49" charset="0"/>
            </a:endParaRPr>
          </a:p>
          <a:p>
            <a:endParaRPr lang="he-IL">
              <a:latin typeface="Consolas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/>
          </a:p>
          <a:p>
            <a:pPr marL="285750" indent="-285750" algn="r" defTabSz="914400" eaLnBrk="1" latinLnBrk="0" hangingPunct="1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5DC135C-D9CC-BC48-B2D5-DEBAD29A0095}"/>
              </a:ext>
            </a:extLst>
          </p:cNvPr>
          <p:cNvSpPr/>
          <p:nvPr/>
        </p:nvSpPr>
        <p:spPr>
          <a:xfrm>
            <a:off x="718592" y="2564904"/>
            <a:ext cx="3744416" cy="163358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sz="160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f = open("new_file.txt", 'w')</a:t>
            </a:r>
          </a:p>
          <a:p>
            <a:pPr algn="l" rtl="0"/>
            <a:r>
              <a:rPr lang="en-US" sz="160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s1 = "Hello World\n"</a:t>
            </a:r>
          </a:p>
          <a:p>
            <a:pPr algn="l" rtl="0"/>
            <a:r>
              <a:rPr lang="en-US" sz="150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S2 = "End of file"</a:t>
            </a:r>
          </a:p>
          <a:p>
            <a:pPr algn="l" rtl="0"/>
            <a:endParaRPr lang="en-US" sz="150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r>
              <a:rPr lang="en-US" sz="150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f.write</a:t>
            </a:r>
            <a:r>
              <a:rPr lang="en-US" sz="150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(s1)</a:t>
            </a:r>
          </a:p>
          <a:p>
            <a:pPr algn="l" rtl="0"/>
            <a:r>
              <a:rPr lang="en-US" sz="150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f.write</a:t>
            </a:r>
            <a:r>
              <a:rPr lang="en-US" sz="150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(s2)</a:t>
            </a:r>
          </a:p>
          <a:p>
            <a:pPr algn="l" rtl="0"/>
            <a:endParaRPr lang="en-US" sz="1500">
              <a:solidFill>
                <a:srgbClr val="C00000"/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endParaRPr lang="en-US" sz="1500">
              <a:solidFill>
                <a:schemeClr val="accent1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73BFC11-B7AD-BD44-ABC5-525A5C51A5B4}"/>
              </a:ext>
            </a:extLst>
          </p:cNvPr>
          <p:cNvGrpSpPr/>
          <p:nvPr/>
        </p:nvGrpSpPr>
        <p:grpSpPr>
          <a:xfrm>
            <a:off x="718592" y="4436523"/>
            <a:ext cx="3597052" cy="1015096"/>
            <a:chOff x="5004046" y="4365104"/>
            <a:chExt cx="2714557" cy="1790485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21E9663-2B8C-554B-95C3-50F77B896580}"/>
                </a:ext>
              </a:extLst>
            </p:cNvPr>
            <p:cNvGrpSpPr/>
            <p:nvPr/>
          </p:nvGrpSpPr>
          <p:grpSpPr>
            <a:xfrm>
              <a:off x="5004046" y="4725145"/>
              <a:ext cx="2714557" cy="1430444"/>
              <a:chOff x="3131838" y="4509118"/>
              <a:chExt cx="3512958" cy="1771027"/>
            </a:xfrm>
          </p:grpSpPr>
          <p:sp>
            <p:nvSpPr>
              <p:cNvPr id="12" name="Folded Corner 11">
                <a:extLst>
                  <a:ext uri="{FF2B5EF4-FFF2-40B4-BE49-F238E27FC236}">
                    <a16:creationId xmlns:a16="http://schemas.microsoft.com/office/drawing/2014/main" id="{30FC605B-AD77-1F4D-9B24-667B4EDF8C1A}"/>
                  </a:ext>
                </a:extLst>
              </p:cNvPr>
              <p:cNvSpPr/>
              <p:nvPr/>
            </p:nvSpPr>
            <p:spPr>
              <a:xfrm rot="10800000" flipH="1">
                <a:off x="3131838" y="4509118"/>
                <a:ext cx="3512957" cy="1539831"/>
              </a:xfrm>
              <a:prstGeom prst="foldedCorner">
                <a:avLst>
                  <a:gd name="adj" fmla="val 21176"/>
                </a:avLst>
              </a:prstGeom>
              <a:gradFill flip="none" rotWithShape="1">
                <a:gsLst>
                  <a:gs pos="0">
                    <a:schemeClr val="accent6">
                      <a:lumMod val="20000"/>
                      <a:lumOff val="80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20000"/>
                      <a:lumOff val="80000"/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marL="0" algn="ctr" defTabSz="914400" rtl="0" eaLnBrk="1" latinLnBrk="0" hangingPunct="1"/>
                <a:endParaRPr lang="he-IL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5886AB1-0B4A-0D4A-ACD5-E6C146136FC3}"/>
                  </a:ext>
                </a:extLst>
              </p:cNvPr>
              <p:cNvSpPr/>
              <p:nvPr/>
            </p:nvSpPr>
            <p:spPr>
              <a:xfrm>
                <a:off x="3131838" y="4509120"/>
                <a:ext cx="3512958" cy="17710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t"/>
              <a:lstStyle/>
              <a:p>
                <a:pPr algn="l" rtl="0"/>
                <a:r>
                  <a:rPr lang="pt-BR" err="1">
                    <a:latin typeface="Consolas" panose="020B0609020204030204" pitchFamily="49" charset="0"/>
                    <a:cs typeface="Consolas" panose="020B0609020204030204" pitchFamily="49" charset="0"/>
                  </a:rPr>
                  <a:t>Hello</a:t>
                </a:r>
                <a:r>
                  <a:rPr lang="pt-BR">
                    <a:latin typeface="Consolas" panose="020B0609020204030204" pitchFamily="49" charset="0"/>
                    <a:cs typeface="Consolas" panose="020B0609020204030204" pitchFamily="49" charset="0"/>
                  </a:rPr>
                  <a:t> world</a:t>
                </a:r>
              </a:p>
              <a:p>
                <a:pPr algn="l" rtl="0"/>
                <a:r>
                  <a:rPr lang="pt-BR" err="1">
                    <a:latin typeface="Consolas" panose="020B0609020204030204" pitchFamily="49" charset="0"/>
                    <a:cs typeface="Consolas" panose="020B0609020204030204" pitchFamily="49" charset="0"/>
                  </a:rPr>
                  <a:t>End</a:t>
                </a:r>
                <a:r>
                  <a:rPr lang="pt-BR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pt-BR" err="1">
                    <a:latin typeface="Consolas" panose="020B0609020204030204" pitchFamily="49" charset="0"/>
                    <a:cs typeface="Consolas" panose="020B0609020204030204" pitchFamily="49" charset="0"/>
                  </a:rPr>
                  <a:t>of</a:t>
                </a:r>
                <a:r>
                  <a:rPr lang="pt-BR">
                    <a:latin typeface="Consolas" panose="020B0609020204030204" pitchFamily="49" charset="0"/>
                    <a:cs typeface="Consolas" panose="020B0609020204030204" pitchFamily="49" charset="0"/>
                  </a:rPr>
                  <a:t> file</a:t>
                </a: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DDED07C-A91D-C549-BF09-870A6D574261}"/>
                </a:ext>
              </a:extLst>
            </p:cNvPr>
            <p:cNvSpPr/>
            <p:nvPr/>
          </p:nvSpPr>
          <p:spPr>
            <a:xfrm>
              <a:off x="5004048" y="4365104"/>
              <a:ext cx="1224137" cy="3703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l"/>
              <a:r>
                <a:rPr lang="en-US"/>
                <a:t>new file.txt</a:t>
              </a:r>
              <a:endParaRPr lang="he-IL"/>
            </a:p>
          </p:txBody>
        </p:sp>
      </p:grpSp>
    </p:spTree>
    <p:extLst>
      <p:ext uri="{BB962C8B-B14F-4D97-AF65-F5344CB8AC3E}">
        <p14:creationId xmlns:p14="http://schemas.microsoft.com/office/powerpoint/2010/main" val="9705399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/>
              <a:t>סגירת קובץ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- 234122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628800"/>
            <a:ext cx="79358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b="1" dirty="0">
                <a:latin typeface="Courier New" pitchFamily="49" charset="0"/>
                <a:cs typeface="+mj-cs"/>
              </a:rPr>
              <a:t>חובה לסגור כל קובץ שנפתח באמצעות </a:t>
            </a:r>
            <a:r>
              <a:rPr lang="en-US" b="1" dirty="0">
                <a:latin typeface="Courier New" pitchFamily="49" charset="0"/>
                <a:cs typeface="+mj-cs"/>
              </a:rPr>
              <a:t>open</a:t>
            </a:r>
            <a:r>
              <a:rPr lang="he-IL" b="1" dirty="0">
                <a:latin typeface="Courier New" pitchFamily="49" charset="0"/>
                <a:cs typeface="+mj-cs"/>
              </a:rPr>
              <a:t> על ידי הפונקציה </a:t>
            </a:r>
            <a:r>
              <a:rPr lang="en-US" b="1" dirty="0">
                <a:latin typeface="Courier New" pitchFamily="49" charset="0"/>
                <a:cs typeface="+mj-cs"/>
              </a:rPr>
              <a:t>close()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urier New" pitchFamily="49" charset="0"/>
                <a:cs typeface="+mj-cs"/>
              </a:rPr>
              <a:t>בסגירת קובץ הקישור בין הקובץ בזיכרון המחשב לבין המשתנה בתוכנה מסתיים בצורה מפורשת.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urier New" pitchFamily="49" charset="0"/>
                <a:cs typeface="+mj-cs"/>
              </a:rPr>
              <a:t>סגירת קובץ מאפשרת לתכניות אחרות לגשת אליו.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u="sng" dirty="0">
                <a:latin typeface="Courier New" pitchFamily="49" charset="0"/>
                <a:cs typeface="+mj-cs"/>
              </a:rPr>
              <a:t>שמירת המידע שנכתב לקובץ הינה וודאית רק לאחר סגירת הקובץ.</a:t>
            </a:r>
            <a:endParaRPr lang="en-US" u="sng" dirty="0">
              <a:latin typeface="Courier New" pitchFamily="49" charset="0"/>
              <a:cs typeface="+mj-cs"/>
            </a:endParaRPr>
          </a:p>
          <a:p>
            <a:endParaRPr lang="en-US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urier New" pitchFamily="49" charset="0"/>
              <a:cs typeface="+mj-cs"/>
            </a:endParaRPr>
          </a:p>
          <a:p>
            <a:endParaRPr lang="he-IL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b="1" dirty="0">
              <a:latin typeface="Courier New" pitchFamily="49" charset="0"/>
              <a:cs typeface="Courier New" pitchFamily="49" charset="0"/>
            </a:endParaRPr>
          </a:p>
          <a:p>
            <a:endParaRPr lang="he-IL" dirty="0"/>
          </a:p>
          <a:p>
            <a:pPr marL="285750" indent="-285750" algn="r" defTabSz="914400" eaLnBrk="1" latinLnBrk="0" hangingPunct="1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00EC19-E8AB-C64A-86F4-8E5410141DE3}"/>
              </a:ext>
            </a:extLst>
          </p:cNvPr>
          <p:cNvSpPr/>
          <p:nvPr/>
        </p:nvSpPr>
        <p:spPr>
          <a:xfrm>
            <a:off x="3998803" y="4221088"/>
            <a:ext cx="1440160" cy="4994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1500" err="1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f.close</a:t>
            </a:r>
            <a:r>
              <a:rPr lang="en-US" sz="150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()</a:t>
            </a:r>
          </a:p>
          <a:p>
            <a:pPr algn="l" rtl="0">
              <a:lnSpc>
                <a:spcPct val="150000"/>
              </a:lnSpc>
            </a:pPr>
            <a:endParaRPr lang="en-US" sz="1500">
              <a:solidFill>
                <a:schemeClr val="accent1">
                  <a:lumMod val="75000"/>
                </a:schemeClr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24148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/>
              <a:t>סגירה אוטומטית של קובץ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- 234122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9258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285900"/>
            <a:ext cx="793583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b="1" dirty="0">
                <a:latin typeface="Courier New" pitchFamily="49" charset="0"/>
                <a:cs typeface="+mj-cs"/>
              </a:rPr>
              <a:t>הדרך המומלצת והמקובלת לפתיחה וסגירה של קבצים בפייתון.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>
                <a:latin typeface="Courier New" pitchFamily="49" charset="0"/>
                <a:cs typeface="+mj-cs"/>
              </a:rPr>
              <a:t>שימוש במנגנון</a:t>
            </a:r>
            <a:r>
              <a:rPr lang="he-IL" b="1" dirty="0">
                <a:latin typeface="Courier New" pitchFamily="49" charset="0"/>
                <a:cs typeface="+mj-cs"/>
              </a:rPr>
              <a:t> </a:t>
            </a:r>
            <a:r>
              <a:rPr lang="en-US" b="1" dirty="0">
                <a:solidFill>
                  <a:srgbClr val="7030A0"/>
                </a:solidFill>
                <a:latin typeface="Courier New" pitchFamily="49" charset="0"/>
                <a:cs typeface="+mj-cs"/>
              </a:rPr>
              <a:t>with</a:t>
            </a:r>
            <a:r>
              <a:rPr lang="he-IL" b="1" dirty="0">
                <a:solidFill>
                  <a:srgbClr val="7030A0"/>
                </a:solidFill>
                <a:latin typeface="Courier New" pitchFamily="49" charset="0"/>
                <a:cs typeface="+mj-cs"/>
              </a:rPr>
              <a:t> </a:t>
            </a:r>
            <a:r>
              <a:rPr lang="he-IL" dirty="0">
                <a:latin typeface="Courier New" pitchFamily="49" charset="0"/>
              </a:rPr>
              <a:t>לפתיחת קובץ וסגירתו בצורה אוטומטית:</a:t>
            </a:r>
            <a:endParaRPr lang="he-IL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dirty="0">
              <a:latin typeface="Courier New" pitchFamily="49" charset="0"/>
              <a:cs typeface="+mj-cs"/>
            </a:endParaRPr>
          </a:p>
          <a:p>
            <a:endParaRPr lang="he-IL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b="1" dirty="0">
              <a:latin typeface="Courier New" pitchFamily="49" charset="0"/>
              <a:cs typeface="Courier New" pitchFamily="49" charset="0"/>
            </a:endParaRPr>
          </a:p>
          <a:p>
            <a:endParaRPr lang="he-IL" dirty="0"/>
          </a:p>
          <a:p>
            <a:pPr marL="285750" indent="-285750" algn="r" defTabSz="914400" eaLnBrk="1" latinLnBrk="0" hangingPunct="1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 algn="r" defTabSz="914400" eaLnBrk="1" latinLnBrk="0" hangingPunct="1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 algn="r" defTabSz="914400" eaLnBrk="1" latinLnBrk="0" hangingPunct="1">
              <a:buFont typeface="Arial" panose="020B0604020202020204" pitchFamily="34" charset="0"/>
              <a:buChar char="•"/>
            </a:pPr>
            <a:endParaRPr lang="he-IL" dirty="0"/>
          </a:p>
          <a:p>
            <a:pPr marL="285750" indent="-285750" algn="r" defTabSz="914400" eaLnBrk="1" latinLnBrk="0" hangingPunct="1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r" defTabSz="914400" eaLnBrk="1" latinLnBrk="0" hangingPunct="1">
              <a:buFont typeface="Arial" panose="020B0604020202020204" pitchFamily="34" charset="0"/>
              <a:buChar char="•"/>
            </a:pPr>
            <a:r>
              <a:rPr lang="he-IL" dirty="0"/>
              <a:t>הקובץ נסגר אוטומטית בסוף ה-</a:t>
            </a:r>
            <a:r>
              <a:rPr lang="en-US" dirty="0"/>
              <a:t>scope</a:t>
            </a:r>
            <a:r>
              <a:rPr lang="he-IL" dirty="0"/>
              <a:t> של </a:t>
            </a:r>
            <a:r>
              <a:rPr lang="en-US" dirty="0"/>
              <a:t>with</a:t>
            </a:r>
          </a:p>
          <a:p>
            <a:pPr marL="285750" indent="-285750" algn="r" defTabSz="914400" eaLnBrk="1" latinLnBrk="0" hangingPunct="1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r" defTabSz="914400" eaLnBrk="1" latinLnBrk="0" hangingPunct="1">
              <a:buFont typeface="Arial" panose="020B0604020202020204" pitchFamily="34" charset="0"/>
              <a:buChar char="•"/>
            </a:pPr>
            <a:r>
              <a:rPr lang="he-IL" dirty="0"/>
              <a:t>אין צורך לדאוג ידנית לסגירת הקובץ</a:t>
            </a:r>
          </a:p>
          <a:p>
            <a:pPr algn="r" defTabSz="914400" eaLnBrk="1" latinLnBrk="0" hangingPunct="1"/>
            <a:endParaRPr lang="he-IL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00EC19-E8AB-C64A-86F4-8E5410141DE3}"/>
              </a:ext>
            </a:extLst>
          </p:cNvPr>
          <p:cNvSpPr/>
          <p:nvPr/>
        </p:nvSpPr>
        <p:spPr>
          <a:xfrm>
            <a:off x="1252240" y="2761586"/>
            <a:ext cx="4215687" cy="20922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sz="1600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file_name</a:t>
            </a:r>
            <a:r>
              <a:rPr lang="en-US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= </a:t>
            </a:r>
            <a:r>
              <a:rPr lang="en-US" sz="16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'new_file.txt'</a:t>
            </a:r>
            <a:endParaRPr lang="he-IL" sz="1600" dirty="0">
              <a:solidFill>
                <a:srgbClr val="00B050"/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endParaRPr lang="en-US" sz="1600" dirty="0">
              <a:solidFill>
                <a:srgbClr val="00B050"/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r>
              <a:rPr lang="en-US" sz="16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with open</a:t>
            </a:r>
            <a:r>
              <a:rPr lang="en-US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600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file_name</a:t>
            </a:r>
            <a:r>
              <a:rPr lang="en-US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en-US" sz="16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'r'</a:t>
            </a:r>
            <a:r>
              <a:rPr lang="en-US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) </a:t>
            </a:r>
            <a:r>
              <a:rPr lang="en-US" sz="16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as</a:t>
            </a:r>
            <a:r>
              <a:rPr lang="en-US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f:</a:t>
            </a:r>
          </a:p>
          <a:p>
            <a:pPr algn="l" rtl="0"/>
            <a:r>
              <a:rPr lang="en-US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lines = </a:t>
            </a:r>
            <a:r>
              <a:rPr lang="en-US" sz="1600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f.readlines</a:t>
            </a:r>
            <a:r>
              <a:rPr lang="en-US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()</a:t>
            </a:r>
            <a:endParaRPr lang="he-IL" sz="16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endParaRPr lang="en-US" sz="16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r>
              <a:rPr lang="en-US" sz="16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print(lines[0])</a:t>
            </a:r>
            <a:endParaRPr lang="he-IL" sz="16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endParaRPr lang="en-US" sz="16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r>
              <a:rPr lang="en-US" sz="150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'1. Sunday\n'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025DA885-62AB-48A4-874A-7205A1059706}"/>
              </a:ext>
            </a:extLst>
          </p:cNvPr>
          <p:cNvGrpSpPr/>
          <p:nvPr/>
        </p:nvGrpSpPr>
        <p:grpSpPr>
          <a:xfrm>
            <a:off x="5969201" y="3442087"/>
            <a:ext cx="3597052" cy="1253338"/>
            <a:chOff x="5004046" y="4365104"/>
            <a:chExt cx="2714557" cy="1790484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60D410E-2B38-4FFA-8E12-312EC2549E52}"/>
                </a:ext>
              </a:extLst>
            </p:cNvPr>
            <p:cNvGrpSpPr/>
            <p:nvPr/>
          </p:nvGrpSpPr>
          <p:grpSpPr>
            <a:xfrm>
              <a:off x="5004046" y="4725146"/>
              <a:ext cx="2714557" cy="1430442"/>
              <a:chOff x="3131838" y="4509120"/>
              <a:chExt cx="3512958" cy="1771025"/>
            </a:xfrm>
          </p:grpSpPr>
          <p:sp>
            <p:nvSpPr>
              <p:cNvPr id="12" name="Folded Corner 11">
                <a:extLst>
                  <a:ext uri="{FF2B5EF4-FFF2-40B4-BE49-F238E27FC236}">
                    <a16:creationId xmlns:a16="http://schemas.microsoft.com/office/drawing/2014/main" id="{6FC3A201-F769-457B-A085-70BA14D5B9DD}"/>
                  </a:ext>
                </a:extLst>
              </p:cNvPr>
              <p:cNvSpPr/>
              <p:nvPr/>
            </p:nvSpPr>
            <p:spPr>
              <a:xfrm rot="10800000" flipH="1">
                <a:off x="3131839" y="4509122"/>
                <a:ext cx="2184563" cy="1432890"/>
              </a:xfrm>
              <a:prstGeom prst="foldedCorner">
                <a:avLst>
                  <a:gd name="adj" fmla="val 21176"/>
                </a:avLst>
              </a:prstGeom>
              <a:gradFill flip="none" rotWithShape="1">
                <a:gsLst>
                  <a:gs pos="0">
                    <a:schemeClr val="accent6">
                      <a:lumMod val="20000"/>
                      <a:lumOff val="80000"/>
                      <a:shade val="67500"/>
                      <a:satMod val="115000"/>
                    </a:schemeClr>
                  </a:gs>
                  <a:gs pos="100000">
                    <a:schemeClr val="accent6">
                      <a:lumMod val="20000"/>
                      <a:lumOff val="80000"/>
                      <a:shade val="100000"/>
                      <a:satMod val="115000"/>
                    </a:schemeClr>
                  </a:gs>
                </a:gsLst>
                <a:lin ang="13500000" scaled="1"/>
                <a:tileRect/>
              </a:gradFill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E5C7D45-124C-4E87-8B34-713B7E230E39}"/>
                  </a:ext>
                </a:extLst>
              </p:cNvPr>
              <p:cNvSpPr/>
              <p:nvPr/>
            </p:nvSpPr>
            <p:spPr>
              <a:xfrm>
                <a:off x="3131838" y="4509120"/>
                <a:ext cx="3512958" cy="1771025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1" anchor="t"/>
              <a:lstStyle/>
              <a:p>
                <a:pPr marL="342900" indent="-342900" algn="l" rtl="0">
                  <a:buAutoNum type="arabicPeriod"/>
                </a:pPr>
                <a:r>
                  <a:rPr lang="pt-BR" sz="1500">
                    <a:latin typeface="Consolas" panose="020B0609020204030204" pitchFamily="49" charset="0"/>
                    <a:cs typeface="Consolas" panose="020B0609020204030204" pitchFamily="49" charset="0"/>
                  </a:rPr>
                  <a:t>Sunday</a:t>
                </a:r>
              </a:p>
              <a:p>
                <a:pPr marL="342900" indent="-342900" algn="l" rtl="0">
                  <a:buAutoNum type="arabicPeriod"/>
                </a:pPr>
                <a:r>
                  <a:rPr lang="pt-BR" sz="1500">
                    <a:latin typeface="Consolas" panose="020B0609020204030204" pitchFamily="49" charset="0"/>
                    <a:cs typeface="Consolas" panose="020B0609020204030204" pitchFamily="49" charset="0"/>
                  </a:rPr>
                  <a:t>Monday</a:t>
                </a:r>
              </a:p>
              <a:p>
                <a:pPr marL="342900" indent="-342900" algn="l" rtl="0">
                  <a:buAutoNum type="arabicPeriod"/>
                </a:pPr>
                <a:r>
                  <a:rPr lang="pt-BR" sz="1500">
                    <a:latin typeface="Consolas" panose="020B0609020204030204" pitchFamily="49" charset="0"/>
                    <a:cs typeface="Consolas" panose="020B0609020204030204" pitchFamily="49" charset="0"/>
                  </a:rPr>
                  <a:t>Tuesday</a:t>
                </a:r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AD582D-3293-4343-9EFF-3C5CA097EB27}"/>
                </a:ext>
              </a:extLst>
            </p:cNvPr>
            <p:cNvSpPr/>
            <p:nvPr/>
          </p:nvSpPr>
          <p:spPr>
            <a:xfrm>
              <a:off x="5004048" y="4365104"/>
              <a:ext cx="1224137" cy="37030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l"/>
              <a:r>
                <a:rPr lang="en-US" sz="1500" b="1" dirty="0"/>
                <a:t>file.txt</a:t>
              </a:r>
              <a:endParaRPr lang="he-IL" sz="1500" b="1" dirty="0"/>
            </a:p>
          </p:txBody>
        </p:sp>
      </p:grpSp>
      <p:sp>
        <p:nvSpPr>
          <p:cNvPr id="15" name="Rectangular Callout 7">
            <a:extLst>
              <a:ext uri="{FF2B5EF4-FFF2-40B4-BE49-F238E27FC236}">
                <a16:creationId xmlns:a16="http://schemas.microsoft.com/office/drawing/2014/main" id="{082EA8C1-7682-401F-A563-6EBD8A99765E}"/>
              </a:ext>
            </a:extLst>
          </p:cNvPr>
          <p:cNvSpPr/>
          <p:nvPr/>
        </p:nvSpPr>
        <p:spPr>
          <a:xfrm>
            <a:off x="239279" y="4775974"/>
            <a:ext cx="2159271" cy="768954"/>
          </a:xfrm>
          <a:prstGeom prst="wedgeRectCallout">
            <a:avLst>
              <a:gd name="adj1" fmla="val -194"/>
              <a:gd name="adj2" fmla="val -163049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500" dirty="0"/>
              <a:t>בנקודה זו הקובץ נסגר אוטומטית (סיום ה-</a:t>
            </a:r>
            <a:r>
              <a:rPr lang="en-US" sz="1500" dirty="0"/>
              <a:t>scope</a:t>
            </a:r>
            <a:r>
              <a:rPr lang="he-IL" sz="1500" dirty="0"/>
              <a:t> של </a:t>
            </a:r>
            <a:r>
              <a:rPr lang="en-US" sz="1500" dirty="0"/>
              <a:t>with</a:t>
            </a:r>
            <a:r>
              <a:rPr lang="he-IL" sz="1500" dirty="0"/>
              <a:t>)</a:t>
            </a:r>
          </a:p>
        </p:txBody>
      </p:sp>
      <p:sp>
        <p:nvSpPr>
          <p:cNvPr id="16" name="Rectangular Callout 7">
            <a:extLst>
              <a:ext uri="{FF2B5EF4-FFF2-40B4-BE49-F238E27FC236}">
                <a16:creationId xmlns:a16="http://schemas.microsoft.com/office/drawing/2014/main" id="{ACCBD8D8-2F11-4013-A4E1-EB541B6F4318}"/>
              </a:ext>
            </a:extLst>
          </p:cNvPr>
          <p:cNvSpPr/>
          <p:nvPr/>
        </p:nvSpPr>
        <p:spPr>
          <a:xfrm>
            <a:off x="4553640" y="2608015"/>
            <a:ext cx="2159271" cy="550940"/>
          </a:xfrm>
          <a:prstGeom prst="wedgeRectCallout">
            <a:avLst>
              <a:gd name="adj1" fmla="val -76798"/>
              <a:gd name="adj2" fmla="val 65254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500" dirty="0"/>
              <a:t>ניתן לבחור בין המצבים:</a:t>
            </a:r>
          </a:p>
          <a:p>
            <a:pPr algn="ctr"/>
            <a:r>
              <a:rPr lang="en-US" sz="1500" dirty="0"/>
              <a:t>'w', 'r', 'a'</a:t>
            </a:r>
            <a:r>
              <a:rPr lang="he-IL" sz="15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31739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1852" y="-192450"/>
            <a:ext cx="8229600" cy="1143000"/>
          </a:xfrm>
        </p:spPr>
        <p:txBody>
          <a:bodyPr>
            <a:normAutofit/>
          </a:bodyPr>
          <a:lstStyle/>
          <a:p>
            <a:r>
              <a:rPr lang="he-IL" dirty="0"/>
              <a:t>כתיבה של מילון לקובץ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מבוא לתכנות מערכות - 234124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9258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668292" y="684973"/>
            <a:ext cx="7935834" cy="5986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Courier New" pitchFamily="49" charset="0"/>
                <a:cs typeface="+mj-cs"/>
              </a:rPr>
              <a:t>פורמט </a:t>
            </a:r>
            <a:r>
              <a:rPr lang="en-US" dirty="0">
                <a:latin typeface="Courier New" pitchFamily="49" charset="0"/>
                <a:cs typeface="+mj-cs"/>
              </a:rPr>
              <a:t>JSON</a:t>
            </a:r>
            <a:r>
              <a:rPr lang="he-IL" dirty="0">
                <a:latin typeface="Courier New" pitchFamily="49" charset="0"/>
                <a:cs typeface="+mj-cs"/>
              </a:rPr>
              <a:t> (</a:t>
            </a:r>
            <a:r>
              <a:rPr lang="en-US" dirty="0">
                <a:latin typeface="Courier New" pitchFamily="49" charset="0"/>
                <a:cs typeface="+mj-cs"/>
              </a:rPr>
              <a:t>JavaScript Object Notation</a:t>
            </a:r>
            <a:r>
              <a:rPr lang="he-IL" dirty="0">
                <a:latin typeface="Courier New" pitchFamily="49" charset="0"/>
                <a:cs typeface="+mj-cs"/>
              </a:rPr>
              <a:t>) הוא דרך מקובלת לייצוג מידע באמצעות קובץ טקסט פשוט, ונתמך על ידי שפות תכנות רבות.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dirty="0">
                <a:latin typeface="Courier New" pitchFamily="49" charset="0"/>
                <a:cs typeface="+mj-cs"/>
              </a:rPr>
              <a:t>הספרייה הסטנדרטית של פייתון מכילה פונקציות לקריאה וכתיבה של מילונים לפורמט </a:t>
            </a:r>
            <a:r>
              <a:rPr lang="en-US" dirty="0">
                <a:latin typeface="Courier New" pitchFamily="49" charset="0"/>
                <a:cs typeface="+mj-cs"/>
              </a:rPr>
              <a:t>JSON</a:t>
            </a:r>
            <a:r>
              <a:rPr lang="he-IL" dirty="0">
                <a:latin typeface="Courier New" pitchFamily="49" charset="0"/>
                <a:cs typeface="+mj-cs"/>
              </a:rPr>
              <a:t> בצורה פשוטה ומהירה</a:t>
            </a:r>
          </a:p>
          <a:p>
            <a:pPr marL="742950" lvl="1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he-IL" dirty="0">
                <a:solidFill>
                  <a:srgbClr val="00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המפתחות חייבים להיות מחרוזות</a:t>
            </a:r>
            <a:endParaRPr lang="en-US" dirty="0"/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he-IL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urier New" pitchFamily="49" charset="0"/>
              <a:cs typeface="+mj-c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ourier New" pitchFamily="49" charset="0"/>
              <a:cs typeface="+mj-cs"/>
            </a:endParaRPr>
          </a:p>
          <a:p>
            <a:pPr>
              <a:spcBef>
                <a:spcPts val="600"/>
              </a:spcBef>
            </a:pPr>
            <a:endParaRPr lang="en-US" sz="1400" dirty="0">
              <a:latin typeface="Courier New" pitchFamily="49" charset="0"/>
              <a:cs typeface="+mj-cs"/>
            </a:endParaRP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he-IL" dirty="0">
                <a:latin typeface="Courier New" pitchFamily="49" charset="0"/>
                <a:cs typeface="+mj-cs"/>
              </a:rPr>
              <a:t>קיימות גם פונק’ </a:t>
            </a:r>
            <a:r>
              <a:rPr lang="en-US" dirty="0" err="1">
                <a:latin typeface="Courier New" pitchFamily="49" charset="0"/>
                <a:cs typeface="+mj-cs"/>
              </a:rPr>
              <a:t>json.dumps</a:t>
            </a:r>
            <a:r>
              <a:rPr lang="he-IL" dirty="0">
                <a:latin typeface="Courier New" pitchFamily="49" charset="0"/>
                <a:cs typeface="+mj-cs"/>
              </a:rPr>
              <a:t> ו-</a:t>
            </a:r>
            <a:r>
              <a:rPr lang="en-US" dirty="0" err="1">
                <a:latin typeface="Courier New" pitchFamily="49" charset="0"/>
                <a:cs typeface="+mj-cs"/>
              </a:rPr>
              <a:t>json.loads</a:t>
            </a:r>
            <a:r>
              <a:rPr lang="he-IL" dirty="0">
                <a:latin typeface="Courier New" pitchFamily="49" charset="0"/>
                <a:cs typeface="+mj-cs"/>
              </a:rPr>
              <a:t> לקריאה/כתיבה ישירות ממחרוזת.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00EC19-E8AB-C64A-86F4-8E5410141DE3}"/>
              </a:ext>
            </a:extLst>
          </p:cNvPr>
          <p:cNvSpPr/>
          <p:nvPr/>
        </p:nvSpPr>
        <p:spPr>
          <a:xfrm>
            <a:off x="807869" y="2692145"/>
            <a:ext cx="4367812" cy="3161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14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import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json</a:t>
            </a:r>
          </a:p>
          <a:p>
            <a:pPr algn="l" rtl="0"/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1400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my_dict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= {</a:t>
            </a:r>
            <a:r>
              <a:rPr lang="en-US" sz="14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'key_1'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: 17, </a:t>
            </a:r>
          </a:p>
          <a:p>
            <a:pPr algn="l" rtl="0"/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           </a:t>
            </a:r>
            <a:r>
              <a:rPr lang="en-US" sz="14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'key_2'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: [</a:t>
            </a:r>
            <a:r>
              <a:rPr lang="en-US" sz="14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'a'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en-US" sz="14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'list'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]}</a:t>
            </a:r>
          </a:p>
          <a:p>
            <a:pPr algn="l" rtl="0"/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</a:t>
            </a:r>
            <a:r>
              <a:rPr lang="en-US" sz="14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 </a:t>
            </a:r>
            <a:endParaRPr lang="he-IL" sz="1400" dirty="0">
              <a:solidFill>
                <a:srgbClr val="00B050"/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# Write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my_dict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 to json</a:t>
            </a:r>
          </a:p>
          <a:p>
            <a:pPr algn="l" rtl="0"/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14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with open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4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sz="1400" dirty="0" err="1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myfile.json</a:t>
            </a:r>
            <a:r>
              <a:rPr lang="en-US" sz="14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en-US" sz="14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'w'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) </a:t>
            </a:r>
            <a:r>
              <a:rPr lang="en-US" sz="14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as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f:</a:t>
            </a:r>
          </a:p>
          <a:p>
            <a:pPr algn="l" rtl="0"/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   </a:t>
            </a:r>
            <a:r>
              <a:rPr lang="en-US" sz="1400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json.dump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400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my_dict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, f, indent=4)</a:t>
            </a:r>
          </a:p>
          <a:p>
            <a:pPr algn="l" rtl="0"/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</a:t>
            </a:r>
          </a:p>
          <a:p>
            <a:pPr algn="l" rtl="0"/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# Read </a:t>
            </a:r>
            <a:r>
              <a:rPr lang="en-US" sz="1400" dirty="0" err="1">
                <a:solidFill>
                  <a:schemeClr val="bg1">
                    <a:lumMod val="50000"/>
                  </a:schemeClr>
                </a:solidFill>
                <a:latin typeface="Consolas" pitchFamily="49" charset="0"/>
                <a:cs typeface="Consolas" pitchFamily="49" charset="0"/>
              </a:rPr>
              <a:t>myfile.json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Consolas" pitchFamily="49" charset="0"/>
              <a:cs typeface="Consolas" pitchFamily="49" charset="0"/>
            </a:endParaRPr>
          </a:p>
          <a:p>
            <a:pPr algn="l" rtl="0"/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</a:t>
            </a:r>
            <a:r>
              <a:rPr lang="en-US" sz="14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with open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(</a:t>
            </a:r>
            <a:r>
              <a:rPr lang="en-US" sz="14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sz="1400" dirty="0" err="1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myfile.json</a:t>
            </a:r>
            <a:r>
              <a:rPr lang="en-US" sz="14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'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, </a:t>
            </a:r>
            <a:r>
              <a:rPr lang="en-US" sz="1400" dirty="0">
                <a:solidFill>
                  <a:srgbClr val="00B050"/>
                </a:solidFill>
                <a:latin typeface="Consolas" pitchFamily="49" charset="0"/>
                <a:cs typeface="Consolas" pitchFamily="49" charset="0"/>
              </a:rPr>
              <a:t>'r'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) </a:t>
            </a:r>
            <a:r>
              <a:rPr lang="en-US" sz="1400" dirty="0">
                <a:solidFill>
                  <a:srgbClr val="7030A0"/>
                </a:solidFill>
                <a:latin typeface="Consolas" pitchFamily="49" charset="0"/>
                <a:cs typeface="Consolas" pitchFamily="49" charset="0"/>
              </a:rPr>
              <a:t>as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f:</a:t>
            </a:r>
          </a:p>
          <a:p>
            <a:pPr algn="l" rtl="0"/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   </a:t>
            </a:r>
            <a:r>
              <a:rPr lang="en-US" sz="1400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loaded_dict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= </a:t>
            </a:r>
            <a:r>
              <a:rPr lang="en-US" sz="1400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json.load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(f)</a:t>
            </a:r>
          </a:p>
          <a:p>
            <a:pPr algn="l" rtl="0"/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</a:t>
            </a:r>
          </a:p>
          <a:p>
            <a:pPr algn="l" rtl="0"/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print(</a:t>
            </a:r>
            <a:r>
              <a:rPr lang="en-US" sz="1400" dirty="0" err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loaded_dict</a:t>
            </a:r>
            <a:r>
              <a:rPr lang="en-US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)</a:t>
            </a:r>
          </a:p>
          <a:p>
            <a:pPr algn="l" rtl="0"/>
            <a:r>
              <a:rPr lang="en-US" sz="1400" dirty="0">
                <a:solidFill>
                  <a:srgbClr val="C00000"/>
                </a:solidFill>
                <a:latin typeface="Consolas" pitchFamily="49" charset="0"/>
                <a:cs typeface="Consolas" pitchFamily="49" charset="0"/>
              </a:rPr>
              <a:t>{'key_1': 17, 'key_2': ['a', 'list']}</a:t>
            </a:r>
          </a:p>
        </p:txBody>
      </p:sp>
      <p:sp>
        <p:nvSpPr>
          <p:cNvPr id="15" name="Rectangular Callout 7">
            <a:extLst>
              <a:ext uri="{FF2B5EF4-FFF2-40B4-BE49-F238E27FC236}">
                <a16:creationId xmlns:a16="http://schemas.microsoft.com/office/drawing/2014/main" id="{082EA8C1-7682-401F-A563-6EBD8A99765E}"/>
              </a:ext>
            </a:extLst>
          </p:cNvPr>
          <p:cNvSpPr/>
          <p:nvPr/>
        </p:nvSpPr>
        <p:spPr>
          <a:xfrm>
            <a:off x="4718883" y="4778094"/>
            <a:ext cx="2472690" cy="768954"/>
          </a:xfrm>
          <a:prstGeom prst="wedgeRectCallout">
            <a:avLst>
              <a:gd name="adj1" fmla="val -70014"/>
              <a:gd name="adj2" fmla="val -121439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500" dirty="0"/>
              <a:t>פרמטר גודל הזחה. גורם לפלט מעוצב וקריא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5218C4-6F67-4ED9-AEA7-51159F7CEB0A}"/>
              </a:ext>
            </a:extLst>
          </p:cNvPr>
          <p:cNvSpPr/>
          <p:nvPr/>
        </p:nvSpPr>
        <p:spPr>
          <a:xfrm>
            <a:off x="5727680" y="2670224"/>
            <a:ext cx="1622101" cy="2592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l"/>
            <a:r>
              <a:rPr lang="en-US" sz="1500" b="1" dirty="0" err="1"/>
              <a:t>myfile.json</a:t>
            </a:r>
            <a:endParaRPr lang="he-IL" sz="1500" b="1" dirty="0"/>
          </a:p>
        </p:txBody>
      </p:sp>
      <p:sp>
        <p:nvSpPr>
          <p:cNvPr id="11" name="Folded Corner 11">
            <a:extLst>
              <a:ext uri="{FF2B5EF4-FFF2-40B4-BE49-F238E27FC236}">
                <a16:creationId xmlns:a16="http://schemas.microsoft.com/office/drawing/2014/main" id="{691E2F1F-0373-4CB0-98E8-B0625148C209}"/>
              </a:ext>
            </a:extLst>
          </p:cNvPr>
          <p:cNvSpPr/>
          <p:nvPr/>
        </p:nvSpPr>
        <p:spPr>
          <a:xfrm rot="10800000" flipH="1">
            <a:off x="5756260" y="2955077"/>
            <a:ext cx="2097560" cy="1610659"/>
          </a:xfrm>
          <a:prstGeom prst="foldedCorner">
            <a:avLst>
              <a:gd name="adj" fmla="val 9669"/>
            </a:avLst>
          </a:prstGeom>
          <a:gradFill flip="none" rotWithShape="1">
            <a:gsLst>
              <a:gs pos="0">
                <a:schemeClr val="accent6">
                  <a:lumMod val="20000"/>
                  <a:lumOff val="80000"/>
                  <a:shade val="67500"/>
                  <a:satMod val="115000"/>
                </a:schemeClr>
              </a:gs>
              <a:gs pos="100000">
                <a:schemeClr val="accent6">
                  <a:lumMod val="20000"/>
                  <a:lumOff val="80000"/>
                  <a:shade val="100000"/>
                  <a:satMod val="115000"/>
                </a:schemeClr>
              </a:gs>
            </a:gsLst>
            <a:lin ang="13500000" scaled="1"/>
            <a:tileRect/>
          </a:gra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ED2852-FD2B-4D80-8638-A5200868EC73}"/>
              </a:ext>
            </a:extLst>
          </p:cNvPr>
          <p:cNvSpPr/>
          <p:nvPr/>
        </p:nvSpPr>
        <p:spPr>
          <a:xfrm>
            <a:off x="5752732" y="2968668"/>
            <a:ext cx="2159271" cy="1695865"/>
          </a:xfrm>
          <a:prstGeom prst="rect">
            <a:avLst/>
          </a:prstGeom>
          <a:noFill/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pt-BR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algn="l" rtl="0"/>
            <a:r>
              <a:rPr lang="pt-BR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"key_1": 17,</a:t>
            </a:r>
          </a:p>
          <a:p>
            <a:pPr algn="l" rtl="0"/>
            <a:r>
              <a:rPr lang="pt-BR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"key_2": [</a:t>
            </a:r>
          </a:p>
          <a:p>
            <a:pPr algn="l" rtl="0"/>
            <a:r>
              <a:rPr lang="pt-BR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    "a",</a:t>
            </a:r>
          </a:p>
          <a:p>
            <a:pPr algn="l" rtl="0"/>
            <a:r>
              <a:rPr lang="pt-BR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    "list"</a:t>
            </a:r>
          </a:p>
          <a:p>
            <a:pPr algn="l" rtl="0"/>
            <a:r>
              <a:rPr lang="pt-BR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]</a:t>
            </a:r>
          </a:p>
          <a:p>
            <a:pPr algn="l" rtl="0"/>
            <a:r>
              <a:rPr lang="pt-BR" sz="1400" dirty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he-IL" sz="1400" dirty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789080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uiExpand="1" build="p"/>
      <p:bldP spid="15" grpId="0" animBg="1"/>
      <p:bldP spid="15" grpId="1" animBg="1"/>
      <p:bldP spid="17" grpId="0" uiExpan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57400"/>
            <a:ext cx="7772400" cy="1470025"/>
          </a:xfrm>
        </p:spPr>
        <p:txBody>
          <a:bodyPr/>
          <a:lstStyle/>
          <a:p>
            <a:pPr defTabSz="914400" eaLnBrk="1" latinLnBrk="0" hangingPunct="1">
              <a:spcBef>
                <a:spcPct val="0"/>
              </a:spcBef>
              <a:buNone/>
            </a:pPr>
            <a:r>
              <a:rPr lang="he-IL" dirty="0"/>
              <a:t>חריגות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116807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חריגות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268760"/>
            <a:ext cx="7935834" cy="34778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/>
              <a:t>כמו ב-</a:t>
            </a:r>
            <a:r>
              <a:rPr lang="en-US" sz="2000" dirty="0"/>
              <a:t>C++</a:t>
            </a:r>
            <a:r>
              <a:rPr lang="he-IL" sz="2000" dirty="0"/>
              <a:t>, גם בפייתון קיים מנגנון של חריגות.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/>
              <a:t>כדי לזרוק חריגה </a:t>
            </a:r>
            <a:r>
              <a:rPr lang="he-IL" sz="2000" dirty="0" err="1"/>
              <a:t>בפייתון</a:t>
            </a:r>
            <a:r>
              <a:rPr lang="he-IL" sz="2000" dirty="0"/>
              <a:t>, נשתמש במילה השמורה </a:t>
            </a:r>
            <a:r>
              <a:rPr lang="en-US" sz="2000" b="1" dirty="0">
                <a:latin typeface="Consolas" panose="020B0609020204030204" pitchFamily="49" charset="0"/>
              </a:rPr>
              <a:t>raise</a:t>
            </a:r>
            <a:r>
              <a:rPr lang="he-IL" sz="2000" dirty="0"/>
              <a:t> (ולא </a:t>
            </a:r>
            <a:r>
              <a:rPr lang="en-US" sz="2000" dirty="0">
                <a:latin typeface="Consolas" panose="020B0609020204030204" pitchFamily="49" charset="0"/>
              </a:rPr>
              <a:t>throw</a:t>
            </a:r>
            <a:r>
              <a:rPr lang="he-IL" sz="2000" dirty="0"/>
              <a:t> כמו ב-</a:t>
            </a:r>
            <a:r>
              <a:rPr lang="en-US" sz="2000" dirty="0"/>
              <a:t>C++</a:t>
            </a:r>
            <a:r>
              <a:rPr lang="he-IL" sz="2000" dirty="0"/>
              <a:t>).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/>
              <a:t>ניתן לזרוק </a:t>
            </a:r>
            <a:r>
              <a:rPr lang="he-IL" sz="2000" dirty="0" err="1"/>
              <a:t>בפייתון</a:t>
            </a:r>
            <a:r>
              <a:rPr lang="he-IL" sz="2000" dirty="0"/>
              <a:t> עצמים מטיפוס </a:t>
            </a:r>
            <a:r>
              <a:rPr lang="en-US" sz="2000" dirty="0"/>
              <a:t>Exception</a:t>
            </a:r>
            <a:r>
              <a:rPr lang="he-IL" sz="2000" dirty="0"/>
              <a:t>, או מטיפוס היורש מטיפוס זה.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/>
              <a:t>טיפוסים נפוצים של חריגות </a:t>
            </a:r>
            <a:r>
              <a:rPr lang="he-IL" sz="2000" dirty="0" err="1"/>
              <a:t>בפייתון</a:t>
            </a:r>
            <a:r>
              <a:rPr lang="he-IL" sz="2000" dirty="0"/>
              <a:t>:</a:t>
            </a:r>
            <a:endParaRPr lang="en-US" sz="2000" dirty="0"/>
          </a:p>
          <a:p>
            <a:pPr algn="ctr"/>
            <a:r>
              <a:rPr lang="he-IL" sz="2000" dirty="0"/>
              <a:t> </a:t>
            </a:r>
            <a:r>
              <a:rPr lang="en-US" sz="2000" dirty="0" err="1">
                <a:latin typeface="Consolas" panose="020B0609020204030204" pitchFamily="49" charset="0"/>
              </a:rPr>
              <a:t>ValueError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TypeError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RuntimeError</a:t>
            </a:r>
            <a:endParaRPr lang="he-IL" sz="2000" dirty="0">
              <a:latin typeface="Consolas" panose="020B0609020204030204" pitchFamily="49" charset="0"/>
            </a:endParaRPr>
          </a:p>
          <a:p>
            <a:endParaRPr lang="he-IL" sz="2000" dirty="0">
              <a:latin typeface="Consolas" panose="020B0609020204030204" pitchFamily="49" charset="0"/>
            </a:endParaRPr>
          </a:p>
          <a:p>
            <a:endParaRPr lang="he-IL" sz="2000" dirty="0">
              <a:latin typeface="Consolas" panose="020B0609020204030204" pitchFamily="49" charset="0"/>
            </a:endParaRP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99BB5489-ED5E-C2DE-D29E-4CE9C4E2F1CB}"/>
              </a:ext>
            </a:extLst>
          </p:cNvPr>
          <p:cNvSpPr/>
          <p:nvPr/>
        </p:nvSpPr>
        <p:spPr>
          <a:xfrm>
            <a:off x="457200" y="4221088"/>
            <a:ext cx="8229600" cy="18722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print_pos_number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(num):</a:t>
            </a:r>
          </a:p>
          <a:p>
            <a:pPr algn="l" rtl="0"/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if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num &lt; 0:</a:t>
            </a:r>
          </a:p>
          <a:p>
            <a:pPr algn="l" rtl="0"/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   raise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ValueError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(num)</a:t>
            </a:r>
          </a:p>
          <a:p>
            <a:pPr algn="l" rtl="0"/>
            <a:r>
              <a:rPr lang="en-US" sz="2000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print(num)</a:t>
            </a:r>
          </a:p>
          <a:p>
            <a:pPr algn="l" rtl="0"/>
            <a:endParaRPr 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48749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חריגות מובנות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473278" y="1268760"/>
            <a:ext cx="80591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 err="1">
                <a:latin typeface="Courier New" pitchFamily="49" charset="0"/>
                <a:cs typeface="+mj-cs"/>
              </a:rPr>
              <a:t>בפייתון</a:t>
            </a:r>
            <a:r>
              <a:rPr lang="he-IL" sz="2000" dirty="0">
                <a:latin typeface="Courier New" pitchFamily="49" charset="0"/>
                <a:cs typeface="+mj-cs"/>
              </a:rPr>
              <a:t> יש מספר חריגות מובנות, שהשפה תזרוק במקרים מסוימים (רשימה חלקית):</a:t>
            </a:r>
            <a:endParaRPr lang="en-US" sz="2000" dirty="0"/>
          </a:p>
        </p:txBody>
      </p:sp>
      <p:graphicFrame>
        <p:nvGraphicFramePr>
          <p:cNvPr id="3" name="טבלה 3">
            <a:extLst>
              <a:ext uri="{FF2B5EF4-FFF2-40B4-BE49-F238E27FC236}">
                <a16:creationId xmlns:a16="http://schemas.microsoft.com/office/drawing/2014/main" id="{10987CEE-C473-6A42-3DF1-62DFD77A07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438624"/>
              </p:ext>
            </p:extLst>
          </p:nvPr>
        </p:nvGraphicFramePr>
        <p:xfrm>
          <a:off x="683568" y="2132856"/>
          <a:ext cx="7560840" cy="37607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0420">
                  <a:extLst>
                    <a:ext uri="{9D8B030D-6E8A-4147-A177-3AD203B41FA5}">
                      <a16:colId xmlns:a16="http://schemas.microsoft.com/office/drawing/2014/main" val="3383018500"/>
                    </a:ext>
                  </a:extLst>
                </a:gridCol>
                <a:gridCol w="3780420">
                  <a:extLst>
                    <a:ext uri="{9D8B030D-6E8A-4147-A177-3AD203B41FA5}">
                      <a16:colId xmlns:a16="http://schemas.microsoft.com/office/drawing/2014/main" val="2619466687"/>
                    </a:ext>
                  </a:extLst>
                </a:gridCol>
              </a:tblGrid>
              <a:tr h="522058">
                <a:tc>
                  <a:txBody>
                    <a:bodyPr/>
                    <a:lstStyle/>
                    <a:p>
                      <a:r>
                        <a:rPr lang="he-IL" dirty="0"/>
                        <a:t>תיזרק כאשר: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he-IL" dirty="0"/>
                        <a:t>החריגה: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9208286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r>
                        <a:rPr lang="he-IL" dirty="0"/>
                        <a:t>מנסים לגשת ל-</a:t>
                      </a:r>
                      <a:r>
                        <a:rPr lang="en-US" dirty="0"/>
                        <a:t>index</a:t>
                      </a:r>
                      <a:r>
                        <a:rPr lang="he-IL" dirty="0"/>
                        <a:t> ברשימה או ל-</a:t>
                      </a:r>
                      <a:r>
                        <a:rPr lang="en-US" dirty="0"/>
                        <a:t>key</a:t>
                      </a:r>
                      <a:r>
                        <a:rPr lang="he-IL" dirty="0"/>
                        <a:t> ב-</a:t>
                      </a:r>
                      <a:r>
                        <a:rPr lang="en-US" dirty="0" err="1"/>
                        <a:t>dict</a:t>
                      </a:r>
                      <a:r>
                        <a:rPr lang="he-IL" dirty="0"/>
                        <a:t> שלא קיימים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 err="1">
                          <a:latin typeface="Consolas" panose="020B0609020204030204" pitchFamily="49" charset="0"/>
                        </a:rPr>
                        <a:t>IndexError</a:t>
                      </a:r>
                      <a:r>
                        <a:rPr lang="en-US" dirty="0"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en-US" dirty="0" err="1">
                          <a:latin typeface="Consolas" panose="020B0609020204030204" pitchFamily="49" charset="0"/>
                        </a:rPr>
                        <a:t>KeyError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276426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r>
                        <a:rPr lang="he-IL" dirty="0"/>
                        <a:t>מנסים לבצע על עצם פעולה שלא מתאימה לטיפוס שלו (נזרק בזמן ריצה)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 err="1">
                          <a:latin typeface="Consolas" panose="020B0609020204030204" pitchFamily="49" charset="0"/>
                        </a:rPr>
                        <a:t>TypeError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3600354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r>
                        <a:rPr lang="he-IL" dirty="0"/>
                        <a:t>פונקציה מקבלת כפרמטר ערך מהטיפוס הנכון אבל ערך שלא מתאים לפונקציה (למשל ערך שלילי עבור שורש)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 err="1">
                          <a:latin typeface="Consolas" panose="020B0609020204030204" pitchFamily="49" charset="0"/>
                        </a:rPr>
                        <a:t>ValueError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902413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r>
                        <a:rPr lang="he-IL" dirty="0"/>
                        <a:t>מחלקים באפס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 err="1">
                          <a:latin typeface="Consolas" panose="020B0609020204030204" pitchFamily="49" charset="0"/>
                        </a:rPr>
                        <a:t>ZeroDivisionError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42474"/>
                  </a:ext>
                </a:extLst>
              </a:tr>
              <a:tr h="522058">
                <a:tc>
                  <a:txBody>
                    <a:bodyPr/>
                    <a:lstStyle/>
                    <a:p>
                      <a:r>
                        <a:rPr lang="he-IL" dirty="0"/>
                        <a:t>שגיאה שקשורה לטיפול בקבצים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US" dirty="0" err="1">
                          <a:latin typeface="Consolas" panose="020B0609020204030204" pitchFamily="49" charset="0"/>
                        </a:rPr>
                        <a:t>IOError</a:t>
                      </a:r>
                      <a:endParaRPr lang="en-US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738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0939215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טיפול בחריגות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268760"/>
            <a:ext cx="7935834" cy="13234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בדומה ל-</a:t>
            </a:r>
            <a:r>
              <a:rPr lang="en-US" sz="2000" dirty="0">
                <a:latin typeface="Consolas" panose="020B0609020204030204" pitchFamily="49" charset="0"/>
              </a:rPr>
              <a:t>try … catch</a:t>
            </a:r>
            <a:r>
              <a:rPr lang="he-IL" sz="2000" dirty="0">
                <a:latin typeface="Consolas" panose="020B0609020204030204" pitchFamily="49" charset="0"/>
              </a:rPr>
              <a:t> ב-</a:t>
            </a:r>
            <a:r>
              <a:rPr lang="en-US" sz="2000" dirty="0">
                <a:latin typeface="Consolas" panose="020B0609020204030204" pitchFamily="49" charset="0"/>
              </a:rPr>
              <a:t>C++</a:t>
            </a:r>
            <a:r>
              <a:rPr lang="he-IL" sz="2000" dirty="0">
                <a:latin typeface="Consolas" panose="020B0609020204030204" pitchFamily="49" charset="0"/>
              </a:rPr>
              <a:t>, גם </a:t>
            </a:r>
            <a:r>
              <a:rPr lang="he-IL" sz="2000" dirty="0" err="1">
                <a:latin typeface="Consolas" panose="020B0609020204030204" pitchFamily="49" charset="0"/>
              </a:rPr>
              <a:t>בפייתון</a:t>
            </a:r>
            <a:r>
              <a:rPr lang="he-IL" sz="2000" dirty="0">
                <a:latin typeface="Consolas" panose="020B0609020204030204" pitchFamily="49" charset="0"/>
              </a:rPr>
              <a:t> יש מנגנון לטיפול בחריגות.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 err="1">
                <a:latin typeface="Consolas" panose="020B0609020204030204" pitchFamily="49" charset="0"/>
              </a:rPr>
              <a:t>בפייתון</a:t>
            </a:r>
            <a:r>
              <a:rPr lang="he-IL" sz="2000" dirty="0">
                <a:latin typeface="Consolas" panose="020B0609020204030204" pitchFamily="49" charset="0"/>
              </a:rPr>
              <a:t> אנחנו משתמשים ב-</a:t>
            </a:r>
            <a:r>
              <a:rPr lang="en-US" sz="2000" dirty="0">
                <a:latin typeface="Consolas" panose="020B0609020204030204" pitchFamily="49" charset="0"/>
              </a:rPr>
              <a:t>try … except</a:t>
            </a:r>
            <a:r>
              <a:rPr lang="he-IL" sz="2000" dirty="0">
                <a:latin typeface="Consolas" panose="020B0609020204030204" pitchFamily="49" charset="0"/>
              </a:rPr>
              <a:t>.</a:t>
            </a:r>
          </a:p>
          <a:p>
            <a:endParaRPr lang="he-IL" sz="2000" dirty="0">
              <a:latin typeface="Consolas" panose="020B0609020204030204" pitchFamily="49" charset="0"/>
            </a:endParaRP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99BB5489-ED5E-C2DE-D29E-4CE9C4E2F1CB}"/>
              </a:ext>
            </a:extLst>
          </p:cNvPr>
          <p:cNvSpPr/>
          <p:nvPr/>
        </p:nvSpPr>
        <p:spPr>
          <a:xfrm>
            <a:off x="457200" y="2411760"/>
            <a:ext cx="8229600" cy="26265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print_pos_number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(num):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if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num &lt;= 0: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   raise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ValueError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(num)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print(num)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endParaRPr 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try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print_pos_number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input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Enter a positive number: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)))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except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ValueError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This was not a positive number…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</a:p>
        </p:txBody>
      </p:sp>
      <p:sp>
        <p:nvSpPr>
          <p:cNvPr id="10" name="Rectangular Callout 7">
            <a:extLst>
              <a:ext uri="{FF2B5EF4-FFF2-40B4-BE49-F238E27FC236}">
                <a16:creationId xmlns:a16="http://schemas.microsoft.com/office/drawing/2014/main" id="{98B0C255-D936-BAD8-04F9-78FA5FD9EEC4}"/>
              </a:ext>
            </a:extLst>
          </p:cNvPr>
          <p:cNvSpPr/>
          <p:nvPr/>
        </p:nvSpPr>
        <p:spPr>
          <a:xfrm>
            <a:off x="4718882" y="2849501"/>
            <a:ext cx="2888925" cy="1042483"/>
          </a:xfrm>
          <a:prstGeom prst="wedgeRectCallout">
            <a:avLst>
              <a:gd name="adj1" fmla="val -74082"/>
              <a:gd name="adj2" fmla="val 73581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500" dirty="0"/>
              <a:t>הפונקציה </a:t>
            </a:r>
            <a:r>
              <a:rPr lang="en-US" sz="1500" dirty="0"/>
              <a:t>input</a:t>
            </a:r>
            <a:r>
              <a:rPr lang="he-IL" sz="1500" dirty="0"/>
              <a:t> מדפיס את ה</a:t>
            </a:r>
            <a:r>
              <a:rPr lang="en-US" sz="1500" dirty="0"/>
              <a:t>prompt</a:t>
            </a:r>
            <a:r>
              <a:rPr lang="he-IL" sz="1500" dirty="0"/>
              <a:t> המועבר לה כארגומנט, ומחזירה קלט המוכנס על ידי המשתמש לאחר הדפסה הפורמפט</a:t>
            </a:r>
          </a:p>
        </p:txBody>
      </p:sp>
      <p:sp>
        <p:nvSpPr>
          <p:cNvPr id="11" name="Rectangle 19">
            <a:extLst>
              <a:ext uri="{FF2B5EF4-FFF2-40B4-BE49-F238E27FC236}">
                <a16:creationId xmlns:a16="http://schemas.microsoft.com/office/drawing/2014/main" id="{84795A39-8B0A-05CC-4CFE-97136AA41ED9}"/>
              </a:ext>
            </a:extLst>
          </p:cNvPr>
          <p:cNvSpPr/>
          <p:nvPr/>
        </p:nvSpPr>
        <p:spPr>
          <a:xfrm>
            <a:off x="438735" y="5332060"/>
            <a:ext cx="8248065" cy="9338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&gt;python3 print_positive_number.py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Enter a positive number: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-1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This was not a positive number…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EEBA8A2-78BD-9EE7-9EC5-A3698AFC6BC2}"/>
              </a:ext>
            </a:extLst>
          </p:cNvPr>
          <p:cNvSpPr/>
          <p:nvPr/>
        </p:nvSpPr>
        <p:spPr>
          <a:xfrm>
            <a:off x="4910328" y="2284908"/>
            <a:ext cx="2807386" cy="2708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print_positive_number.py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528731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0" grpId="1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170" y="-91202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טיפול בחריגות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14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45936" y="962173"/>
            <a:ext cx="7935834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מותר שיהיו כמה בלוקים של </a:t>
            </a:r>
            <a:r>
              <a:rPr lang="en-US" sz="2000" dirty="0">
                <a:latin typeface="Consolas" panose="020B0609020204030204" pitchFamily="49" charset="0"/>
              </a:rPr>
              <a:t>except</a:t>
            </a:r>
            <a:r>
              <a:rPr lang="he-IL" sz="2000" dirty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ניתן לתפוס כמה חריגות באמצעות אותו </a:t>
            </a:r>
            <a:r>
              <a:rPr lang="en-US" sz="2000" dirty="0">
                <a:latin typeface="Consolas" panose="020B0609020204030204" pitchFamily="49" charset="0"/>
              </a:rPr>
              <a:t>except</a:t>
            </a:r>
            <a:r>
              <a:rPr lang="he-IL" sz="2000" dirty="0">
                <a:latin typeface="Consolas" panose="020B0609020204030204" pitchFamily="49" charset="0"/>
              </a:rPr>
              <a:t>:</a:t>
            </a:r>
          </a:p>
          <a:p>
            <a:endParaRPr lang="he-IL" sz="2000" dirty="0">
              <a:latin typeface="Consolas" panose="020B0609020204030204" pitchFamily="49" charset="0"/>
            </a:endParaRP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99BB5489-ED5E-C2DE-D29E-4CE9C4E2F1CB}"/>
              </a:ext>
            </a:extLst>
          </p:cNvPr>
          <p:cNvSpPr/>
          <p:nvPr/>
        </p:nvSpPr>
        <p:spPr>
          <a:xfrm>
            <a:off x="452170" y="1688205"/>
            <a:ext cx="8229600" cy="34522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print_pos_number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(num):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if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num &lt;= 0: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   raise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ValueError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(num)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print(num)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endParaRPr 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try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print_pos_number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input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Enter a positive number: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)))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except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(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ValueError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TypeError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This was not a positive number…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’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except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KeyboardInterrupt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‘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exiting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…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’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2C55202F-6A7D-B115-A680-807132CC0E08}"/>
              </a:ext>
            </a:extLst>
          </p:cNvPr>
          <p:cNvSpPr/>
          <p:nvPr/>
        </p:nvSpPr>
        <p:spPr>
          <a:xfrm>
            <a:off x="452170" y="5230892"/>
            <a:ext cx="8229600" cy="12325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Enter a positive number: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aaaa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This was not a positive number… </a:t>
            </a:r>
          </a:p>
        </p:txBody>
      </p:sp>
      <p:sp>
        <p:nvSpPr>
          <p:cNvPr id="11" name="Rectangular Callout 7">
            <a:extLst>
              <a:ext uri="{FF2B5EF4-FFF2-40B4-BE49-F238E27FC236}">
                <a16:creationId xmlns:a16="http://schemas.microsoft.com/office/drawing/2014/main" id="{C2339F5C-ECE2-D5FE-F8C4-A2A08861F383}"/>
              </a:ext>
            </a:extLst>
          </p:cNvPr>
          <p:cNvSpPr/>
          <p:nvPr/>
        </p:nvSpPr>
        <p:spPr>
          <a:xfrm>
            <a:off x="4974914" y="4451588"/>
            <a:ext cx="2888925" cy="521242"/>
          </a:xfrm>
          <a:prstGeom prst="wedgeRectCallout">
            <a:avLst>
              <a:gd name="adj1" fmla="val -91807"/>
              <a:gd name="adj2" fmla="val -51850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500" dirty="0"/>
              <a:t>חריגה הנזרקת כאשר המשתמש לוחץ על </a:t>
            </a:r>
            <a:r>
              <a:rPr lang="en-US" sz="1500" dirty="0"/>
              <a:t>ctrl-C</a:t>
            </a:r>
            <a:r>
              <a:rPr lang="he-IL" sz="1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188278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1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טיפול בחריגות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15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268760"/>
            <a:ext cx="7935834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ניתן גם לקבל את ערך החריגה ב-</a:t>
            </a:r>
            <a:r>
              <a:rPr lang="en-US" sz="2000" dirty="0">
                <a:latin typeface="Consolas" panose="020B0609020204030204" pitchFamily="49" charset="0"/>
              </a:rPr>
              <a:t>except</a:t>
            </a:r>
            <a:r>
              <a:rPr lang="he-IL" sz="2000" dirty="0">
                <a:latin typeface="Consolas" panose="020B0609020204030204" pitchFamily="49" charset="0"/>
              </a:rPr>
              <a:t> כדי שנוכל להשתמש בו באמצעות המילה השמורה </a:t>
            </a:r>
            <a:r>
              <a:rPr lang="en-US" sz="2000" b="1" dirty="0">
                <a:latin typeface="Consolas" panose="020B0609020204030204" pitchFamily="49" charset="0"/>
              </a:rPr>
              <a:t>as</a:t>
            </a:r>
            <a:r>
              <a:rPr lang="he-IL" sz="2000" dirty="0">
                <a:latin typeface="Consolas" panose="020B0609020204030204" pitchFamily="49" charset="0"/>
              </a:rPr>
              <a:t>:</a:t>
            </a:r>
          </a:p>
          <a:p>
            <a:endParaRPr lang="he-IL" sz="2000" dirty="0">
              <a:latin typeface="Consolas" panose="020B0609020204030204" pitchFamily="49" charset="0"/>
            </a:endParaRP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99BB5489-ED5E-C2DE-D29E-4CE9C4E2F1CB}"/>
              </a:ext>
            </a:extLst>
          </p:cNvPr>
          <p:cNvSpPr/>
          <p:nvPr/>
        </p:nvSpPr>
        <p:spPr>
          <a:xfrm>
            <a:off x="457200" y="1953886"/>
            <a:ext cx="8229600" cy="27454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print_pos_number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(num):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if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num &lt;</a:t>
            </a:r>
            <a:r>
              <a:rPr lang="he-IL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=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0: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   raise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ValueError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(num)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print(num)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endParaRPr 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try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print_pos_number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input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Enter a positive number: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)))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except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ValueError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as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err: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This was not a positive number… exception: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err)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85D5C973-4329-05AC-0C46-2B2E5A38CE44}"/>
              </a:ext>
            </a:extLst>
          </p:cNvPr>
          <p:cNvSpPr/>
          <p:nvPr/>
        </p:nvSpPr>
        <p:spPr>
          <a:xfrm>
            <a:off x="439228" y="4832433"/>
            <a:ext cx="8229600" cy="1232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Enter a positive number: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-1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This was not a positive number… exception: -1</a:t>
            </a:r>
          </a:p>
        </p:txBody>
      </p:sp>
    </p:spTree>
    <p:extLst>
      <p:ext uri="{BB962C8B-B14F-4D97-AF65-F5344CB8AC3E}">
        <p14:creationId xmlns:p14="http://schemas.microsoft.com/office/powerpoint/2010/main" val="9837928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טיפול בחריגות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16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268760"/>
            <a:ext cx="793583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ניתן להגדיר ל-</a:t>
            </a:r>
            <a:r>
              <a:rPr lang="en-US" sz="2000" dirty="0">
                <a:latin typeface="Consolas" panose="020B0609020204030204" pitchFamily="49" charset="0"/>
              </a:rPr>
              <a:t>try</a:t>
            </a:r>
            <a:r>
              <a:rPr lang="he-IL" sz="2000" dirty="0">
                <a:latin typeface="Consolas" panose="020B0609020204030204" pitchFamily="49" charset="0"/>
              </a:rPr>
              <a:t> בלוק </a:t>
            </a:r>
            <a:r>
              <a:rPr lang="en-US" sz="2000" dirty="0">
                <a:latin typeface="Consolas" panose="020B0609020204030204" pitchFamily="49" charset="0"/>
              </a:rPr>
              <a:t>else</a:t>
            </a:r>
            <a:r>
              <a:rPr lang="he-IL" sz="2000" dirty="0">
                <a:latin typeface="Consolas" panose="020B0609020204030204" pitchFamily="49" charset="0"/>
              </a:rPr>
              <a:t>, שירוץ אם לא נזרקה חריגה.</a:t>
            </a:r>
          </a:p>
          <a:p>
            <a:endParaRPr lang="he-IL" sz="2000" dirty="0">
              <a:latin typeface="Consolas" panose="020B0609020204030204" pitchFamily="49" charset="0"/>
            </a:endParaRP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99BB5489-ED5E-C2DE-D29E-4CE9C4E2F1CB}"/>
              </a:ext>
            </a:extLst>
          </p:cNvPr>
          <p:cNvSpPr/>
          <p:nvPr/>
        </p:nvSpPr>
        <p:spPr>
          <a:xfrm>
            <a:off x="457200" y="1953886"/>
            <a:ext cx="8229600" cy="30795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print_pos_number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(num):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if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num &lt; 0: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   raise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ValueError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(num)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print(num)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endParaRPr 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try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print_pos_number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input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Enter a positive number: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)))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except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ValueError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as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err: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This was not a positive number… exception: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err)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else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That was a positive number, good job!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85D5C973-4329-05AC-0C46-2B2E5A38CE44}"/>
              </a:ext>
            </a:extLst>
          </p:cNvPr>
          <p:cNvSpPr/>
          <p:nvPr/>
        </p:nvSpPr>
        <p:spPr>
          <a:xfrm>
            <a:off x="443502" y="5125018"/>
            <a:ext cx="8229600" cy="1232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Enter a positive number: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5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5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That was a positive number, good job!</a:t>
            </a:r>
          </a:p>
        </p:txBody>
      </p:sp>
    </p:spTree>
    <p:extLst>
      <p:ext uri="{BB962C8B-B14F-4D97-AF65-F5344CB8AC3E}">
        <p14:creationId xmlns:p14="http://schemas.microsoft.com/office/powerpoint/2010/main" val="23940832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טיפול בחריגות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17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268760"/>
            <a:ext cx="7935834" cy="1015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ניתן להגדיר ל-</a:t>
            </a:r>
            <a:r>
              <a:rPr lang="en-US" sz="2000" dirty="0">
                <a:latin typeface="Consolas" panose="020B0609020204030204" pitchFamily="49" charset="0"/>
              </a:rPr>
              <a:t>try</a:t>
            </a:r>
            <a:r>
              <a:rPr lang="he-IL" sz="2000" dirty="0">
                <a:latin typeface="Consolas" panose="020B0609020204030204" pitchFamily="49" charset="0"/>
              </a:rPr>
              <a:t> בלוק </a:t>
            </a:r>
            <a:r>
              <a:rPr lang="en-US" sz="2000" dirty="0">
                <a:latin typeface="Consolas" panose="020B0609020204030204" pitchFamily="49" charset="0"/>
              </a:rPr>
              <a:t>finally</a:t>
            </a:r>
            <a:r>
              <a:rPr lang="he-IL" sz="2000" dirty="0">
                <a:latin typeface="Consolas" panose="020B0609020204030204" pitchFamily="49" charset="0"/>
              </a:rPr>
              <a:t>, שירוץ </a:t>
            </a:r>
            <a:r>
              <a:rPr lang="he-IL" sz="2000" b="1" dirty="0">
                <a:latin typeface="Consolas" panose="020B0609020204030204" pitchFamily="49" charset="0"/>
              </a:rPr>
              <a:t>תמיד</a:t>
            </a:r>
            <a:r>
              <a:rPr lang="he-IL" sz="2000" dirty="0">
                <a:latin typeface="Consolas" panose="020B0609020204030204" pitchFamily="49" charset="0"/>
              </a:rPr>
              <a:t>, בין אם נזרקה חריגה או לא, בין אם נתפסה חריגה או לא.</a:t>
            </a:r>
            <a:endParaRPr lang="he-IL" sz="2000" b="1" dirty="0">
              <a:latin typeface="Consolas" panose="020B0609020204030204" pitchFamily="49" charset="0"/>
            </a:endParaRPr>
          </a:p>
          <a:p>
            <a:endParaRPr lang="he-IL" sz="2000" dirty="0">
              <a:latin typeface="Consolas" panose="020B0609020204030204" pitchFamily="49" charset="0"/>
            </a:endParaRP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99BB5489-ED5E-C2DE-D29E-4CE9C4E2F1CB}"/>
              </a:ext>
            </a:extLst>
          </p:cNvPr>
          <p:cNvSpPr/>
          <p:nvPr/>
        </p:nvSpPr>
        <p:spPr>
          <a:xfrm>
            <a:off x="457200" y="1953886"/>
            <a:ext cx="8229600" cy="30795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print_pos_number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(num):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if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num &lt; 0: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   raise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ValueError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(num)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print(num)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endParaRPr 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try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print_pos_number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input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Enter a positive number: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)))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except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ValueError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as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err: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This was not a positive number… exception: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err)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finally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All in all, a learning experience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85D5C973-4329-05AC-0C46-2B2E5A38CE44}"/>
              </a:ext>
            </a:extLst>
          </p:cNvPr>
          <p:cNvSpPr/>
          <p:nvPr/>
        </p:nvSpPr>
        <p:spPr>
          <a:xfrm>
            <a:off x="443502" y="5125018"/>
            <a:ext cx="8229600" cy="12325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Enter a positive number: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5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5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All in all, a learning experience</a:t>
            </a:r>
          </a:p>
        </p:txBody>
      </p:sp>
    </p:spTree>
    <p:extLst>
      <p:ext uri="{BB962C8B-B14F-4D97-AF65-F5344CB8AC3E}">
        <p14:creationId xmlns:p14="http://schemas.microsoft.com/office/powerpoint/2010/main" val="1486858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Stack unwinding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18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268760"/>
            <a:ext cx="7935834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כמו ב</a:t>
            </a:r>
            <a:r>
              <a:rPr lang="en-US" sz="2000" dirty="0" err="1">
                <a:latin typeface="Consolas" panose="020B0609020204030204" pitchFamily="49" charset="0"/>
              </a:rPr>
              <a:t>c++</a:t>
            </a:r>
            <a:r>
              <a:rPr lang="he-IL" sz="2000" dirty="0">
                <a:latin typeface="Consolas" panose="020B0609020204030204" pitchFamily="49" charset="0"/>
              </a:rPr>
              <a:t> גם בפייתון החריגה מפועפעת כלפי מעלה במחסנית.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אם חריגה לא נתפסת בפונקציה/תסריט ראשי אז התוכנית מסיימת את ריצתה ומודפס ה</a:t>
            </a:r>
            <a:r>
              <a:rPr lang="en-US" sz="2000" dirty="0">
                <a:latin typeface="Consolas" panose="020B0609020204030204" pitchFamily="49" charset="0"/>
              </a:rPr>
              <a:t>Traceback</a:t>
            </a:r>
            <a:r>
              <a:rPr lang="he-IL" sz="2000" dirty="0">
                <a:latin typeface="Consolas" panose="020B0609020204030204" pitchFamily="49" charset="0"/>
              </a:rPr>
              <a:t> של מחסנית הקריאות.</a:t>
            </a: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000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000" b="1" dirty="0">
              <a:latin typeface="Consolas" panose="020B0609020204030204" pitchFamily="49" charset="0"/>
            </a:endParaRPr>
          </a:p>
          <a:p>
            <a:endParaRPr lang="he-IL" sz="2000" dirty="0">
              <a:latin typeface="Consolas" panose="020B0609020204030204" pitchFamily="49" charset="0"/>
            </a:endParaRP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99BB5489-ED5E-C2DE-D29E-4CE9C4E2F1CB}"/>
              </a:ext>
            </a:extLst>
          </p:cNvPr>
          <p:cNvSpPr/>
          <p:nvPr/>
        </p:nvSpPr>
        <p:spPr>
          <a:xfrm>
            <a:off x="388638" y="2281622"/>
            <a:ext cx="8229600" cy="18805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print_pos_number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(num):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if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num &lt; 0: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   raise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ValueError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(num)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print(num)</a:t>
            </a:r>
            <a:endParaRPr 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endParaRPr lang="en-US" b="1" dirty="0">
              <a:solidFill>
                <a:schemeClr val="accent1">
                  <a:lumMod val="75000"/>
                </a:schemeClr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print_pos_number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input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Enter a positive number: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)))</a:t>
            </a: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85D5C973-4329-05AC-0C46-2B2E5A38CE44}"/>
              </a:ext>
            </a:extLst>
          </p:cNvPr>
          <p:cNvSpPr/>
          <p:nvPr/>
        </p:nvSpPr>
        <p:spPr>
          <a:xfrm>
            <a:off x="457200" y="4258928"/>
            <a:ext cx="8229600" cy="200698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Enter a positive number: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-1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Traceback (most recent call last):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File "test.py", line 5, in &lt;module&gt;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print_pos_number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(int(input(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Enter a positive number: 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)))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File "test.py", line 3, in 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print_pos_number</a:t>
            </a:r>
            <a:endParaRPr lang="en-US" b="1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raise 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ValueError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(num)</a:t>
            </a:r>
          </a:p>
          <a:p>
            <a:pPr algn="l" rtl="0"/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ValueError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: -1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FA8257A-4EB3-83E6-8F79-5351ED993F6A}"/>
              </a:ext>
            </a:extLst>
          </p:cNvPr>
          <p:cNvSpPr/>
          <p:nvPr/>
        </p:nvSpPr>
        <p:spPr>
          <a:xfrm>
            <a:off x="6135624" y="2203704"/>
            <a:ext cx="1517904" cy="26511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test.py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051481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9710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en-US" dirty="0"/>
              <a:t>assert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19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420270" y="682206"/>
            <a:ext cx="8303460" cy="44012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כמו שראינו ב</a:t>
            </a:r>
            <a:r>
              <a:rPr lang="en-US" sz="2000" dirty="0">
                <a:latin typeface="Consolas" panose="020B0609020204030204" pitchFamily="49" charset="0"/>
              </a:rPr>
              <a:t>c/</a:t>
            </a:r>
            <a:r>
              <a:rPr lang="en-US" sz="2000" dirty="0" err="1">
                <a:latin typeface="Consolas" panose="020B0609020204030204" pitchFamily="49" charset="0"/>
              </a:rPr>
              <a:t>c++</a:t>
            </a:r>
            <a:r>
              <a:rPr lang="he-IL" sz="2000" dirty="0">
                <a:latin typeface="Consolas" panose="020B0609020204030204" pitchFamily="49" charset="0"/>
              </a:rPr>
              <a:t> גם בפייתון קיים מנגנון של וידוא הנחות בזמן ריצה בעזרת המילה השמורה – </a:t>
            </a:r>
            <a:r>
              <a:rPr lang="en-US" sz="2000" b="1" dirty="0">
                <a:latin typeface="Consolas" panose="020B0609020204030204" pitchFamily="49" charset="0"/>
              </a:rPr>
              <a:t>assert</a:t>
            </a:r>
            <a:r>
              <a:rPr lang="he-IL" sz="2000" dirty="0">
                <a:latin typeface="Consolas" panose="020B0609020204030204" pitchFamily="49" charset="0"/>
              </a:rPr>
              <a:t>.</a:t>
            </a: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כאשר התנאי ב</a:t>
            </a:r>
            <a:r>
              <a:rPr lang="en-US" sz="2000" dirty="0">
                <a:latin typeface="Consolas" panose="020B0609020204030204" pitchFamily="49" charset="0"/>
              </a:rPr>
              <a:t>assert</a:t>
            </a:r>
            <a:r>
              <a:rPr lang="he-IL" sz="2000" dirty="0">
                <a:latin typeface="Consolas" panose="020B0609020204030204" pitchFamily="49" charset="0"/>
              </a:rPr>
              <a:t> לא מתקיים, נזרקת חריגה בשם </a:t>
            </a:r>
            <a:r>
              <a:rPr lang="en-US" sz="2000" b="1" dirty="0" err="1">
                <a:latin typeface="Consolas" panose="020B0609020204030204" pitchFamily="49" charset="0"/>
              </a:rPr>
              <a:t>AssertionError</a:t>
            </a:r>
            <a:r>
              <a:rPr lang="he-IL" b="1" dirty="0"/>
              <a:t>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ניתן גם להוסיף הודעת שגיאה. לדוגמה: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000" b="1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000" b="1" dirty="0">
              <a:latin typeface="Consolas" panose="020B0609020204030204" pitchFamily="49" charset="0"/>
            </a:endParaRPr>
          </a:p>
          <a:p>
            <a:endParaRPr lang="he-IL" sz="2000" dirty="0">
              <a:latin typeface="Consolas" panose="020B0609020204030204" pitchFamily="49" charset="0"/>
            </a:endParaRP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99BB5489-ED5E-C2DE-D29E-4CE9C4E2F1CB}"/>
              </a:ext>
            </a:extLst>
          </p:cNvPr>
          <p:cNvSpPr/>
          <p:nvPr/>
        </p:nvSpPr>
        <p:spPr>
          <a:xfrm>
            <a:off x="457200" y="1754240"/>
            <a:ext cx="8229600" cy="9573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x = "hello"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#if condition returns False,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AssertionError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is raised: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assert x == "goodbye</a:t>
            </a:r>
            <a:r>
              <a:rPr lang="he-IL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"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85D5C973-4329-05AC-0C46-2B2E5A38CE44}"/>
              </a:ext>
            </a:extLst>
          </p:cNvPr>
          <p:cNvSpPr/>
          <p:nvPr/>
        </p:nvSpPr>
        <p:spPr>
          <a:xfrm>
            <a:off x="457200" y="2803248"/>
            <a:ext cx="8229600" cy="9573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Traceback (most recent call last):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File "&lt;string&gt;", line 3, in &lt;module&gt;</a:t>
            </a:r>
          </a:p>
          <a:p>
            <a:pPr algn="l" rtl="0"/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AssertionError</a:t>
            </a:r>
            <a:endParaRPr lang="en-US" b="1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</p:txBody>
      </p:sp>
      <p:sp>
        <p:nvSpPr>
          <p:cNvPr id="13" name="Rectangle 19">
            <a:extLst>
              <a:ext uri="{FF2B5EF4-FFF2-40B4-BE49-F238E27FC236}">
                <a16:creationId xmlns:a16="http://schemas.microsoft.com/office/drawing/2014/main" id="{E59161A5-0735-FF2B-2C62-885B66820BF0}"/>
              </a:ext>
            </a:extLst>
          </p:cNvPr>
          <p:cNvSpPr/>
          <p:nvPr/>
        </p:nvSpPr>
        <p:spPr>
          <a:xfrm>
            <a:off x="457200" y="4200392"/>
            <a:ext cx="8229600" cy="7556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x = "hello"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assert x == "goodbye</a:t>
            </a:r>
            <a:r>
              <a:rPr lang="he-IL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"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"x should be goodbye'"</a:t>
            </a:r>
          </a:p>
        </p:txBody>
      </p:sp>
      <p:sp>
        <p:nvSpPr>
          <p:cNvPr id="14" name="Rectangle 19">
            <a:extLst>
              <a:ext uri="{FF2B5EF4-FFF2-40B4-BE49-F238E27FC236}">
                <a16:creationId xmlns:a16="http://schemas.microsoft.com/office/drawing/2014/main" id="{9DF022BD-F709-29CF-199B-3D3115F27130}"/>
              </a:ext>
            </a:extLst>
          </p:cNvPr>
          <p:cNvSpPr/>
          <p:nvPr/>
        </p:nvSpPr>
        <p:spPr>
          <a:xfrm>
            <a:off x="457200" y="5081409"/>
            <a:ext cx="8229600" cy="95739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Traceback (most recent call last):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File "&lt;string&gt;", line </a:t>
            </a:r>
            <a:r>
              <a:rPr lang="he-IL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in &lt;module&gt;</a:t>
            </a:r>
          </a:p>
          <a:p>
            <a:pPr algn="l" rtl="0"/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AssertionError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: x should be 'goodbye'</a:t>
            </a:r>
          </a:p>
        </p:txBody>
      </p:sp>
    </p:spTree>
    <p:extLst>
      <p:ext uri="{BB962C8B-B14F-4D97-AF65-F5344CB8AC3E}">
        <p14:creationId xmlns:p14="http://schemas.microsoft.com/office/powerpoint/2010/main" val="168793864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3" grpId="0" animBg="1"/>
      <p:bldP spid="1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190996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חריגות - סיכום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20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604083" y="1178322"/>
            <a:ext cx="7935834" cy="47705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כמו ב-</a:t>
            </a:r>
            <a:r>
              <a:rPr lang="en-US" sz="2000" dirty="0">
                <a:latin typeface="Consolas" panose="020B0609020204030204" pitchFamily="49" charset="0"/>
              </a:rPr>
              <a:t>C++</a:t>
            </a:r>
            <a:r>
              <a:rPr lang="he-IL" sz="2000" dirty="0">
                <a:latin typeface="Consolas" panose="020B0609020204030204" pitchFamily="49" charset="0"/>
              </a:rPr>
              <a:t>, </a:t>
            </a:r>
            <a:r>
              <a:rPr lang="he-IL" sz="2000" dirty="0" err="1">
                <a:latin typeface="Consolas" panose="020B0609020204030204" pitchFamily="49" charset="0"/>
              </a:rPr>
              <a:t>בפייתון</a:t>
            </a:r>
            <a:r>
              <a:rPr lang="he-IL" sz="2000" dirty="0">
                <a:latin typeface="Consolas" panose="020B0609020204030204" pitchFamily="49" charset="0"/>
              </a:rPr>
              <a:t> יש מנגנון של חריגות לטיפול בשגיאות.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 err="1">
                <a:latin typeface="Consolas" panose="020B0609020204030204" pitchFamily="49" charset="0"/>
              </a:rPr>
              <a:t>בפייתון</a:t>
            </a:r>
            <a:r>
              <a:rPr lang="he-IL" sz="2000" dirty="0">
                <a:latin typeface="Consolas" panose="020B0609020204030204" pitchFamily="49" charset="0"/>
              </a:rPr>
              <a:t> המנגנון משוכלל במעט על פני </a:t>
            </a:r>
            <a:r>
              <a:rPr lang="en-US" sz="2000" dirty="0">
                <a:latin typeface="Consolas" panose="020B0609020204030204" pitchFamily="49" charset="0"/>
              </a:rPr>
              <a:t>C++</a:t>
            </a:r>
            <a:r>
              <a:rPr lang="he-IL" sz="2000" dirty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בלוק </a:t>
            </a:r>
            <a:r>
              <a:rPr lang="en-US" sz="2000" dirty="0">
                <a:latin typeface="Consolas" panose="020B0609020204030204" pitchFamily="49" charset="0"/>
              </a:rPr>
              <a:t>except</a:t>
            </a:r>
            <a:r>
              <a:rPr lang="he-IL" sz="2000" dirty="0">
                <a:latin typeface="Consolas" panose="020B0609020204030204" pitchFamily="49" charset="0"/>
              </a:rPr>
              <a:t> אחרי </a:t>
            </a:r>
            <a:r>
              <a:rPr lang="en-US" sz="2000" dirty="0">
                <a:latin typeface="Consolas" panose="020B0609020204030204" pitchFamily="49" charset="0"/>
              </a:rPr>
              <a:t>try</a:t>
            </a:r>
            <a:r>
              <a:rPr lang="he-IL" sz="2000" dirty="0">
                <a:latin typeface="Consolas" panose="020B0609020204030204" pitchFamily="49" charset="0"/>
              </a:rPr>
              <a:t> משמש כדי להריץ קוד שירוץ אם נזרקה החריגה המצוינת ב-</a:t>
            </a:r>
            <a:r>
              <a:rPr lang="en-US" sz="2000" dirty="0">
                <a:latin typeface="Consolas" panose="020B0609020204030204" pitchFamily="49" charset="0"/>
              </a:rPr>
              <a:t>except</a:t>
            </a:r>
            <a:r>
              <a:rPr lang="he-IL" sz="2000" dirty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ניתן לתפוס כמה חריגות באותו </a:t>
            </a:r>
            <a:r>
              <a:rPr lang="en-US" sz="2000" dirty="0">
                <a:latin typeface="Consolas" panose="020B0609020204030204" pitchFamily="49" charset="0"/>
              </a:rPr>
              <a:t>except</a:t>
            </a:r>
            <a:r>
              <a:rPr lang="he-IL" sz="2000" dirty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בלוק </a:t>
            </a:r>
            <a:r>
              <a:rPr lang="en-US" sz="2000" dirty="0">
                <a:latin typeface="Consolas" panose="020B0609020204030204" pitchFamily="49" charset="0"/>
              </a:rPr>
              <a:t>else</a:t>
            </a:r>
            <a:r>
              <a:rPr lang="he-IL" sz="2000" dirty="0">
                <a:latin typeface="Consolas" panose="020B0609020204030204" pitchFamily="49" charset="0"/>
              </a:rPr>
              <a:t> משמש כדי להריץ קוד שירוץ אם לא נזרקה חריגה.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בלוק </a:t>
            </a:r>
            <a:r>
              <a:rPr lang="en-US" sz="2000" dirty="0">
                <a:latin typeface="Consolas" panose="020B0609020204030204" pitchFamily="49" charset="0"/>
              </a:rPr>
              <a:t>finally</a:t>
            </a:r>
            <a:r>
              <a:rPr lang="he-IL" sz="2000" dirty="0">
                <a:latin typeface="Consolas" panose="020B0609020204030204" pitchFamily="49" charset="0"/>
              </a:rPr>
              <a:t> משמש כדי להריץ קוד שירוץ בכל מקרה, בין אם נזרקה חריגה ובין אם לא.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בלוק </a:t>
            </a:r>
            <a:r>
              <a:rPr lang="en-US" sz="2000" dirty="0">
                <a:latin typeface="Consolas" panose="020B0609020204030204" pitchFamily="49" charset="0"/>
              </a:rPr>
              <a:t>finally</a:t>
            </a:r>
            <a:r>
              <a:rPr lang="he-IL" sz="2000" dirty="0">
                <a:latin typeface="Consolas" panose="020B0609020204030204" pitchFamily="49" charset="0"/>
              </a:rPr>
              <a:t> משמש, למשל, כדי לסגור קבצים.</a:t>
            </a: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בפייתון מתבצע </a:t>
            </a:r>
            <a:r>
              <a:rPr lang="en-US" sz="2000" dirty="0">
                <a:latin typeface="Consolas" panose="020B0609020204030204" pitchFamily="49" charset="0"/>
              </a:rPr>
              <a:t>stack unwinding</a:t>
            </a:r>
            <a:r>
              <a:rPr lang="he-IL" sz="2000" dirty="0">
                <a:latin typeface="Consolas" panose="020B0609020204030204" pitchFamily="49" charset="0"/>
              </a:rPr>
              <a:t> כמו ב</a:t>
            </a:r>
            <a:r>
              <a:rPr lang="en-US" sz="2000" dirty="0" err="1">
                <a:latin typeface="Consolas" panose="020B0609020204030204" pitchFamily="49" charset="0"/>
              </a:rPr>
              <a:t>c++</a:t>
            </a:r>
            <a:r>
              <a:rPr lang="he-IL" sz="2000" dirty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אפשר להדפיס את מצב המחסנית בעזרת הפונקציה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print_stack</a:t>
            </a:r>
            <a:r>
              <a:rPr lang="he-IL" sz="2000" dirty="0">
                <a:latin typeface="Consolas" panose="020B0609020204030204" pitchFamily="49" charset="0"/>
              </a:rPr>
              <a:t> בספריה </a:t>
            </a:r>
            <a:r>
              <a:rPr lang="en-US" sz="2000" dirty="0">
                <a:latin typeface="Consolas" panose="020B0609020204030204" pitchFamily="49" charset="0"/>
              </a:rPr>
              <a:t>traceback</a:t>
            </a:r>
            <a:r>
              <a:rPr lang="he-IL" sz="2000" dirty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המילה השמורה </a:t>
            </a:r>
            <a:r>
              <a:rPr lang="en-US" sz="2000" dirty="0">
                <a:latin typeface="Consolas" panose="020B0609020204030204" pitchFamily="49" charset="0"/>
              </a:rPr>
              <a:t>assert</a:t>
            </a:r>
            <a:r>
              <a:rPr lang="he-IL" sz="2000" dirty="0">
                <a:latin typeface="Consolas" panose="020B0609020204030204" pitchFamily="49" charset="0"/>
              </a:rPr>
              <a:t> משמשת כדי לוודא הנחות בזמן ריצה.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עקרונות התכנות הנכון עבור חריגות ב-</a:t>
            </a:r>
            <a:r>
              <a:rPr lang="en-US" sz="2000" dirty="0">
                <a:latin typeface="Consolas" panose="020B0609020204030204" pitchFamily="49" charset="0"/>
              </a:rPr>
              <a:t>C++</a:t>
            </a:r>
            <a:r>
              <a:rPr lang="he-IL" sz="2000" dirty="0">
                <a:latin typeface="Consolas" panose="020B0609020204030204" pitchFamily="49" charset="0"/>
              </a:rPr>
              <a:t> תקפים גם </a:t>
            </a:r>
            <a:r>
              <a:rPr lang="he-IL" sz="2000" dirty="0" err="1">
                <a:latin typeface="Consolas" panose="020B0609020204030204" pitchFamily="49" charset="0"/>
              </a:rPr>
              <a:t>בפייתון</a:t>
            </a:r>
            <a:r>
              <a:rPr lang="he-IL" sz="2000" dirty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7044721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57400"/>
            <a:ext cx="7772400" cy="1470025"/>
          </a:xfrm>
        </p:spPr>
        <p:txBody>
          <a:bodyPr/>
          <a:lstStyle/>
          <a:p>
            <a:pPr defTabSz="914400" eaLnBrk="1" latinLnBrk="0" hangingPunct="1">
              <a:spcBef>
                <a:spcPct val="0"/>
              </a:spcBef>
              <a:buNone/>
            </a:pPr>
            <a:r>
              <a:rPr lang="he-IL" dirty="0"/>
              <a:t>מחלקות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21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3888722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הגדרת מחלקה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22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809372"/>
            <a:ext cx="7935834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/>
              <a:t>כמו ב-</a:t>
            </a:r>
            <a:r>
              <a:rPr lang="en-US" sz="2000" dirty="0"/>
              <a:t>C++</a:t>
            </a:r>
            <a:r>
              <a:rPr lang="he-IL" sz="2000" dirty="0"/>
              <a:t>, גם בפייתון קיימות מחלקות ומנגנון של ירושה.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בפייתון מגדירים מחלקה עם המילה השמורה </a:t>
            </a:r>
            <a:r>
              <a:rPr lang="en-US" sz="2000" b="1" dirty="0">
                <a:latin typeface="Consolas" panose="020B0609020204030204" pitchFamily="49" charset="0"/>
              </a:rPr>
              <a:t>class</a:t>
            </a:r>
            <a:r>
              <a:rPr lang="he-IL" sz="2000" dirty="0">
                <a:latin typeface="Consolas" panose="020B0609020204030204" pitchFamily="49" charset="0"/>
              </a:rPr>
              <a:t> עם בלוק.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בדומה ל-</a:t>
            </a:r>
            <a:r>
              <a:rPr lang="en-US" sz="2000" dirty="0">
                <a:latin typeface="Consolas" panose="020B0609020204030204" pitchFamily="49" charset="0"/>
              </a:rPr>
              <a:t>C++</a:t>
            </a:r>
            <a:r>
              <a:rPr lang="he-IL" sz="2000" dirty="0">
                <a:latin typeface="Consolas" panose="020B0609020204030204" pitchFamily="49" charset="0"/>
              </a:rPr>
              <a:t>, </a:t>
            </a:r>
            <a:r>
              <a:rPr lang="he-IL" sz="2000" dirty="0" err="1">
                <a:latin typeface="Consolas" panose="020B0609020204030204" pitchFamily="49" charset="0"/>
              </a:rPr>
              <a:t>בפייתון</a:t>
            </a:r>
            <a:r>
              <a:rPr lang="he-IL" sz="2000" dirty="0">
                <a:latin typeface="Consolas" panose="020B0609020204030204" pitchFamily="49" charset="0"/>
              </a:rPr>
              <a:t> מתודות של המחלקה מוגדרות בתוך המחלקה.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כדי לציין שאלו מתודות של המחלקה, משתמשים ב-"פרמטר" הנוסף </a:t>
            </a:r>
            <a:r>
              <a:rPr lang="en-US" sz="2000" b="1" dirty="0">
                <a:latin typeface="Consolas" panose="020B0609020204030204" pitchFamily="49" charset="0"/>
              </a:rPr>
              <a:t>self</a:t>
            </a:r>
            <a:r>
              <a:rPr lang="he-IL" sz="2000" dirty="0">
                <a:latin typeface="Consolas" panose="020B0609020204030204" pitchFamily="49" charset="0"/>
              </a:rPr>
              <a:t> הממלא תפקיד דומה לזה של </a:t>
            </a:r>
            <a:r>
              <a:rPr lang="en-US" sz="2000" b="1" dirty="0">
                <a:latin typeface="Consolas" panose="020B0609020204030204" pitchFamily="49" charset="0"/>
              </a:rPr>
              <a:t>this</a:t>
            </a:r>
            <a:r>
              <a:rPr lang="he-IL" sz="2000" dirty="0">
                <a:latin typeface="Consolas" panose="020B0609020204030204" pitchFamily="49" charset="0"/>
              </a:rPr>
              <a:t> ב-</a:t>
            </a:r>
            <a:r>
              <a:rPr lang="en-US" sz="2000" dirty="0">
                <a:latin typeface="Consolas" panose="020B0609020204030204" pitchFamily="49" charset="0"/>
              </a:rPr>
              <a:t>C++</a:t>
            </a:r>
            <a:r>
              <a:rPr lang="he-IL" sz="2000" dirty="0">
                <a:latin typeface="Consolas" panose="020B0609020204030204" pitchFamily="49" charset="0"/>
              </a:rPr>
              <a:t>. </a:t>
            </a: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למחלקות בפייתון יש בנאי ברירת מחדל אם לא הוגדר להן בנאי אחר.</a:t>
            </a: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5AC44BCF-56E9-748B-CDE7-F18B46EACB0C}"/>
              </a:ext>
            </a:extLst>
          </p:cNvPr>
          <p:cNvSpPr/>
          <p:nvPr/>
        </p:nvSpPr>
        <p:spPr>
          <a:xfrm>
            <a:off x="457200" y="4502749"/>
            <a:ext cx="8229600" cy="17631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class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Dog: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bark(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self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     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Woof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</a:p>
          <a:p>
            <a:pPr algn="l" rtl="0"/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dog = Dog()</a:t>
            </a:r>
          </a:p>
          <a:p>
            <a:pPr algn="l" rtl="0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dog.bark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() # Woof</a:t>
            </a:r>
          </a:p>
        </p:txBody>
      </p:sp>
    </p:spTree>
    <p:extLst>
      <p:ext uri="{BB962C8B-B14F-4D97-AF65-F5344CB8AC3E}">
        <p14:creationId xmlns:p14="http://schemas.microsoft.com/office/powerpoint/2010/main" val="33742681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שדות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23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351826"/>
            <a:ext cx="7935834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ניתן לגשת לשדות במחלקה באמצעות התחביר </a:t>
            </a:r>
            <a:r>
              <a:rPr lang="en-US" sz="2000" dirty="0">
                <a:latin typeface="Consolas" panose="020B0609020204030204" pitchFamily="49" charset="0"/>
              </a:rPr>
              <a:t>&lt;object&gt;.&lt;field&gt;</a:t>
            </a:r>
            <a:r>
              <a:rPr lang="he-IL" sz="2000" dirty="0">
                <a:latin typeface="Consolas" panose="020B0609020204030204" pitchFamily="49" charset="0"/>
              </a:rPr>
              <a:t> בפייתון, לא צריך להצהיר במפורש על שדות.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לא קיים מנגנון של </a:t>
            </a:r>
            <a:r>
              <a:rPr lang="en-US" sz="2000" dirty="0">
                <a:latin typeface="Consolas" panose="020B0609020204030204" pitchFamily="49" charset="0"/>
              </a:rPr>
              <a:t>access control</a:t>
            </a:r>
            <a:r>
              <a:rPr lang="he-IL" sz="2000" dirty="0">
                <a:latin typeface="Consolas" panose="020B0609020204030204" pitchFamily="49" charset="0"/>
              </a:rPr>
              <a:t> – כל השדות וכל המתודות הם בחזקת </a:t>
            </a:r>
            <a:r>
              <a:rPr lang="en-US" sz="2000" b="1" dirty="0">
                <a:latin typeface="Consolas" panose="020B0609020204030204" pitchFamily="49" charset="0"/>
              </a:rPr>
              <a:t>public</a:t>
            </a:r>
            <a:r>
              <a:rPr lang="he-IL" sz="2000" dirty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b="1" dirty="0">
                <a:latin typeface="Consolas" panose="020B0609020204030204" pitchFamily="49" charset="0"/>
              </a:rPr>
              <a:t>מקובל לאתחל את כל השדות שנשתמש בהם בבנאי</a:t>
            </a:r>
            <a:r>
              <a:rPr lang="he-IL" sz="2000" dirty="0">
                <a:latin typeface="Consolas" panose="020B0609020204030204" pitchFamily="49" charset="0"/>
              </a:rPr>
              <a:t>. </a:t>
            </a:r>
            <a:endParaRPr lang="en-US" sz="20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 err="1">
                <a:latin typeface="Consolas" panose="020B0609020204030204" pitchFamily="49" charset="0"/>
              </a:rPr>
              <a:t>בפייתון</a:t>
            </a:r>
            <a:r>
              <a:rPr lang="he-IL" sz="2000" dirty="0">
                <a:latin typeface="Consolas" panose="020B0609020204030204" pitchFamily="49" charset="0"/>
              </a:rPr>
              <a:t>, בנאי הוא מתודה המוגדרת במחלקה עם השם </a:t>
            </a:r>
            <a:r>
              <a:rPr lang="en-US" sz="2000" dirty="0">
                <a:latin typeface="Consolas" panose="020B0609020204030204" pitchFamily="49" charset="0"/>
              </a:rPr>
              <a:t>__</a:t>
            </a:r>
            <a:r>
              <a:rPr lang="en-US" sz="2000" dirty="0" err="1">
                <a:latin typeface="Consolas" panose="020B0609020204030204" pitchFamily="49" charset="0"/>
              </a:rPr>
              <a:t>init</a:t>
            </a:r>
            <a:r>
              <a:rPr lang="en-US" sz="2000" dirty="0">
                <a:latin typeface="Consolas" panose="020B0609020204030204" pitchFamily="49" charset="0"/>
              </a:rPr>
              <a:t>__</a:t>
            </a:r>
            <a:r>
              <a:rPr lang="he-IL" sz="2000" dirty="0">
                <a:latin typeface="Consolas" panose="020B0609020204030204" pitchFamily="49" charset="0"/>
              </a:rPr>
              <a:t>.</a:t>
            </a: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5AC44BCF-56E9-748B-CDE7-F18B46EACB0C}"/>
              </a:ext>
            </a:extLst>
          </p:cNvPr>
          <p:cNvSpPr/>
          <p:nvPr/>
        </p:nvSpPr>
        <p:spPr>
          <a:xfrm>
            <a:off x="457200" y="3361611"/>
            <a:ext cx="8229600" cy="290430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class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Dog:</a:t>
            </a:r>
            <a:endParaRPr lang="he-IL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__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init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__(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self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name):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	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self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.name = name</a:t>
            </a:r>
            <a:endParaRPr lang="he-IL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bark(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self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     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Woof, says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self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.name)</a:t>
            </a:r>
          </a:p>
          <a:p>
            <a:pPr algn="l" rtl="0"/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dog = Dog(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Rexy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print(dog.name) # Rexy</a:t>
            </a:r>
          </a:p>
          <a:p>
            <a:pPr algn="l" rtl="0"/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dog.bark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() # Woof, says Rexy</a:t>
            </a:r>
          </a:p>
        </p:txBody>
      </p:sp>
    </p:spTree>
    <p:extLst>
      <p:ext uri="{BB962C8B-B14F-4D97-AF65-F5344CB8AC3E}">
        <p14:creationId xmlns:p14="http://schemas.microsoft.com/office/powerpoint/2010/main" val="230184356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הערות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24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663123"/>
            <a:ext cx="7935834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אין צורך במתודות הורס (</a:t>
            </a:r>
            <a:r>
              <a:rPr lang="en-US" sz="2000" dirty="0">
                <a:latin typeface="Consolas" panose="020B0609020204030204" pitchFamily="49" charset="0"/>
              </a:rPr>
              <a:t>destructor</a:t>
            </a:r>
            <a:r>
              <a:rPr lang="he-IL" sz="2000" dirty="0">
                <a:latin typeface="Consolas" panose="020B0609020204030204" pitchFamily="49" charset="0"/>
              </a:rPr>
              <a:t>) לאור שחרור הזיכרון האוטומטי בשפה.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0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000" dirty="0">
                <a:latin typeface="Consolas" panose="020B0609020204030204" pitchFamily="49" charset="0"/>
              </a:rPr>
              <a:t>לא ניתן לגשת לשדות מתוך המחלקה ללא </a:t>
            </a:r>
            <a:r>
              <a:rPr lang="en-US" sz="2000" b="1" dirty="0">
                <a:latin typeface="Consolas" panose="020B0609020204030204" pitchFamily="49" charset="0"/>
              </a:rPr>
              <a:t>self</a:t>
            </a:r>
            <a:r>
              <a:rPr lang="he-IL" sz="2000" dirty="0">
                <a:latin typeface="Consolas" panose="020B0609020204030204" pitchFamily="49" charset="0"/>
              </a:rPr>
              <a:t>. למשל, הקוד הבא אינו חוקי: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000" b="1" dirty="0">
              <a:latin typeface="Consolas" panose="020B0609020204030204" pitchFamily="49" charset="0"/>
            </a:endParaRP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EEDEC09E-F0A1-977E-FE8B-5BFC0D6BF7C7}"/>
              </a:ext>
            </a:extLst>
          </p:cNvPr>
          <p:cNvSpPr/>
          <p:nvPr/>
        </p:nvSpPr>
        <p:spPr>
          <a:xfrm>
            <a:off x="604083" y="3767336"/>
            <a:ext cx="8229600" cy="200326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class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Dog:</a:t>
            </a:r>
            <a:endParaRPr lang="he-IL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__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init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__(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self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name):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	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self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.name = name</a:t>
            </a:r>
            <a:endParaRPr lang="he-IL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bark(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self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     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Woof, says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name) # must use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self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.name</a:t>
            </a:r>
          </a:p>
        </p:txBody>
      </p:sp>
    </p:spTree>
    <p:extLst>
      <p:ext uri="{BB962C8B-B14F-4D97-AF65-F5344CB8AC3E}">
        <p14:creationId xmlns:p14="http://schemas.microsoft.com/office/powerpoint/2010/main" val="13926132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8105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ירושה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מבוא לתכנות מערכות - 234124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25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EEDEC09E-F0A1-977E-FE8B-5BFC0D6BF7C7}"/>
              </a:ext>
            </a:extLst>
          </p:cNvPr>
          <p:cNvSpPr/>
          <p:nvPr/>
        </p:nvSpPr>
        <p:spPr>
          <a:xfrm>
            <a:off x="472440" y="1635933"/>
            <a:ext cx="8229600" cy="3688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class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Dog:</a:t>
            </a:r>
            <a:endParaRPr lang="he-IL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__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init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__(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self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name):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	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self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.name = name</a:t>
            </a:r>
            <a:endParaRPr lang="he-IL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bark(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self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     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Woof, says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’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self.name) # must use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self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.name</a:t>
            </a:r>
          </a:p>
          <a:p>
            <a:pPr algn="l" rtl="0"/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class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Chiwawa(Dog):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def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bark(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self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     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‘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Weef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says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’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self.name) # must use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self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.name</a:t>
            </a:r>
            <a:endParaRPr lang="he-IL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da-DK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dogs = [Dog("Tino"), Chiwawa("T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oy</a:t>
            </a:r>
            <a:r>
              <a:rPr lang="da-DK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")</a:t>
            </a:r>
            <a:r>
              <a:rPr lang="he-IL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[</a:t>
            </a:r>
          </a:p>
          <a:p>
            <a:pPr algn="l" rtl="0"/>
            <a:r>
              <a:rPr lang="da-DK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[dog.bark() for dog in dogs]</a:t>
            </a: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0CCE7F44-0325-8ABE-5302-2732A560CA19}"/>
              </a:ext>
            </a:extLst>
          </p:cNvPr>
          <p:cNvSpPr/>
          <p:nvPr/>
        </p:nvSpPr>
        <p:spPr>
          <a:xfrm>
            <a:off x="487680" y="5515950"/>
            <a:ext cx="8229600" cy="7727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woof, says Tino</a:t>
            </a:r>
          </a:p>
          <a:p>
            <a:pPr algn="l" rtl="0"/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weef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says Toy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5F9655-E387-94C9-5277-6CCCA5C53F41}"/>
              </a:ext>
            </a:extLst>
          </p:cNvPr>
          <p:cNvSpPr txBox="1"/>
          <p:nvPr/>
        </p:nvSpPr>
        <p:spPr>
          <a:xfrm>
            <a:off x="619323" y="1001910"/>
            <a:ext cx="7935834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he-IL" sz="2000" dirty="0">
                <a:latin typeface="Consolas" panose="020B0609020204030204" pitchFamily="49" charset="0"/>
              </a:rPr>
              <a:t>גם בפייתון קיים מנגנון של ירושה ופולימורפיזם: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000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7419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מחלקות - סיכום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26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772816"/>
            <a:ext cx="7935834" cy="341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כמו ב-</a:t>
            </a:r>
            <a:r>
              <a:rPr lang="en-US" sz="2400" dirty="0">
                <a:latin typeface="Consolas" panose="020B0609020204030204" pitchFamily="49" charset="0"/>
              </a:rPr>
              <a:t>C++</a:t>
            </a:r>
            <a:r>
              <a:rPr lang="he-IL" sz="2400" dirty="0">
                <a:latin typeface="Consolas" panose="020B0609020204030204" pitchFamily="49" charset="0"/>
              </a:rPr>
              <a:t>, </a:t>
            </a:r>
            <a:r>
              <a:rPr lang="he-IL" sz="2400" dirty="0" err="1">
                <a:latin typeface="Consolas" panose="020B0609020204030204" pitchFamily="49" charset="0"/>
              </a:rPr>
              <a:t>בפייתון</a:t>
            </a:r>
            <a:r>
              <a:rPr lang="he-IL" sz="2400" dirty="0">
                <a:latin typeface="Consolas" panose="020B0609020204030204" pitchFamily="49" charset="0"/>
              </a:rPr>
              <a:t> יש מחלקות.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כדי לקרוא לבנאי, משתמשים בשם המחלקה כאילו הייתה פונקציה.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לא קיימים הורסים </a:t>
            </a:r>
            <a:r>
              <a:rPr lang="he-IL" sz="2400" dirty="0" err="1">
                <a:latin typeface="Consolas" panose="020B0609020204030204" pitchFamily="49" charset="0"/>
              </a:rPr>
              <a:t>בפייתון</a:t>
            </a:r>
            <a:r>
              <a:rPr lang="he-IL" sz="2400" dirty="0">
                <a:latin typeface="Consolas" panose="020B0609020204030204" pitchFamily="49" charset="0"/>
              </a:rPr>
              <a:t> כי ניהול הזיכרון בשפה אוטומטי.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בנאי הוא מתודה במחלקה בשם </a:t>
            </a:r>
            <a:r>
              <a:rPr lang="en-US" sz="2400" dirty="0">
                <a:latin typeface="Consolas" panose="020B0609020204030204" pitchFamily="49" charset="0"/>
              </a:rPr>
              <a:t>__</a:t>
            </a:r>
            <a:r>
              <a:rPr lang="en-US" sz="2400" dirty="0" err="1">
                <a:latin typeface="Consolas" panose="020B0609020204030204" pitchFamily="49" charset="0"/>
              </a:rPr>
              <a:t>init</a:t>
            </a:r>
            <a:r>
              <a:rPr lang="en-US" sz="2400" dirty="0">
                <a:latin typeface="Consolas" panose="020B0609020204030204" pitchFamily="49" charset="0"/>
              </a:rPr>
              <a:t>__</a:t>
            </a:r>
            <a:r>
              <a:rPr lang="he-IL" sz="2400" dirty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לא צריך להצהיר על שדות במפורש – רק לאתחל אותם בבנאי.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המקבילה </a:t>
            </a:r>
            <a:r>
              <a:rPr lang="he-IL" sz="2400" dirty="0" err="1">
                <a:latin typeface="Consolas" panose="020B0609020204030204" pitchFamily="49" charset="0"/>
              </a:rPr>
              <a:t>בפייתון</a:t>
            </a:r>
            <a:r>
              <a:rPr lang="he-IL" sz="2400" dirty="0">
                <a:latin typeface="Consolas" panose="020B0609020204030204" pitchFamily="49" charset="0"/>
              </a:rPr>
              <a:t> של </a:t>
            </a:r>
            <a:r>
              <a:rPr lang="en-US" sz="2400" dirty="0">
                <a:latin typeface="Consolas" panose="020B0609020204030204" pitchFamily="49" charset="0"/>
              </a:rPr>
              <a:t>this</a:t>
            </a:r>
            <a:r>
              <a:rPr lang="he-IL" sz="2400" dirty="0">
                <a:latin typeface="Consolas" panose="020B0609020204030204" pitchFamily="49" charset="0"/>
              </a:rPr>
              <a:t> היא </a:t>
            </a:r>
            <a:r>
              <a:rPr lang="en-US" sz="2400" dirty="0">
                <a:latin typeface="Consolas" panose="020B0609020204030204" pitchFamily="49" charset="0"/>
              </a:rPr>
              <a:t>self</a:t>
            </a:r>
            <a:r>
              <a:rPr lang="he-IL" sz="2400" dirty="0">
                <a:latin typeface="Consolas" panose="020B0609020204030204" pitchFamily="49" charset="0"/>
              </a:rPr>
              <a:t>. חייבים תמיד להשתמש ב-</a:t>
            </a:r>
            <a:r>
              <a:rPr lang="en-US" sz="2400" dirty="0">
                <a:latin typeface="Consolas" panose="020B0609020204030204" pitchFamily="49" charset="0"/>
              </a:rPr>
              <a:t>self</a:t>
            </a:r>
            <a:r>
              <a:rPr lang="he-IL" sz="2400" dirty="0">
                <a:latin typeface="Consolas" panose="020B0609020204030204" pitchFamily="49" charset="0"/>
              </a:rPr>
              <a:t> כדי להתייחס לשדות במחלקה.</a:t>
            </a:r>
          </a:p>
        </p:txBody>
      </p:sp>
    </p:spTree>
    <p:extLst>
      <p:ext uri="{BB962C8B-B14F-4D97-AF65-F5344CB8AC3E}">
        <p14:creationId xmlns:p14="http://schemas.microsoft.com/office/powerpoint/2010/main" val="2627534563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057400"/>
            <a:ext cx="7772400" cy="1470025"/>
          </a:xfrm>
        </p:spPr>
        <p:txBody>
          <a:bodyPr/>
          <a:lstStyle/>
          <a:p>
            <a:pPr defTabSz="914400" eaLnBrk="1" latinLnBrk="0" hangingPunct="1">
              <a:spcBef>
                <a:spcPct val="0"/>
              </a:spcBef>
              <a:buNone/>
            </a:pPr>
            <a:r>
              <a:rPr lang="he-IL" dirty="0"/>
              <a:t>ספריות נפוצות </a:t>
            </a:r>
            <a:r>
              <a:rPr lang="he-IL" dirty="0" err="1"/>
              <a:t>בפייתון</a:t>
            </a:r>
            <a:endParaRPr lang="he-I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27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966841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dirty="0"/>
              <a:t>ספריות </a:t>
            </a:r>
            <a:r>
              <a:rPr lang="he-IL" dirty="0" err="1"/>
              <a:t>בפייתון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28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772816"/>
            <a:ext cx="7935834" cy="26776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בפייתון ישנן ספריות רבות לכל תחומי העיסוק: למידת מכונה, ניתוח מידע, אלגברה לינארית, עבודה עם מערכת ההפעלה,תקשורת, קבלת ארגומנטים משורת הפקודה (כמו ב-</a:t>
            </a:r>
            <a:r>
              <a:rPr lang="en-US" sz="2400" dirty="0">
                <a:latin typeface="Consolas" panose="020B0609020204030204" pitchFamily="49" charset="0"/>
              </a:rPr>
              <a:t>C</a:t>
            </a:r>
            <a:r>
              <a:rPr lang="he-IL" sz="2400" dirty="0">
                <a:latin typeface="Consolas" panose="020B0609020204030204" pitchFamily="49" charset="0"/>
              </a:rPr>
              <a:t>) ועוד.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ניתן להתקין ספריות חדשות עם מנהל הספריות של פייתון ששמו </a:t>
            </a:r>
            <a:r>
              <a:rPr lang="en-US" sz="2400" b="1" dirty="0">
                <a:latin typeface="Consolas" panose="020B0609020204030204" pitchFamily="49" charset="0"/>
              </a:rPr>
              <a:t>pip</a:t>
            </a:r>
            <a:r>
              <a:rPr lang="he-IL" sz="2400" dirty="0">
                <a:latin typeface="Consolas" panose="020B0609020204030204" pitchFamily="49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כעת נציג מספר ספריות מובנות בסיסיות בשפה.</a:t>
            </a:r>
          </a:p>
        </p:txBody>
      </p:sp>
    </p:spTree>
    <p:extLst>
      <p:ext uri="{BB962C8B-B14F-4D97-AF65-F5344CB8AC3E}">
        <p14:creationId xmlns:p14="http://schemas.microsoft.com/office/powerpoint/2010/main" val="2600906111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he-IL" dirty="0"/>
              <a:t>הספריה </a:t>
            </a:r>
            <a:r>
              <a:rPr lang="en-US" dirty="0"/>
              <a:t>sys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29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772816"/>
            <a:ext cx="7935834" cy="15696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הספריה </a:t>
            </a:r>
            <a:r>
              <a:rPr lang="en-US" sz="2400" dirty="0">
                <a:latin typeface="Consolas" panose="020B0609020204030204" pitchFamily="49" charset="0"/>
              </a:rPr>
              <a:t>sys</a:t>
            </a:r>
            <a:r>
              <a:rPr lang="he-IL" sz="2400" dirty="0">
                <a:latin typeface="Consolas" panose="020B0609020204030204" pitchFamily="49" charset="0"/>
              </a:rPr>
              <a:t> היא מובנית בפייתון ומאפשרת גישה למשתנים ופונקציות שמתחברים לאינטרפרטר. </a:t>
            </a:r>
          </a:p>
          <a:p>
            <a:pPr algn="l" rtl="0"/>
            <a:r>
              <a:rPr lang="en-US" sz="2400" b="1" dirty="0">
                <a:latin typeface="Consolas" panose="020B0609020204030204" pitchFamily="49" charset="0"/>
              </a:rPr>
              <a:t>import </a:t>
            </a:r>
            <a:r>
              <a:rPr lang="en-US" sz="2400" dirty="0">
                <a:latin typeface="Consolas" panose="020B0609020204030204" pitchFamily="49" charset="0"/>
              </a:rPr>
              <a:t>sys</a:t>
            </a:r>
          </a:p>
          <a:p>
            <a:pPr marL="342900" indent="-342900" algn="r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דוגמה לחלק מהפונקציונליות שספריה </a:t>
            </a:r>
            <a:r>
              <a:rPr lang="en-US" sz="2400" dirty="0">
                <a:latin typeface="Consolas" panose="020B0609020204030204" pitchFamily="49" charset="0"/>
              </a:rPr>
              <a:t>sys</a:t>
            </a:r>
            <a:r>
              <a:rPr lang="he-IL" sz="2400" dirty="0">
                <a:latin typeface="Consolas" panose="020B0609020204030204" pitchFamily="49" charset="0"/>
              </a:rPr>
              <a:t> מספקת לנו:</a:t>
            </a: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B20907CC-0B0E-3B1C-9A22-29F330D261FF}"/>
              </a:ext>
            </a:extLst>
          </p:cNvPr>
          <p:cNvSpPr/>
          <p:nvPr/>
        </p:nvSpPr>
        <p:spPr>
          <a:xfrm>
            <a:off x="214884" y="3429000"/>
            <a:ext cx="8714231" cy="19933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</a:rPr>
              <a:t>import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sys</a:t>
            </a:r>
          </a:p>
          <a:p>
            <a:pPr algn="l" rtl="0"/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Error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file =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sys.stderr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 #prints to stderr</a:t>
            </a:r>
          </a:p>
          <a:p>
            <a:pPr algn="l" rtl="0"/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for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arg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in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sys.argv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: #prints the command line argument of a script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print(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arg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 </a:t>
            </a:r>
          </a:p>
          <a:p>
            <a:pPr algn="l" rtl="0"/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98264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he-IL" dirty="0" err="1"/>
              <a:t>הספריה</a:t>
            </a:r>
            <a:r>
              <a:rPr lang="he-IL" dirty="0"/>
              <a:t> </a:t>
            </a:r>
            <a:r>
              <a:rPr lang="en-US" dirty="0" err="1"/>
              <a:t>os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30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772816"/>
            <a:ext cx="7935834" cy="26776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 err="1">
                <a:latin typeface="Consolas" panose="020B0609020204030204" pitchFamily="49" charset="0"/>
              </a:rPr>
              <a:t>הספריה</a:t>
            </a:r>
            <a:r>
              <a:rPr lang="he-IL" sz="2400" dirty="0">
                <a:latin typeface="Consolas" panose="020B0609020204030204" pitchFamily="49" charset="0"/>
              </a:rPr>
              <a:t> </a:t>
            </a:r>
            <a:r>
              <a:rPr lang="en-US" sz="2400" dirty="0" err="1">
                <a:latin typeface="Consolas" panose="020B0609020204030204" pitchFamily="49" charset="0"/>
              </a:rPr>
              <a:t>os</a:t>
            </a:r>
            <a:r>
              <a:rPr lang="he-IL" sz="2400" dirty="0">
                <a:latin typeface="Consolas" panose="020B0609020204030204" pitchFamily="49" charset="0"/>
              </a:rPr>
              <a:t> בפייתון מאפשרת גישה למתודות רבות של מערכת ההפעלה.</a:t>
            </a:r>
            <a:endParaRPr lang="en-US" sz="2400" dirty="0">
              <a:latin typeface="Consolas" panose="020B0609020204030204" pitchFamily="49" charset="0"/>
            </a:endParaRPr>
          </a:p>
          <a:p>
            <a:pPr algn="l" rtl="0"/>
            <a:r>
              <a:rPr lang="en-US" sz="2400" b="1" dirty="0">
                <a:latin typeface="Consolas" panose="020B0609020204030204" pitchFamily="49" charset="0"/>
              </a:rPr>
              <a:t>import </a:t>
            </a:r>
            <a:r>
              <a:rPr lang="en-US" sz="2400" dirty="0" err="1">
                <a:latin typeface="Consolas" panose="020B0609020204030204" pitchFamily="49" charset="0"/>
              </a:rPr>
              <a:t>os</a:t>
            </a:r>
            <a:endParaRPr lang="he-IL" sz="2400" dirty="0">
              <a:latin typeface="Consolas" panose="020B0609020204030204" pitchFamily="49" charset="0"/>
            </a:endParaRPr>
          </a:p>
          <a:p>
            <a:endParaRPr lang="he-IL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היא בלתי תלויה במערכת ההפעלה – היא תעבוד ללא תלות בהאם היא רצה על </a:t>
            </a:r>
            <a:r>
              <a:rPr lang="en-US" sz="2400" dirty="0">
                <a:latin typeface="Consolas" panose="020B0609020204030204" pitchFamily="49" charset="0"/>
              </a:rPr>
              <a:t>Linux</a:t>
            </a:r>
            <a:r>
              <a:rPr lang="he-IL" sz="2400" dirty="0">
                <a:latin typeface="Consolas" panose="020B0609020204030204" pitchFamily="49" charset="0"/>
              </a:rPr>
              <a:t>, </a:t>
            </a:r>
            <a:r>
              <a:rPr lang="en-US" sz="2400" dirty="0">
                <a:latin typeface="Consolas" panose="020B0609020204030204" pitchFamily="49" charset="0"/>
              </a:rPr>
              <a:t>Windows</a:t>
            </a:r>
            <a:r>
              <a:rPr lang="he-IL" sz="2400" dirty="0">
                <a:latin typeface="Consolas" panose="020B0609020204030204" pitchFamily="49" charset="0"/>
              </a:rPr>
              <a:t> או כל מערכת הפעלה אחרת.</a:t>
            </a:r>
          </a:p>
        </p:txBody>
      </p:sp>
    </p:spTree>
    <p:extLst>
      <p:ext uri="{BB962C8B-B14F-4D97-AF65-F5344CB8AC3E}">
        <p14:creationId xmlns:p14="http://schemas.microsoft.com/office/powerpoint/2010/main" val="3885724376"/>
      </p:ext>
    </p:ext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he-IL" dirty="0" err="1"/>
              <a:t>הספריה</a:t>
            </a:r>
            <a:r>
              <a:rPr lang="he-IL" dirty="0"/>
              <a:t> </a:t>
            </a:r>
            <a:r>
              <a:rPr lang="en-US" dirty="0" err="1"/>
              <a:t>os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31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50966" y="1772816"/>
            <a:ext cx="7935834" cy="37856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מספר פקודות חשובות לעבודה עם קבצים בספריה: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os.listdir</a:t>
            </a:r>
            <a:r>
              <a:rPr lang="en-US" sz="2400" dirty="0">
                <a:latin typeface="Consolas" panose="020B0609020204030204" pitchFamily="49" charset="0"/>
              </a:rPr>
              <a:t>(path)</a:t>
            </a:r>
            <a:r>
              <a:rPr lang="he-IL" sz="2400" dirty="0">
                <a:latin typeface="Consolas" panose="020B0609020204030204" pitchFamily="49" charset="0"/>
              </a:rPr>
              <a:t> – מדפיסה את רשימת הקבצים בתיקייה הנתונה.</a:t>
            </a: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/>
              </a:rPr>
              <a:t>os.sep</a:t>
            </a:r>
            <a:r>
              <a:rPr lang="he-IL" sz="2400" dirty="0">
                <a:latin typeface="Consolas"/>
              </a:rPr>
              <a:t> – התו המפריד בין ספריות במערכת ההפעלה הנוכחית.</a:t>
            </a:r>
            <a:endParaRPr lang="he-IL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>
              <a:latin typeface="Consolas" panose="020B0609020204030204" pitchFamily="49" charset="0"/>
            </a:endParaRPr>
          </a:p>
          <a:p>
            <a:endParaRPr lang="he-IL" sz="2400" dirty="0">
              <a:latin typeface="Consolas" panose="020B0609020204030204" pitchFamily="49" charset="0"/>
            </a:endParaRPr>
          </a:p>
          <a:p>
            <a:endParaRPr lang="he-IL" sz="2400" dirty="0">
              <a:latin typeface="Consolas" panose="020B0609020204030204" pitchFamily="49" charset="0"/>
            </a:endParaRP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19DFB705-B769-FCBA-F79B-6B36E3556227}"/>
              </a:ext>
            </a:extLst>
          </p:cNvPr>
          <p:cNvSpPr/>
          <p:nvPr/>
        </p:nvSpPr>
        <p:spPr>
          <a:xfrm>
            <a:off x="787896" y="3767336"/>
            <a:ext cx="7898904" cy="1591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&gt; path =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 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hom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e{}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mtm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{}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top_secret_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dir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'.format(</a:t>
            </a:r>
            <a:r>
              <a:rPr lang="en-US" dirty="0" err="1">
                <a:solidFill>
                  <a:schemeClr val="tx1"/>
                </a:solidFill>
                <a:latin typeface="Consolas"/>
              </a:rPr>
              <a:t>os.sep,os.sep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</a:p>
          <a:p>
            <a:pPr algn="l" rtl="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#  path = 'home/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mtm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/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top_secret_dir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' in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linux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.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&gt;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os.listdir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(path)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[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tutorial13_python3.pptx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matam_exam_final.pdf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secret_nuclear_codes.txt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]</a:t>
            </a:r>
          </a:p>
          <a:p>
            <a:pPr algn="l" rtl="0"/>
            <a:endParaRPr lang="en-US" b="1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94503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635" y="-242906"/>
            <a:ext cx="8229600" cy="1143000"/>
          </a:xfrm>
        </p:spPr>
        <p:txBody>
          <a:bodyPr>
            <a:normAutofit/>
          </a:bodyPr>
          <a:lstStyle/>
          <a:p>
            <a:r>
              <a:rPr lang="he-IL" dirty="0" err="1"/>
              <a:t>הספריה</a:t>
            </a:r>
            <a:r>
              <a:rPr lang="he-IL" dirty="0"/>
              <a:t> </a:t>
            </a:r>
            <a:r>
              <a:rPr lang="en-US" dirty="0" err="1"/>
              <a:t>os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32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14036" y="719832"/>
            <a:ext cx="7935834" cy="710963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os.path.join</a:t>
            </a:r>
            <a:r>
              <a:rPr lang="en-US" sz="2400" dirty="0">
                <a:latin typeface="Consolas" panose="020B0609020204030204" pitchFamily="49" charset="0"/>
              </a:rPr>
              <a:t>(*path)</a:t>
            </a:r>
            <a:r>
              <a:rPr lang="he-IL" sz="2400" dirty="0">
                <a:latin typeface="Consolas" panose="020B0609020204030204" pitchFamily="49" charset="0"/>
              </a:rPr>
              <a:t> – מקבלת אלמנטים של כתובת ומחברת אותם לכדי כתובת אחת בדרך המקובלת במערכת ההפעלה הנוכחית.</a:t>
            </a: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os.path.dirname</a:t>
            </a:r>
            <a:r>
              <a:rPr lang="en-US" sz="2400" dirty="0">
                <a:latin typeface="Consolas" panose="020B0609020204030204" pitchFamily="49" charset="0"/>
              </a:rPr>
              <a:t>(path)</a:t>
            </a:r>
            <a:r>
              <a:rPr lang="he-IL" sz="2400" dirty="0">
                <a:latin typeface="Consolas" panose="020B0609020204030204" pitchFamily="49" charset="0"/>
              </a:rPr>
              <a:t> – מקבלת אלמנט של כתובת ומחזירה את הכתובת של תיקיית האב.</a:t>
            </a: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os.path.basename</a:t>
            </a:r>
            <a:r>
              <a:rPr lang="en-US" sz="2400" dirty="0">
                <a:latin typeface="Consolas" panose="020B0609020204030204" pitchFamily="49" charset="0"/>
              </a:rPr>
              <a:t>(path)</a:t>
            </a:r>
            <a:r>
              <a:rPr lang="he-IL" sz="2400" dirty="0">
                <a:latin typeface="Consolas" panose="020B0609020204030204" pitchFamily="49" charset="0"/>
              </a:rPr>
              <a:t> – מקבלת אלמנט של כתובת ומחזירה את שם הקובץ/תיקייה אליו מובילה הכתובת.</a:t>
            </a: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>
              <a:latin typeface="Consolas" panose="020B0609020204030204" pitchFamily="49" charset="0"/>
            </a:endParaRPr>
          </a:p>
          <a:p>
            <a:endParaRPr lang="he-IL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>
              <a:latin typeface="Consolas" panose="020B0609020204030204" pitchFamily="49" charset="0"/>
            </a:endParaRPr>
          </a:p>
          <a:p>
            <a:endParaRPr lang="he-IL" sz="2400" dirty="0">
              <a:latin typeface="Consolas" panose="020B0609020204030204" pitchFamily="49" charset="0"/>
            </a:endParaRP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143D8729-A943-AB42-F64D-F62291AC749D}"/>
              </a:ext>
            </a:extLst>
          </p:cNvPr>
          <p:cNvSpPr/>
          <p:nvPr/>
        </p:nvSpPr>
        <p:spPr>
          <a:xfrm>
            <a:off x="685671" y="1862832"/>
            <a:ext cx="7898904" cy="7021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&gt; path =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os.path.join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hom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e’, '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mtm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’, '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top_secret_dir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</a:p>
          <a:p>
            <a:pPr algn="l" rtl="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# 'home/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mtm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/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top_secret_dir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' in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linux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.</a:t>
            </a:r>
          </a:p>
          <a:p>
            <a:pPr algn="l" rtl="0"/>
            <a:endParaRPr lang="en-US" b="1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</p:txBody>
      </p:sp>
      <p:sp>
        <p:nvSpPr>
          <p:cNvPr id="11" name="Rectangle 19">
            <a:extLst>
              <a:ext uri="{FF2B5EF4-FFF2-40B4-BE49-F238E27FC236}">
                <a16:creationId xmlns:a16="http://schemas.microsoft.com/office/drawing/2014/main" id="{16D21585-479D-3446-A88C-97D17D529734}"/>
              </a:ext>
            </a:extLst>
          </p:cNvPr>
          <p:cNvSpPr/>
          <p:nvPr/>
        </p:nvSpPr>
        <p:spPr>
          <a:xfrm>
            <a:off x="714036" y="3362202"/>
            <a:ext cx="7898904" cy="7021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&gt;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dir_path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os.path.dirname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path)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#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dir_path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 = 'home/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mtm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'.</a:t>
            </a:r>
          </a:p>
          <a:p>
            <a:pPr algn="l" rtl="0"/>
            <a:endParaRPr lang="en-US" b="1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</p:txBody>
      </p:sp>
      <p:sp>
        <p:nvSpPr>
          <p:cNvPr id="12" name="Rectangle 19">
            <a:extLst>
              <a:ext uri="{FF2B5EF4-FFF2-40B4-BE49-F238E27FC236}">
                <a16:creationId xmlns:a16="http://schemas.microsoft.com/office/drawing/2014/main" id="{89225364-184F-AEC5-0B1C-5034B5992DBF}"/>
              </a:ext>
            </a:extLst>
          </p:cNvPr>
          <p:cNvSpPr/>
          <p:nvPr/>
        </p:nvSpPr>
        <p:spPr>
          <a:xfrm>
            <a:off x="685671" y="4814057"/>
            <a:ext cx="7898904" cy="7021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&gt;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dir_path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os.path.basename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path)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# 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dir_path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 = ‘</a:t>
            </a:r>
            <a:r>
              <a:rPr lang="en-US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top_secret_dir</a:t>
            </a: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itchFamily="49" charset="0"/>
              </a:rPr>
              <a:t>'.</a:t>
            </a:r>
          </a:p>
          <a:p>
            <a:pPr algn="l" rtl="0"/>
            <a:endParaRPr lang="en-US" b="1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3209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635" y="-242906"/>
            <a:ext cx="8229600" cy="1143000"/>
          </a:xfrm>
        </p:spPr>
        <p:txBody>
          <a:bodyPr>
            <a:normAutofit/>
          </a:bodyPr>
          <a:lstStyle/>
          <a:p>
            <a:r>
              <a:rPr lang="he-IL" dirty="0" err="1"/>
              <a:t>הספריה</a:t>
            </a:r>
            <a:r>
              <a:rPr lang="he-IL" dirty="0"/>
              <a:t> </a:t>
            </a:r>
            <a:r>
              <a:rPr lang="en-US" dirty="0" err="1"/>
              <a:t>os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33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548688" y="487025"/>
            <a:ext cx="7935834" cy="60016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os.path.split</a:t>
            </a:r>
            <a:r>
              <a:rPr lang="en-US" sz="2400" dirty="0">
                <a:latin typeface="Consolas" panose="020B0609020204030204" pitchFamily="49" charset="0"/>
              </a:rPr>
              <a:t>(path)</a:t>
            </a:r>
            <a:r>
              <a:rPr lang="he-IL" sz="2400" dirty="0">
                <a:latin typeface="Consolas" panose="020B0609020204030204" pitchFamily="49" charset="0"/>
              </a:rPr>
              <a:t> – מקבלת אלמנט של כתובת ומחזירה </a:t>
            </a:r>
            <a:r>
              <a:rPr lang="en-US" sz="2400" dirty="0">
                <a:latin typeface="Consolas" panose="020B0609020204030204" pitchFamily="49" charset="0"/>
              </a:rPr>
              <a:t>tuple</a:t>
            </a:r>
            <a:r>
              <a:rPr lang="he-IL" sz="2400" dirty="0">
                <a:latin typeface="Consolas" panose="020B0609020204030204" pitchFamily="49" charset="0"/>
              </a:rPr>
              <a:t> עם 2 איברים – תחילת הכתובת וסופה.</a:t>
            </a: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onsolas" panose="020B0609020204030204" pitchFamily="49" charset="0"/>
            </a:endParaRPr>
          </a:p>
          <a:p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os.path.</a:t>
            </a:r>
            <a:r>
              <a:rPr lang="en-US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splitext</a:t>
            </a:r>
            <a:r>
              <a:rPr lang="en-US" sz="2400" dirty="0">
                <a:latin typeface="Consolas" panose="020B0609020204030204" pitchFamily="49" charset="0"/>
              </a:rPr>
              <a:t>(path)</a:t>
            </a:r>
            <a:r>
              <a:rPr lang="he-IL" sz="2400" dirty="0">
                <a:latin typeface="Consolas" panose="020B0609020204030204" pitchFamily="49" charset="0"/>
              </a:rPr>
              <a:t> – מקבלת אלמנט של כתובת ומחזירה </a:t>
            </a:r>
            <a:r>
              <a:rPr lang="en-US" sz="2400" dirty="0">
                <a:latin typeface="Consolas" panose="020B0609020204030204" pitchFamily="49" charset="0"/>
              </a:rPr>
              <a:t>tuple</a:t>
            </a:r>
            <a:r>
              <a:rPr lang="he-IL" sz="2400" dirty="0">
                <a:latin typeface="Consolas" panose="020B0609020204030204" pitchFamily="49" charset="0"/>
              </a:rPr>
              <a:t> –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he-IL" sz="2400" dirty="0">
                <a:latin typeface="Consolas" panose="020B0609020204030204" pitchFamily="49" charset="0"/>
              </a:rPr>
              <a:t>הכתובת בלי הסיומת, והסיומת.</a:t>
            </a: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os.mkdir</a:t>
            </a:r>
            <a:r>
              <a:rPr lang="en-US" sz="2400" dirty="0">
                <a:latin typeface="Consolas" panose="020B0609020204030204" pitchFamily="49" charset="0"/>
              </a:rPr>
              <a:t>(path)</a:t>
            </a:r>
            <a:r>
              <a:rPr lang="he-IL" sz="2400" dirty="0">
                <a:latin typeface="Consolas" panose="020B0609020204030204" pitchFamily="49" charset="0"/>
              </a:rPr>
              <a:t> – יוצרת תיקייה עם הכתובת המתקבלת.</a:t>
            </a: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>
              <a:latin typeface="Consolas" panose="020B0609020204030204" pitchFamily="49" charset="0"/>
            </a:endParaRPr>
          </a:p>
          <a:p>
            <a:endParaRPr lang="he-IL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>
              <a:latin typeface="Consolas" panose="020B0609020204030204" pitchFamily="49" charset="0"/>
            </a:endParaRPr>
          </a:p>
          <a:p>
            <a:endParaRPr lang="he-IL" sz="2400" dirty="0">
              <a:latin typeface="Consolas" panose="020B0609020204030204" pitchFamily="49" charset="0"/>
            </a:endParaRPr>
          </a:p>
        </p:txBody>
      </p:sp>
      <p:sp>
        <p:nvSpPr>
          <p:cNvPr id="8" name="Rectangle 19">
            <a:extLst>
              <a:ext uri="{FF2B5EF4-FFF2-40B4-BE49-F238E27FC236}">
                <a16:creationId xmlns:a16="http://schemas.microsoft.com/office/drawing/2014/main" id="{143D8729-A943-AB42-F64D-F62291AC749D}"/>
              </a:ext>
            </a:extLst>
          </p:cNvPr>
          <p:cNvSpPr/>
          <p:nvPr/>
        </p:nvSpPr>
        <p:spPr>
          <a:xfrm>
            <a:off x="696408" y="1240780"/>
            <a:ext cx="7898904" cy="7021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&gt;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os.path.split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path)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('home/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mtm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', '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top_secret_dir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')</a:t>
            </a:r>
          </a:p>
          <a:p>
            <a:pPr algn="l" rtl="0"/>
            <a:endParaRPr lang="en-US" b="1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</p:txBody>
      </p:sp>
      <p:sp>
        <p:nvSpPr>
          <p:cNvPr id="11" name="Rectangle 19">
            <a:extLst>
              <a:ext uri="{FF2B5EF4-FFF2-40B4-BE49-F238E27FC236}">
                <a16:creationId xmlns:a16="http://schemas.microsoft.com/office/drawing/2014/main" id="{16D21585-479D-3446-A88C-97D17D529734}"/>
              </a:ext>
            </a:extLst>
          </p:cNvPr>
          <p:cNvSpPr/>
          <p:nvPr/>
        </p:nvSpPr>
        <p:spPr>
          <a:xfrm>
            <a:off x="613983" y="2767850"/>
            <a:ext cx="7898904" cy="9994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&gt;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full_path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os.path.join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path,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'secret_nuclear_codes.txt’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)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&gt;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os.path.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splitext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full_path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('home/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mtm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/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top_secret_dir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/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secret_nuclear_codes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', '.txt')</a:t>
            </a:r>
          </a:p>
        </p:txBody>
      </p:sp>
      <p:sp>
        <p:nvSpPr>
          <p:cNvPr id="12" name="Rectangle 19">
            <a:extLst>
              <a:ext uri="{FF2B5EF4-FFF2-40B4-BE49-F238E27FC236}">
                <a16:creationId xmlns:a16="http://schemas.microsoft.com/office/drawing/2014/main" id="{89225364-184F-AEC5-0B1C-5034B5992DBF}"/>
              </a:ext>
            </a:extLst>
          </p:cNvPr>
          <p:cNvSpPr/>
          <p:nvPr/>
        </p:nvSpPr>
        <p:spPr>
          <a:xfrm>
            <a:off x="685671" y="4358005"/>
            <a:ext cx="7898904" cy="20129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&gt;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directory_name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= '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cats_images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’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&gt;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directory_path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os.path.join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path,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directory_name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&gt;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os.makedir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directory_path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&gt;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os.listdir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(path)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[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tutorial13_python3.pptx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matam_exam_final.pdf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secret_nuclear_codes.txt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, 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b="1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cats_images</a:t>
            </a:r>
            <a:r>
              <a:rPr lang="en-US" b="1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]</a:t>
            </a:r>
          </a:p>
          <a:p>
            <a:pPr marL="285750" indent="-285750" algn="l" rtl="0">
              <a:buFont typeface="Wingdings" panose="05000000000000000000" pitchFamily="2" charset="2"/>
              <a:buChar char="Ø"/>
            </a:pPr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endParaRPr lang="en-US" b="1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063129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72523"/>
            <a:ext cx="8229600" cy="1143000"/>
          </a:xfrm>
        </p:spPr>
        <p:txBody>
          <a:bodyPr>
            <a:normAutofit/>
          </a:bodyPr>
          <a:lstStyle/>
          <a:p>
            <a:r>
              <a:rPr lang="he-IL" dirty="0"/>
              <a:t>דוגמת סיכום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מבוא לתכנות מערכות - 234124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34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89A7A72-5D5F-5E47-AA60-B9676FC1B288}"/>
              </a:ext>
            </a:extLst>
          </p:cNvPr>
          <p:cNvSpPr txBox="1"/>
          <p:nvPr/>
        </p:nvSpPr>
        <p:spPr>
          <a:xfrm>
            <a:off x="787896" y="610624"/>
            <a:ext cx="7935834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נכתוב תוכנית המדפיסה את תוכני כל הקבצים בתיקייה המועברת כפרמטר לסקריפט.</a:t>
            </a:r>
          </a:p>
          <a:p>
            <a:endParaRPr lang="he-IL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>
              <a:latin typeface="Consolas" panose="020B0609020204030204" pitchFamily="49" charset="0"/>
            </a:endParaRPr>
          </a:p>
          <a:p>
            <a:endParaRPr lang="he-IL" sz="2400" dirty="0">
              <a:latin typeface="Consolas" panose="020B0609020204030204" pitchFamily="49" charset="0"/>
            </a:endParaRPr>
          </a:p>
        </p:txBody>
      </p:sp>
      <p:sp>
        <p:nvSpPr>
          <p:cNvPr id="10" name="Rectangle 19">
            <a:extLst>
              <a:ext uri="{FF2B5EF4-FFF2-40B4-BE49-F238E27FC236}">
                <a16:creationId xmlns:a16="http://schemas.microsoft.com/office/drawing/2014/main" id="{EA5C2F1E-3CD8-5218-7693-0C2AB5DAC3F1}"/>
              </a:ext>
            </a:extLst>
          </p:cNvPr>
          <p:cNvSpPr/>
          <p:nvPr/>
        </p:nvSpPr>
        <p:spPr>
          <a:xfrm>
            <a:off x="787896" y="1498288"/>
            <a:ext cx="7898904" cy="34943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import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os</a:t>
            </a:r>
            <a:endParaRPr lang="he-IL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import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sys</a:t>
            </a:r>
          </a:p>
          <a:p>
            <a:pPr algn="l" rtl="0"/>
            <a:endParaRPr lang="he-IL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if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len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sys.argv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 != 2: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print(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'usage: script.py &lt;</a:t>
            </a:r>
            <a:r>
              <a:rPr lang="en-US" dirty="0" err="1">
                <a:solidFill>
                  <a:schemeClr val="tx1"/>
                </a:solidFill>
                <a:latin typeface="Consolas"/>
              </a:rPr>
              <a:t>path_to_dir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&gt;')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endParaRPr lang="en-US" b="1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path =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sys.argv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[1]</a:t>
            </a:r>
            <a:endParaRPr lang="en-US" b="1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for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file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in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os.listdir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(path):</a:t>
            </a:r>
            <a:endParaRPr lang="he-IL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he-IL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file_path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=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os.path.join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path,file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if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os.path.isfile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file_path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):</a:t>
            </a:r>
          </a:p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	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with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open(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file_path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, 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'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r</a:t>
            </a:r>
            <a:r>
              <a:rPr lang="en-US" dirty="0">
                <a:solidFill>
                  <a:schemeClr val="tx1"/>
                </a:solidFill>
                <a:latin typeface="Consolas"/>
              </a:rPr>
              <a:t>’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) </a:t>
            </a:r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as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f:</a:t>
            </a:r>
            <a:endParaRPr lang="en-US" b="1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lvl="1"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	     print(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f.read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())</a:t>
            </a:r>
          </a:p>
        </p:txBody>
      </p:sp>
      <p:sp>
        <p:nvSpPr>
          <p:cNvPr id="8" name="Rectangular Callout 7">
            <a:extLst>
              <a:ext uri="{FF2B5EF4-FFF2-40B4-BE49-F238E27FC236}">
                <a16:creationId xmlns:a16="http://schemas.microsoft.com/office/drawing/2014/main" id="{BA621B0A-3DBF-E898-6E65-CA38A10B854C}"/>
              </a:ext>
            </a:extLst>
          </p:cNvPr>
          <p:cNvSpPr/>
          <p:nvPr/>
        </p:nvSpPr>
        <p:spPr>
          <a:xfrm>
            <a:off x="6019800" y="2947899"/>
            <a:ext cx="2888925" cy="1248208"/>
          </a:xfrm>
          <a:prstGeom prst="wedgeRectCallout">
            <a:avLst>
              <a:gd name="adj1" fmla="val -58890"/>
              <a:gd name="adj2" fmla="val 44483"/>
            </a:avLst>
          </a:prstGeom>
          <a:gradFill>
            <a:gsLst>
              <a:gs pos="42995">
                <a:srgbClr val="FFD4B0"/>
              </a:gs>
              <a:gs pos="50990">
                <a:srgbClr val="FFD7B6"/>
              </a:gs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1500" dirty="0"/>
              <a:t>הפונקציה </a:t>
            </a:r>
            <a:r>
              <a:rPr lang="en-US" sz="1500" dirty="0" err="1"/>
              <a:t>os.path.isfile</a:t>
            </a:r>
            <a:r>
              <a:rPr lang="he-IL" sz="1500" dirty="0"/>
              <a:t> מחזירה </a:t>
            </a:r>
            <a:r>
              <a:rPr lang="en-US" sz="1500" dirty="0"/>
              <a:t>True</a:t>
            </a:r>
            <a:r>
              <a:rPr lang="he-IL" sz="1500" dirty="0"/>
              <a:t> אם הכתובת היא של קובץ ו</a:t>
            </a:r>
            <a:r>
              <a:rPr lang="en-US" sz="1500" dirty="0"/>
              <a:t>False</a:t>
            </a:r>
            <a:r>
              <a:rPr lang="he-IL" sz="1500" dirty="0"/>
              <a:t> אם היא תיקייה. קיימת פונקציה נוספת שבודקת את המקרה ההפוך – </a:t>
            </a:r>
            <a:r>
              <a:rPr lang="en-US" sz="1500" dirty="0" err="1"/>
              <a:t>os.path.isdir</a:t>
            </a:r>
            <a:r>
              <a:rPr lang="he-IL" sz="1500" dirty="0"/>
              <a:t>.</a:t>
            </a:r>
          </a:p>
        </p:txBody>
      </p:sp>
      <p:sp>
        <p:nvSpPr>
          <p:cNvPr id="11" name="Rectangle 19">
            <a:extLst>
              <a:ext uri="{FF2B5EF4-FFF2-40B4-BE49-F238E27FC236}">
                <a16:creationId xmlns:a16="http://schemas.microsoft.com/office/drawing/2014/main" id="{F898EF06-5A50-53BA-4A3D-024DEBCB4868}"/>
              </a:ext>
            </a:extLst>
          </p:cNvPr>
          <p:cNvSpPr/>
          <p:nvPr/>
        </p:nvSpPr>
        <p:spPr>
          <a:xfrm>
            <a:off x="787896" y="5137518"/>
            <a:ext cx="7898904" cy="12188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t"/>
          <a:lstStyle/>
          <a:p>
            <a:pPr algn="l" rtl="0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&gt; python3 script.py</a:t>
            </a:r>
            <a:r>
              <a:rPr lang="he-IL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/home/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mtm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/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top_secret_dir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  <a:cs typeface="Consolas" pitchFamily="49" charset="0"/>
            </a:endParaRP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Nuclear codes: </a:t>
            </a:r>
            <a:r>
              <a:rPr lang="en-IL" b="1" dirty="0">
                <a:solidFill>
                  <a:schemeClr val="tx1"/>
                </a:solidFill>
              </a:rPr>
              <a:t>4, 8, 15, 25, 47</a:t>
            </a:r>
            <a:r>
              <a:rPr lang="en-US" b="1" dirty="0">
                <a:solidFill>
                  <a:schemeClr val="tx1"/>
                </a:solidFill>
              </a:rPr>
              <a:t>, 42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Final exam: File too large</a:t>
            </a:r>
          </a:p>
          <a:p>
            <a:pPr algn="l" rtl="0"/>
            <a:r>
              <a:rPr lang="en-US" b="1" dirty="0">
                <a:solidFill>
                  <a:schemeClr val="tx1"/>
                </a:solidFill>
                <a:latin typeface="Consolas" panose="020B0609020204030204" pitchFamily="49" charset="0"/>
                <a:cs typeface="Consolas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45691368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 animBg="1"/>
      <p:bldP spid="8" grpId="1" animBg="1"/>
      <p:bldP spid="1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212336"/>
            <a:ext cx="8229600" cy="1143000"/>
          </a:xfrm>
        </p:spPr>
        <p:txBody>
          <a:bodyPr>
            <a:normAutofit/>
          </a:bodyPr>
          <a:lstStyle/>
          <a:p>
            <a:r>
              <a:rPr lang="he-IL" dirty="0"/>
              <a:t>ספריות מוכרות נוספות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מבוא לתכנות מערכות - 234124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35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CF1BFF-C0A0-9DEF-38E3-72FE7E5E6734}"/>
              </a:ext>
            </a:extLst>
          </p:cNvPr>
          <p:cNvSpPr txBox="1"/>
          <p:nvPr/>
        </p:nvSpPr>
        <p:spPr>
          <a:xfrm>
            <a:off x="750966" y="626640"/>
            <a:ext cx="7935834" cy="67403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argparse</a:t>
            </a:r>
            <a:r>
              <a:rPr lang="he-IL" sz="2400" dirty="0">
                <a:latin typeface="Consolas" panose="020B0609020204030204" pitchFamily="49" charset="0"/>
              </a:rPr>
              <a:t> – ניהול מתקדם של פרמטרים משורת הפקודה, כולל דגלים, פרמטרים אופציונלים ועוד.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shutil</a:t>
            </a:r>
            <a:r>
              <a:rPr lang="he-IL" sz="2400" dirty="0">
                <a:latin typeface="Consolas" panose="020B0609020204030204" pitchFamily="49" charset="0"/>
              </a:rPr>
              <a:t> – ספרייה משלימה ל</a:t>
            </a:r>
            <a:r>
              <a:rPr lang="en-US" sz="2400" dirty="0" err="1">
                <a:latin typeface="Consolas" panose="020B0609020204030204" pitchFamily="49" charset="0"/>
              </a:rPr>
              <a:t>os</a:t>
            </a:r>
            <a:r>
              <a:rPr lang="he-IL" sz="2400" dirty="0">
                <a:latin typeface="Consolas" panose="020B0609020204030204" pitchFamily="49" charset="0"/>
              </a:rPr>
              <a:t> שמספקת פונקציונליות כמו העתקת ומחיקת קבצים וספריות.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math</a:t>
            </a:r>
            <a:r>
              <a:rPr lang="he-IL" sz="2400" dirty="0">
                <a:latin typeface="Consolas" panose="020B0609020204030204" pitchFamily="49" charset="0"/>
              </a:rPr>
              <a:t> –</a:t>
            </a:r>
            <a:r>
              <a:rPr lang="en-US" sz="2400" dirty="0">
                <a:latin typeface="Consolas" panose="020B0609020204030204" pitchFamily="49" charset="0"/>
              </a:rPr>
              <a:t> </a:t>
            </a:r>
            <a:r>
              <a:rPr lang="he-IL" sz="2400" dirty="0">
                <a:latin typeface="Consolas" panose="020B0609020204030204" pitchFamily="49" charset="0"/>
              </a:rPr>
              <a:t>אוסף פונקציות מתמטיות נפוצות.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abc</a:t>
            </a:r>
            <a:r>
              <a:rPr lang="he-IL" sz="2400" dirty="0">
                <a:latin typeface="Consolas" panose="020B0609020204030204" pitchFamily="49" charset="0"/>
              </a:rPr>
              <a:t> – ספרייה להגדרת מחלקות אבסטרקטיות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Itertools</a:t>
            </a:r>
            <a:r>
              <a:rPr lang="he-IL" sz="2400" dirty="0">
                <a:latin typeface="Consolas" panose="020B0609020204030204" pitchFamily="49" charset="0"/>
              </a:rPr>
              <a:t> – מגוון פונקציות לעבודה עם איטרטורים, כמו שרשור איטרטורים, חזרה על איטרציה מספר פעמים.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Random</a:t>
            </a:r>
            <a:r>
              <a:rPr lang="he-IL" sz="2400" dirty="0">
                <a:latin typeface="Consolas" panose="020B0609020204030204" pitchFamily="49" charset="0"/>
              </a:rPr>
              <a:t>- אוסף פונקציות לייצור מספרים אקראיים לפי מגוון התפלגויות.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Time</a:t>
            </a:r>
            <a:r>
              <a:rPr lang="he-IL" sz="2400" dirty="0">
                <a:latin typeface="Consolas" panose="020B0609020204030204" pitchFamily="49" charset="0"/>
              </a:rPr>
              <a:t> – קבלת הזמן הנוכחי, מדידת זמנים, השהיית ריצת התוכנית לזמן קצוב ועוד.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Pickle</a:t>
            </a:r>
            <a:r>
              <a:rPr lang="he-IL" sz="2400" dirty="0">
                <a:latin typeface="Consolas" panose="020B0609020204030204" pitchFamily="49" charset="0"/>
              </a:rPr>
              <a:t> – שמירה וטעינת אובייקטים של פייתון לקבצים.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ועוד ספריות רבות.</a:t>
            </a: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Async</a:t>
            </a:r>
            <a:r>
              <a:rPr lang="he-IL" sz="2400" dirty="0">
                <a:latin typeface="Consolas" panose="020B0609020204030204" pitchFamily="49" charset="0"/>
              </a:rPr>
              <a:t> – לעבודה אסינכרונית.</a:t>
            </a:r>
          </a:p>
          <a:p>
            <a:endParaRPr lang="he-IL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>
              <a:latin typeface="Consolas" panose="020B0609020204030204" pitchFamily="49" charset="0"/>
            </a:endParaRPr>
          </a:p>
          <a:p>
            <a:endParaRPr lang="he-IL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43924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/>
          </a:bodyPr>
          <a:lstStyle/>
          <a:p>
            <a:r>
              <a:rPr lang="he-IL" dirty="0"/>
              <a:t>ספריות חיצוניות נפוצות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מבוא לתכנות מערכות - 234124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36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268760"/>
            <a:ext cx="7898904" cy="4997152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None/>
            </a:pPr>
            <a:endParaRPr lang="he-I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6CF1BFF-C0A0-9DEF-38E3-72FE7E5E6734}"/>
              </a:ext>
            </a:extLst>
          </p:cNvPr>
          <p:cNvSpPr txBox="1"/>
          <p:nvPr/>
        </p:nvSpPr>
        <p:spPr>
          <a:xfrm>
            <a:off x="750966" y="930664"/>
            <a:ext cx="7935834" cy="60016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Numpy</a:t>
            </a:r>
            <a:r>
              <a:rPr lang="he-IL" sz="2400" dirty="0">
                <a:latin typeface="Consolas" panose="020B0609020204030204" pitchFamily="49" charset="0"/>
              </a:rPr>
              <a:t> – ספרייה מתמטית מקיפה לטיפול במטריצות, וקטורים, פונקציות סטטיסטיות וחישובים מתמטים נוספים.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Scipy</a:t>
            </a:r>
            <a:r>
              <a:rPr lang="he-IL" sz="2400" dirty="0">
                <a:latin typeface="Consolas" panose="020B0609020204030204" pitchFamily="49" charset="0"/>
              </a:rPr>
              <a:t> – ספריית המרחיבה את </a:t>
            </a:r>
            <a:r>
              <a:rPr lang="en-US" sz="2400" dirty="0" err="1">
                <a:latin typeface="Consolas" panose="020B0609020204030204" pitchFamily="49" charset="0"/>
              </a:rPr>
              <a:t>numpy</a:t>
            </a:r>
            <a:r>
              <a:rPr lang="he-IL" sz="2400" dirty="0">
                <a:latin typeface="Consolas" panose="020B0609020204030204" pitchFamily="49" charset="0"/>
              </a:rPr>
              <a:t> עם מגוון חישובים נומריים ואלגוריתמים מתמטיים (אינטגרציה, אינטרפולציה, אופטימזציה ועוד.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Matplotlib</a:t>
            </a:r>
            <a:r>
              <a:rPr lang="he-IL" sz="2400" dirty="0">
                <a:latin typeface="Consolas" panose="020B0609020204030204" pitchFamily="49" charset="0"/>
              </a:rPr>
              <a:t> – ספרייה לויזואליזציה אינטרקאקטים של גרפים דו ותחת מימדיים.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latin typeface="Consolas" panose="020B0609020204030204" pitchFamily="49" charset="0"/>
              </a:rPr>
              <a:t>openCV</a:t>
            </a:r>
            <a:r>
              <a:rPr lang="he-IL" sz="2400" dirty="0">
                <a:latin typeface="Consolas" panose="020B0609020204030204" pitchFamily="49" charset="0"/>
              </a:rPr>
              <a:t> – ספרייה לעבודה עם תמונות וסרטים.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Requests</a:t>
            </a:r>
            <a:r>
              <a:rPr lang="he-IL" sz="2400" dirty="0">
                <a:latin typeface="Consolas" panose="020B0609020204030204" pitchFamily="49" charset="0"/>
              </a:rPr>
              <a:t> – ניהול תקשורת עם אתרי ושרותי אינטרנט (</a:t>
            </a:r>
            <a:r>
              <a:rPr lang="en-US" sz="2400" dirty="0">
                <a:latin typeface="Consolas" panose="020B0609020204030204" pitchFamily="49" charset="0"/>
              </a:rPr>
              <a:t>http</a:t>
            </a:r>
            <a:r>
              <a:rPr lang="he-IL" sz="2400" dirty="0">
                <a:latin typeface="Consolas" panose="020B0609020204030204" pitchFamily="49" charset="0"/>
              </a:rPr>
              <a:t>) – יצירת חיבורים, העברת מידע, תקשורת מאובטחת ועוד.</a:t>
            </a:r>
            <a:endParaRPr lang="en-US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Consolas" panose="020B0609020204030204" pitchFamily="49" charset="0"/>
              </a:rPr>
              <a:t>TensorFlow/</a:t>
            </a:r>
            <a:r>
              <a:rPr lang="en-US" sz="2400" dirty="0" err="1">
                <a:latin typeface="Consolas" panose="020B0609020204030204" pitchFamily="49" charset="0"/>
              </a:rPr>
              <a:t>PyTorch</a:t>
            </a:r>
            <a:r>
              <a:rPr lang="he-IL" sz="2400" dirty="0">
                <a:latin typeface="Consolas" panose="020B0609020204030204" pitchFamily="49" charset="0"/>
              </a:rPr>
              <a:t> – ספרייה עבור מודלי למידה.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sz="2400" dirty="0">
                <a:latin typeface="Consolas" panose="020B0609020204030204" pitchFamily="49" charset="0"/>
              </a:rPr>
              <a:t>ועוד הרבה..</a:t>
            </a:r>
          </a:p>
          <a:p>
            <a:endParaRPr lang="he-IL" sz="2400" dirty="0"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e-IL" sz="2400" dirty="0">
              <a:latin typeface="Consolas" panose="020B0609020204030204" pitchFamily="49" charset="0"/>
            </a:endParaRPr>
          </a:p>
          <a:p>
            <a:endParaRPr lang="he-IL" sz="2400" dirty="0">
              <a:latin typeface="Consolas" panose="020B0609020204030204" pitchFamily="49" charset="0"/>
            </a:endParaRPr>
          </a:p>
        </p:txBody>
      </p:sp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2D7E80C2-BB0A-4BDF-984D-7FF849BE34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5138944"/>
            <a:ext cx="1252728" cy="1252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40189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he-IL" dirty="0"/>
              <a:t>ספריות </a:t>
            </a:r>
            <a:r>
              <a:rPr lang="he-IL" dirty="0" err="1"/>
              <a:t>בפייתון</a:t>
            </a:r>
            <a:r>
              <a:rPr lang="he-IL" dirty="0"/>
              <a:t> - סיכום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>
                <a:solidFill>
                  <a:prstClr val="black">
                    <a:tint val="75000"/>
                  </a:prstClr>
                </a:solidFill>
              </a:rPr>
              <a:t>מבוא לתכנות מערכות - </a:t>
            </a:r>
            <a:r>
              <a:rPr lang="he-IL" dirty="0">
                <a:solidFill>
                  <a:prstClr val="black">
                    <a:tint val="75000"/>
                  </a:prstClr>
                </a:solidFill>
              </a:rPr>
              <a:t>234124</a:t>
            </a:r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AA0D0A-8C4B-4719-B609-4D5056352519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37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3F8B90A-E22C-BE44-A009-50043A263F07}"/>
              </a:ext>
            </a:extLst>
          </p:cNvPr>
          <p:cNvSpPr txBox="1">
            <a:spLocks/>
          </p:cNvSpPr>
          <p:nvPr/>
        </p:nvSpPr>
        <p:spPr>
          <a:xfrm>
            <a:off x="457200" y="1417638"/>
            <a:ext cx="7898904" cy="4848274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Clr>
                <a:schemeClr val="tx1"/>
              </a:buClr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14000"/>
              </a:lnSpc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dirty="0" err="1"/>
              <a:t>בפייתון</a:t>
            </a:r>
            <a:r>
              <a:rPr lang="he-IL" dirty="0"/>
              <a:t> יש מגוון רחב של ספריות זמינות למשתמשים.</a:t>
            </a:r>
          </a:p>
          <a:p>
            <a:r>
              <a:rPr lang="he-IL" dirty="0"/>
              <a:t>ניתן להתקין ספריות חדשות באמצעות מנהל החבילות </a:t>
            </a:r>
            <a:r>
              <a:rPr lang="en-US" b="1" dirty="0"/>
              <a:t>pip</a:t>
            </a:r>
            <a:r>
              <a:rPr lang="he-IL" dirty="0"/>
              <a:t> הזמין </a:t>
            </a:r>
            <a:r>
              <a:rPr lang="he-IL" dirty="0" err="1"/>
              <a:t>בפייתון</a:t>
            </a:r>
            <a:r>
              <a:rPr lang="he-IL" dirty="0"/>
              <a:t>.</a:t>
            </a:r>
          </a:p>
          <a:p>
            <a:r>
              <a:rPr lang="he-IL" dirty="0"/>
              <a:t>מומלץ תמיד להשתמש בקוד מחבילה במידת האפשר, במקום לכתוב את הקוד בעצמנו.</a:t>
            </a:r>
          </a:p>
          <a:p>
            <a:r>
              <a:rPr lang="he-IL" dirty="0" err="1"/>
              <a:t>הספריה</a:t>
            </a:r>
            <a:r>
              <a:rPr lang="he-IL" dirty="0"/>
              <a:t> </a:t>
            </a:r>
            <a:r>
              <a:rPr lang="en-US" dirty="0" err="1"/>
              <a:t>os</a:t>
            </a:r>
            <a:r>
              <a:rPr lang="he-IL" dirty="0"/>
              <a:t> מכילה כלים שימושיים לתקשורת עם מערכת ההפעלה. כלים אלו שימושיים במיוחד בעבודה עם קבצים.</a:t>
            </a:r>
          </a:p>
        </p:txBody>
      </p:sp>
    </p:spTree>
    <p:extLst>
      <p:ext uri="{BB962C8B-B14F-4D97-AF65-F5344CB8AC3E}">
        <p14:creationId xmlns:p14="http://schemas.microsoft.com/office/powerpoint/2010/main" val="803634276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Gisha"/>
      </a:majorFont>
      <a:minorFont>
        <a:latin typeface="Calibri"/>
        <a:ea typeface=""/>
        <a:cs typeface="Gish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2911</TotalTime>
  <Words>3779</Words>
  <Application>Microsoft Office PowerPoint</Application>
  <PresentationFormat>On-screen Show (4:3)</PresentationFormat>
  <Paragraphs>661</Paragraphs>
  <Slides>37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Segoe UI</vt:lpstr>
      <vt:lpstr>Calibri</vt:lpstr>
      <vt:lpstr>Wingdings</vt:lpstr>
      <vt:lpstr>Verdana</vt:lpstr>
      <vt:lpstr>Consolas</vt:lpstr>
      <vt:lpstr>Arial</vt:lpstr>
      <vt:lpstr>Courier New</vt:lpstr>
      <vt:lpstr>Gisha</vt:lpstr>
      <vt:lpstr>Office Theme</vt:lpstr>
      <vt:lpstr>תרגול מס’ 12 - המשך </vt:lpstr>
      <vt:lpstr>עבודה עם קבצים</vt:lpstr>
      <vt:lpstr>עבודה עם קבצים</vt:lpstr>
      <vt:lpstr>קריאה</vt:lpstr>
      <vt:lpstr>קריאה</vt:lpstr>
      <vt:lpstr>כתיבה לקובץ</vt:lpstr>
      <vt:lpstr>סגירת קובץ</vt:lpstr>
      <vt:lpstr>סגירה אוטומטית של קובץ</vt:lpstr>
      <vt:lpstr>כתיבה של מילון לקובץ</vt:lpstr>
      <vt:lpstr>חריגות</vt:lpstr>
      <vt:lpstr>חריגות</vt:lpstr>
      <vt:lpstr>חריגות מובנות</vt:lpstr>
      <vt:lpstr>טיפול בחריגות</vt:lpstr>
      <vt:lpstr>טיפול בחריגות</vt:lpstr>
      <vt:lpstr>טיפול בחריגות</vt:lpstr>
      <vt:lpstr>טיפול בחריגות</vt:lpstr>
      <vt:lpstr>טיפול בחריגות</vt:lpstr>
      <vt:lpstr>Stack unwinding</vt:lpstr>
      <vt:lpstr>assert</vt:lpstr>
      <vt:lpstr>חריגות - סיכום</vt:lpstr>
      <vt:lpstr>מחלקות</vt:lpstr>
      <vt:lpstr>הגדרת מחלקה</vt:lpstr>
      <vt:lpstr>שדות</vt:lpstr>
      <vt:lpstr>הערות</vt:lpstr>
      <vt:lpstr>ירושה</vt:lpstr>
      <vt:lpstr>מחלקות - סיכום</vt:lpstr>
      <vt:lpstr>ספריות נפוצות בפייתון</vt:lpstr>
      <vt:lpstr>ספריות בפייתון</vt:lpstr>
      <vt:lpstr>הספריה sys</vt:lpstr>
      <vt:lpstr>הספריה os</vt:lpstr>
      <vt:lpstr>הספריה os</vt:lpstr>
      <vt:lpstr>הספריה os</vt:lpstr>
      <vt:lpstr>הספריה os</vt:lpstr>
      <vt:lpstr>דוגמת סיכום</vt:lpstr>
      <vt:lpstr>ספריות מוכרות נוספות </vt:lpstr>
      <vt:lpstr>ספריות חיצוניות נפוצות</vt:lpstr>
      <vt:lpstr>ספריות בפייתון - סיכום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Tomer Golany</dc:creator>
  <cp:keywords>CTPClassification=CTP_NT</cp:keywords>
  <cp:lastModifiedBy>Adi Harif</cp:lastModifiedBy>
  <cp:revision>202</cp:revision>
  <cp:lastPrinted>2010-11-27T20:42:52Z</cp:lastPrinted>
  <dcterms:created xsi:type="dcterms:W3CDTF">2010-10-03T12:36:09Z</dcterms:created>
  <dcterms:modified xsi:type="dcterms:W3CDTF">2024-03-17T09:48:20Z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8cf038d0-292a-4d5d-acd8-667d3ef86cef</vt:lpwstr>
  </property>
  <property fmtid="{D5CDD505-2E9C-101B-9397-08002B2CF9AE}" pid="3" name="CTP_BU">
    <vt:lpwstr>NA</vt:lpwstr>
  </property>
  <property fmtid="{D5CDD505-2E9C-101B-9397-08002B2CF9AE}" pid="4" name="CTP_IDSID">
    <vt:lpwstr>NA</vt:lpwstr>
  </property>
  <property fmtid="{D5CDD505-2E9C-101B-9397-08002B2CF9AE}" pid="5" name="CTP_WWID">
    <vt:lpwstr>NA</vt:lpwstr>
  </property>
  <property fmtid="{D5CDD505-2E9C-101B-9397-08002B2CF9AE}" pid="6" name="CTPClassification">
    <vt:lpwstr>CTP_NT</vt:lpwstr>
  </property>
  <property fmtid="{D5CDD505-2E9C-101B-9397-08002B2CF9AE}" pid="7" name="CTP_TimeStamp">
    <vt:lpwstr>2020-05-11 19:47:00Z</vt:lpwstr>
  </property>
</Properties>
</file>