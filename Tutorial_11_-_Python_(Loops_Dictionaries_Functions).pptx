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487" r:id="rId3"/>
    <p:sldId id="488" r:id="rId4"/>
    <p:sldId id="495" r:id="rId5"/>
    <p:sldId id="490" r:id="rId6"/>
    <p:sldId id="489" r:id="rId7"/>
    <p:sldId id="493" r:id="rId8"/>
    <p:sldId id="491" r:id="rId9"/>
    <p:sldId id="510" r:id="rId10"/>
    <p:sldId id="512" r:id="rId11"/>
    <p:sldId id="502" r:id="rId12"/>
    <p:sldId id="503" r:id="rId13"/>
    <p:sldId id="504" r:id="rId14"/>
    <p:sldId id="505" r:id="rId15"/>
    <p:sldId id="497" r:id="rId16"/>
    <p:sldId id="508" r:id="rId17"/>
    <p:sldId id="509" r:id="rId18"/>
    <p:sldId id="465" r:id="rId19"/>
    <p:sldId id="466" r:id="rId20"/>
    <p:sldId id="467" r:id="rId21"/>
    <p:sldId id="494" r:id="rId22"/>
    <p:sldId id="525" r:id="rId23"/>
    <p:sldId id="517" r:id="rId24"/>
    <p:sldId id="515" r:id="rId25"/>
    <p:sldId id="523" r:id="rId26"/>
    <p:sldId id="516" r:id="rId27"/>
    <p:sldId id="518" r:id="rId28"/>
    <p:sldId id="537" r:id="rId29"/>
    <p:sldId id="538" r:id="rId30"/>
    <p:sldId id="539" r:id="rId31"/>
    <p:sldId id="540" r:id="rId32"/>
    <p:sldId id="541" r:id="rId33"/>
    <p:sldId id="542" r:id="rId34"/>
    <p:sldId id="543" r:id="rId35"/>
    <p:sldId id="545" r:id="rId36"/>
  </p:sldIdLst>
  <p:sldSz cx="9144000" cy="6858000" type="screen4x3"/>
  <p:notesSz cx="10234613" cy="7102475"/>
  <p:embeddedFontLs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Segoe UI" panose="020B0502040204020203" pitchFamily="34" charset="0"/>
      <p:regular r:id="rId43"/>
      <p:bold r:id="rId44"/>
      <p:italic r:id="rId45"/>
      <p:boldItalic r:id="rId46"/>
    </p:embeddedFont>
    <p:embeddedFont>
      <p:font typeface="Verdana" panose="020B0604030504040204" pitchFamily="34" charset="0"/>
      <p:regular r:id="rId47"/>
      <p:bold r:id="rId48"/>
      <p:italic r:id="rId49"/>
      <p:boldItalic r:id="rId50"/>
    </p:embeddedFont>
  </p:embeddedFont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762FD74-8FE0-3742-9C81-3D0C61D0BFCF}">
          <p14:sldIdLst>
            <p14:sldId id="256"/>
            <p14:sldId id="487"/>
            <p14:sldId id="488"/>
            <p14:sldId id="495"/>
            <p14:sldId id="490"/>
            <p14:sldId id="489"/>
            <p14:sldId id="493"/>
            <p14:sldId id="491"/>
            <p14:sldId id="510"/>
            <p14:sldId id="512"/>
            <p14:sldId id="502"/>
            <p14:sldId id="503"/>
            <p14:sldId id="504"/>
            <p14:sldId id="505"/>
            <p14:sldId id="497"/>
            <p14:sldId id="508"/>
            <p14:sldId id="509"/>
            <p14:sldId id="465"/>
            <p14:sldId id="466"/>
            <p14:sldId id="467"/>
            <p14:sldId id="494"/>
            <p14:sldId id="525"/>
            <p14:sldId id="517"/>
            <p14:sldId id="515"/>
            <p14:sldId id="523"/>
            <p14:sldId id="516"/>
            <p14:sldId id="518"/>
            <p14:sldId id="537"/>
            <p14:sldId id="538"/>
            <p14:sldId id="539"/>
            <p14:sldId id="540"/>
            <p14:sldId id="541"/>
            <p14:sldId id="542"/>
            <p14:sldId id="543"/>
            <p14:sldId id="5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7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 Hirshberg" initials="TH" lastIdx="20" clrIdx="0">
    <p:extLst>
      <p:ext uri="{19B8F6BF-5375-455C-9EA6-DF929625EA0E}">
        <p15:presenceInfo xmlns:p15="http://schemas.microsoft.com/office/powerpoint/2012/main" userId="Tom Hirshberg" providerId="None"/>
      </p:ext>
    </p:extLst>
  </p:cmAuthor>
  <p:cmAuthor id="2" name="Yuri Feldman" initials="YF" lastIdx="9" clrIdx="1">
    <p:extLst>
      <p:ext uri="{19B8F6BF-5375-455C-9EA6-DF929625EA0E}">
        <p15:presenceInfo xmlns:p15="http://schemas.microsoft.com/office/powerpoint/2012/main" userId="S::yurif@campus.technion.ac.il::4a8f689c-6efc-4cd3-8a34-4dc30ef7c661" providerId="AD"/>
      </p:ext>
    </p:extLst>
  </p:cmAuthor>
  <p:cmAuthor id="3" name="Ron Rubinstein" initials="RR" lastIdx="10" clrIdx="2">
    <p:extLst>
      <p:ext uri="{19B8F6BF-5375-455C-9EA6-DF929625EA0E}">
        <p15:presenceInfo xmlns:p15="http://schemas.microsoft.com/office/powerpoint/2012/main" userId="S::ronrub@technion.ac.il::61a556df-34cf-4b74-a5e4-81ece2bc6950" providerId="AD"/>
      </p:ext>
    </p:extLst>
  </p:cmAuthor>
  <p:cmAuthor id="4" name="Ron Rubinstein" initials="RR [2]" lastIdx="21" clrIdx="3">
    <p:extLst>
      <p:ext uri="{19B8F6BF-5375-455C-9EA6-DF929625EA0E}">
        <p15:presenceInfo xmlns:p15="http://schemas.microsoft.com/office/powerpoint/2012/main" userId="Ron Rubinstein" providerId="None"/>
      </p:ext>
    </p:extLst>
  </p:cmAuthor>
  <p:cmAuthor id="5" name="Yuri Feldman" initials="YF [2]" lastIdx="13" clrIdx="4">
    <p:extLst>
      <p:ext uri="{19B8F6BF-5375-455C-9EA6-DF929625EA0E}">
        <p15:presenceInfo xmlns:p15="http://schemas.microsoft.com/office/powerpoint/2012/main" userId="Yuri Feldm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66FF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3" autoAdjust="0"/>
    <p:restoredTop sz="77638" autoAdjust="0"/>
  </p:normalViewPr>
  <p:slideViewPr>
    <p:cSldViewPr snapToGrid="0">
      <p:cViewPr varScale="1">
        <p:scale>
          <a:sx n="123" d="100"/>
          <a:sy n="123" d="100"/>
        </p:scale>
        <p:origin x="291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237"/>
        <p:guide pos="32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ri Feldman" userId="4a8f689c-6efc-4cd3-8a34-4dc30ef7c661" providerId="ADAL" clId="{6A0096FD-7098-4539-9479-38CE5B7DF534}"/>
    <pc:docChg chg="custSel">
      <pc:chgData name="Yuri Feldman" userId="4a8f689c-6efc-4cd3-8a34-4dc30ef7c661" providerId="ADAL" clId="{6A0096FD-7098-4539-9479-38CE5B7DF534}" dt="2020-05-12T11:57:03.380" v="47" actId="1592"/>
      <pc:docMkLst>
        <pc:docMk/>
      </pc:docMkLst>
      <pc:sldChg chg="delCm">
        <pc:chgData name="Yuri Feldman" userId="4a8f689c-6efc-4cd3-8a34-4dc30ef7c661" providerId="ADAL" clId="{6A0096FD-7098-4539-9479-38CE5B7DF534}" dt="2020-05-12T11:57:03.354" v="23" actId="1592"/>
        <pc:sldMkLst>
          <pc:docMk/>
          <pc:sldMk cId="605063424" sldId="466"/>
        </pc:sldMkLst>
      </pc:sldChg>
      <pc:sldChg chg="delCm">
        <pc:chgData name="Yuri Feldman" userId="4a8f689c-6efc-4cd3-8a34-4dc30ef7c661" providerId="ADAL" clId="{6A0096FD-7098-4539-9479-38CE5B7DF534}" dt="2020-05-12T11:57:03.354" v="28" actId="1592"/>
        <pc:sldMkLst>
          <pc:docMk/>
          <pc:sldMk cId="2102049820" sldId="467"/>
        </pc:sldMkLst>
      </pc:sldChg>
      <pc:sldChg chg="delCm">
        <pc:chgData name="Yuri Feldman" userId="4a8f689c-6efc-4cd3-8a34-4dc30ef7c661" providerId="ADAL" clId="{6A0096FD-7098-4539-9479-38CE5B7DF534}" dt="2020-05-12T11:57:03.368" v="38" actId="1592"/>
        <pc:sldMkLst>
          <pc:docMk/>
          <pc:sldMk cId="93146814" sldId="468"/>
        </pc:sldMkLst>
      </pc:sldChg>
      <pc:sldChg chg="delCm">
        <pc:chgData name="Yuri Feldman" userId="4a8f689c-6efc-4cd3-8a34-4dc30ef7c661" providerId="ADAL" clId="{6A0096FD-7098-4539-9479-38CE5B7DF534}" dt="2020-05-12T11:57:03.368" v="40" actId="1592"/>
        <pc:sldMkLst>
          <pc:docMk/>
          <pc:sldMk cId="3488476003" sldId="469"/>
        </pc:sldMkLst>
      </pc:sldChg>
      <pc:sldChg chg="delCm">
        <pc:chgData name="Yuri Feldman" userId="4a8f689c-6efc-4cd3-8a34-4dc30ef7c661" providerId="ADAL" clId="{6A0096FD-7098-4539-9479-38CE5B7DF534}" dt="2020-05-12T11:57:03.380" v="44" actId="1592"/>
        <pc:sldMkLst>
          <pc:docMk/>
          <pc:sldMk cId="3433857902" sldId="471"/>
        </pc:sldMkLst>
      </pc:sldChg>
      <pc:sldChg chg="delCm">
        <pc:chgData name="Yuri Feldman" userId="4a8f689c-6efc-4cd3-8a34-4dc30ef7c661" providerId="ADAL" clId="{6A0096FD-7098-4539-9479-38CE5B7DF534}" dt="2020-05-12T11:57:03.380" v="45" actId="1592"/>
        <pc:sldMkLst>
          <pc:docMk/>
          <pc:sldMk cId="4094571660" sldId="472"/>
        </pc:sldMkLst>
      </pc:sldChg>
      <pc:sldChg chg="delCm">
        <pc:chgData name="Yuri Feldman" userId="4a8f689c-6efc-4cd3-8a34-4dc30ef7c661" providerId="ADAL" clId="{6A0096FD-7098-4539-9479-38CE5B7DF534}" dt="2020-05-12T11:57:03.354" v="15" actId="1592"/>
        <pc:sldMkLst>
          <pc:docMk/>
          <pc:sldMk cId="2506698197" sldId="475"/>
        </pc:sldMkLst>
      </pc:sldChg>
      <pc:sldChg chg="delCm">
        <pc:chgData name="Yuri Feldman" userId="4a8f689c-6efc-4cd3-8a34-4dc30ef7c661" providerId="ADAL" clId="{6A0096FD-7098-4539-9479-38CE5B7DF534}" dt="2020-05-12T11:57:03.354" v="36" actId="1592"/>
        <pc:sldMkLst>
          <pc:docMk/>
          <pc:sldMk cId="1248241486" sldId="481"/>
        </pc:sldMkLst>
      </pc:sldChg>
      <pc:sldChg chg="delCm">
        <pc:chgData name="Yuri Feldman" userId="4a8f689c-6efc-4cd3-8a34-4dc30ef7c661" providerId="ADAL" clId="{6A0096FD-7098-4539-9479-38CE5B7DF534}" dt="2020-05-12T11:57:03.380" v="47" actId="1592"/>
        <pc:sldMkLst>
          <pc:docMk/>
          <pc:sldMk cId="214797581" sldId="483"/>
        </pc:sldMkLst>
      </pc:sldChg>
      <pc:sldChg chg="delCm">
        <pc:chgData name="Yuri Feldman" userId="4a8f689c-6efc-4cd3-8a34-4dc30ef7c661" providerId="ADAL" clId="{6A0096FD-7098-4539-9479-38CE5B7DF534}" dt="2020-05-12T11:57:03.354" v="7" actId="1592"/>
        <pc:sldMkLst>
          <pc:docMk/>
          <pc:sldMk cId="3806992587" sldId="489"/>
        </pc:sldMkLst>
      </pc:sldChg>
      <pc:sldChg chg="delCm">
        <pc:chgData name="Yuri Feldman" userId="4a8f689c-6efc-4cd3-8a34-4dc30ef7c661" providerId="ADAL" clId="{6A0096FD-7098-4539-9479-38CE5B7DF534}" dt="2020-05-12T11:57:03.354" v="6" actId="1592"/>
        <pc:sldMkLst>
          <pc:docMk/>
          <pc:sldMk cId="3314230651" sldId="490"/>
        </pc:sldMkLst>
      </pc:sldChg>
      <pc:sldChg chg="delCm">
        <pc:chgData name="Yuri Feldman" userId="4a8f689c-6efc-4cd3-8a34-4dc30ef7c661" providerId="ADAL" clId="{6A0096FD-7098-4539-9479-38CE5B7DF534}" dt="2020-05-12T11:57:03.354" v="9" actId="1592"/>
        <pc:sldMkLst>
          <pc:docMk/>
          <pc:sldMk cId="3508990445" sldId="491"/>
        </pc:sldMkLst>
      </pc:sldChg>
      <pc:sldChg chg="delCm">
        <pc:chgData name="Yuri Feldman" userId="4a8f689c-6efc-4cd3-8a34-4dc30ef7c661" providerId="ADAL" clId="{6A0096FD-7098-4539-9479-38CE5B7DF534}" dt="2020-05-12T11:57:03.354" v="32" actId="1592"/>
        <pc:sldMkLst>
          <pc:docMk/>
          <pc:sldMk cId="1751351805" sldId="494"/>
        </pc:sldMkLst>
      </pc:sldChg>
      <pc:sldChg chg="delCm">
        <pc:chgData name="Yuri Feldman" userId="4a8f689c-6efc-4cd3-8a34-4dc30ef7c661" providerId="ADAL" clId="{6A0096FD-7098-4539-9479-38CE5B7DF534}" dt="2020-05-12T11:57:03.354" v="4" actId="1592"/>
        <pc:sldMkLst>
          <pc:docMk/>
          <pc:sldMk cId="1243508924" sldId="495"/>
        </pc:sldMkLst>
      </pc:sldChg>
      <pc:sldChg chg="delCm">
        <pc:chgData name="Yuri Feldman" userId="4a8f689c-6efc-4cd3-8a34-4dc30ef7c661" providerId="ADAL" clId="{6A0096FD-7098-4539-9479-38CE5B7DF534}" dt="2020-05-12T11:57:03.354" v="12" actId="1592"/>
        <pc:sldMkLst>
          <pc:docMk/>
          <pc:sldMk cId="1071092785" sldId="498"/>
        </pc:sldMkLst>
      </pc:sldChg>
      <pc:sldChg chg="delCm">
        <pc:chgData name="Yuri Feldman" userId="4a8f689c-6efc-4cd3-8a34-4dc30ef7c661" providerId="ADAL" clId="{6A0096FD-7098-4539-9479-38CE5B7DF534}" dt="2020-05-12T11:57:03.368" v="41" actId="1592"/>
        <pc:sldMkLst>
          <pc:docMk/>
          <pc:sldMk cId="1804501566" sldId="501"/>
        </pc:sldMkLst>
      </pc:sldChg>
      <pc:sldChg chg="delCm">
        <pc:chgData name="Yuri Feldman" userId="4a8f689c-6efc-4cd3-8a34-4dc30ef7c661" providerId="ADAL" clId="{6A0096FD-7098-4539-9479-38CE5B7DF534}" dt="2020-05-12T11:57:03.354" v="16" actId="1592"/>
        <pc:sldMkLst>
          <pc:docMk/>
          <pc:sldMk cId="3540170483" sldId="502"/>
        </pc:sldMkLst>
      </pc:sldChg>
      <pc:sldChg chg="delCm">
        <pc:chgData name="Yuri Feldman" userId="4a8f689c-6efc-4cd3-8a34-4dc30ef7c661" providerId="ADAL" clId="{6A0096FD-7098-4539-9479-38CE5B7DF534}" dt="2020-05-12T11:57:03.354" v="17" actId="1592"/>
        <pc:sldMkLst>
          <pc:docMk/>
          <pc:sldMk cId="3399742482" sldId="503"/>
        </pc:sldMkLst>
      </pc:sldChg>
      <pc:sldChg chg="delCm">
        <pc:chgData name="Yuri Feldman" userId="4a8f689c-6efc-4cd3-8a34-4dc30ef7c661" providerId="ADAL" clId="{6A0096FD-7098-4539-9479-38CE5B7DF534}" dt="2020-05-12T11:57:03.354" v="18" actId="1592"/>
        <pc:sldMkLst>
          <pc:docMk/>
          <pc:sldMk cId="353855798" sldId="504"/>
        </pc:sldMkLst>
      </pc:sldChg>
      <pc:sldChg chg="delCm">
        <pc:chgData name="Yuri Feldman" userId="4a8f689c-6efc-4cd3-8a34-4dc30ef7c661" providerId="ADAL" clId="{6A0096FD-7098-4539-9479-38CE5B7DF534}" dt="2020-05-12T11:57:03.354" v="34" actId="1592"/>
        <pc:sldMkLst>
          <pc:docMk/>
          <pc:sldMk cId="3744167592" sldId="506"/>
        </pc:sldMkLst>
      </pc:sldChg>
      <pc:sldChg chg="delCm">
        <pc:chgData name="Yuri Feldman" userId="4a8f689c-6efc-4cd3-8a34-4dc30ef7c661" providerId="ADAL" clId="{6A0096FD-7098-4539-9479-38CE5B7DF534}" dt="2020-05-12T11:57:03.354" v="37" actId="1592"/>
        <pc:sldMkLst>
          <pc:docMk/>
          <pc:sldMk cId="1313173944" sldId="507"/>
        </pc:sldMkLst>
      </pc:sldChg>
      <pc:sldChg chg="delCm">
        <pc:chgData name="Yuri Feldman" userId="4a8f689c-6efc-4cd3-8a34-4dc30ef7c661" providerId="ADAL" clId="{6A0096FD-7098-4539-9479-38CE5B7DF534}" dt="2020-05-12T11:57:03.354" v="20" actId="1592"/>
        <pc:sldMkLst>
          <pc:docMk/>
          <pc:sldMk cId="2917980468" sldId="508"/>
        </pc:sldMkLst>
      </pc:sldChg>
      <pc:sldChg chg="delCm">
        <pc:chgData name="Yuri Feldman" userId="4a8f689c-6efc-4cd3-8a34-4dc30ef7c661" providerId="ADAL" clId="{6A0096FD-7098-4539-9479-38CE5B7DF534}" dt="2020-05-12T11:57:03.354" v="22" actId="1592"/>
        <pc:sldMkLst>
          <pc:docMk/>
          <pc:sldMk cId="632732863" sldId="509"/>
        </pc:sldMkLst>
      </pc:sldChg>
      <pc:sldChg chg="delCm">
        <pc:chgData name="Yuri Feldman" userId="4a8f689c-6efc-4cd3-8a34-4dc30ef7c661" providerId="ADAL" clId="{6A0096FD-7098-4539-9479-38CE5B7DF534}" dt="2020-05-12T11:57:03.354" v="11" actId="1592"/>
        <pc:sldMkLst>
          <pc:docMk/>
          <pc:sldMk cId="4251497945" sldId="512"/>
        </pc:sldMkLst>
      </pc:sldChg>
      <pc:sldChg chg="delCm">
        <pc:chgData name="Yuri Feldman" userId="4a8f689c-6efc-4cd3-8a34-4dc30ef7c661" providerId="ADAL" clId="{6A0096FD-7098-4539-9479-38CE5B7DF534}" dt="2020-05-12T11:57:03.354" v="2" actId="1592"/>
        <pc:sldMkLst>
          <pc:docMk/>
          <pc:sldMk cId="1780861934" sldId="516"/>
        </pc:sldMkLst>
      </pc:sldChg>
      <pc:sldChg chg="delCm">
        <pc:chgData name="Yuri Feldman" userId="4a8f689c-6efc-4cd3-8a34-4dc30ef7c661" providerId="ADAL" clId="{6A0096FD-7098-4539-9479-38CE5B7DF534}" dt="2020-05-12T11:57:03.354" v="21" actId="1592"/>
        <pc:sldMkLst>
          <pc:docMk/>
          <pc:sldMk cId="1358338097" sldId="52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799615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371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/>
          <a:lstStyle>
            <a:lvl1pPr algn="l">
              <a:defRPr sz="1300"/>
            </a:lvl1pPr>
          </a:lstStyle>
          <a:p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5799615" y="6746119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 anchor="b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371" y="6746119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 anchor="b"/>
          <a:lstStyle>
            <a:lvl1pPr algn="l">
              <a:defRPr sz="1300"/>
            </a:lvl1pPr>
          </a:lstStyle>
          <a:p>
            <a:fld id="{DB36883F-9FD6-4187-8968-4D1A4F852C7E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58619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799615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371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/>
          <a:lstStyle>
            <a:lvl1pPr algn="l">
              <a:defRPr sz="1300"/>
            </a:lvl1pPr>
          </a:lstStyle>
          <a:p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33400"/>
            <a:ext cx="3551237" cy="26622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1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373675"/>
            <a:ext cx="8187690" cy="3196114"/>
          </a:xfrm>
          <a:prstGeom prst="rect">
            <a:avLst/>
          </a:prstGeom>
        </p:spPr>
        <p:txBody>
          <a:bodyPr vert="horz" lIns="99066" tIns="49533" rIns="99066" bIns="49533" rtl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5799615" y="6746119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 anchor="b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371" y="6746119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 anchor="b"/>
          <a:lstStyle>
            <a:lvl1pPr algn="l">
              <a:defRPr sz="1300"/>
            </a:lvl1pPr>
          </a:lstStyle>
          <a:p>
            <a:fld id="{6D7C8C35-7446-437D-A33D-E767527B8E45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472780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/>
              <a:pPr/>
              <a:t>1</a:t>
            </a:fld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00938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038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en-US" err="1"/>
              <a:t>Iterable</a:t>
            </a:r>
            <a:r>
              <a:rPr lang="he-IL"/>
              <a:t> מלשון איטרציה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8912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r>
              <a:rPr lang="en-US"/>
              <a:t>range() returns an </a:t>
            </a:r>
            <a:r>
              <a:rPr lang="en-US" b="0" err="1"/>
              <a:t>iterable</a:t>
            </a:r>
            <a:r>
              <a:rPr lang="en-US" b="0"/>
              <a:t> object, </a:t>
            </a:r>
            <a:r>
              <a:rPr lang="en-US" b="1"/>
              <a:t>not</a:t>
            </a:r>
            <a:r>
              <a:rPr lang="en-US" b="0"/>
              <a:t> a list. The range() result can be converted into a list using list(range(&lt;range </a:t>
            </a:r>
            <a:r>
              <a:rPr lang="en-US" b="0" err="1"/>
              <a:t>args</a:t>
            </a:r>
            <a:r>
              <a:rPr lang="en-US" b="0"/>
              <a:t>&gt;))</a:t>
            </a:r>
            <a:endParaRPr lang="he-IL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4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650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5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934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6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74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כדי לספור את המופעים של </a:t>
            </a:r>
            <a:r>
              <a:rPr lang="en-US" dirty="0"/>
              <a:t>letter</a:t>
            </a:r>
            <a:r>
              <a:rPr lang="he-IL" dirty="0"/>
              <a:t> במחרוזת ניתן גם להשתמש בפונקציה המובנית </a:t>
            </a:r>
            <a:r>
              <a:rPr lang="en-US" dirty="0"/>
              <a:t>count</a:t>
            </a:r>
            <a:r>
              <a:rPr lang="he-IL" dirty="0"/>
              <a:t> עבור מחרוזות ולרשום (כפי שמופיע בעיגול הכחול):</a:t>
            </a:r>
          </a:p>
          <a:p>
            <a:pPr marL="0" algn="r" defTabSz="914400" rtl="1" eaLnBrk="1" latinLnBrk="0" hangingPunct="1"/>
            <a:r>
              <a:rPr lang="en-US" dirty="0" err="1"/>
              <a:t>seq.count</a:t>
            </a:r>
            <a:r>
              <a:rPr lang="en-US" dirty="0"/>
              <a:t>(‘s’)</a:t>
            </a:r>
          </a:p>
          <a:p>
            <a:pPr marL="0" algn="r" defTabSz="914400" rtl="1" eaLnBrk="1" latinLnBrk="0" hangingPunct="1"/>
            <a:endParaRPr lang="en-US" dirty="0"/>
          </a:p>
          <a:p>
            <a:pPr marL="0" algn="r" defTabSz="914400" rtl="1" eaLnBrk="1" latinLnBrk="0" hangingPunct="1"/>
            <a:r>
              <a:rPr lang="he-IL" dirty="0"/>
              <a:t>שימו לב ש== זו השוואת מחרוזות.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8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720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9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576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10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093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12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125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13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3237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14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815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15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3123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16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9689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17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9220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18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790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19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530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20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7976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21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3204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22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9365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23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6329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en-US" err="1"/>
              <a:t>Iterable</a:t>
            </a:r>
            <a:r>
              <a:rPr lang="he-IL"/>
              <a:t> מלשון איטרציה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24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726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25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9936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en-US" err="1"/>
              <a:t>Iterable</a:t>
            </a:r>
            <a:r>
              <a:rPr lang="he-IL"/>
              <a:t> מלשון איטרציה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26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1609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28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6274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29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9670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30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6473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31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1892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32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1351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33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681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34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1766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35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675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5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>
              <a:bevelT w="38100" h="38100"/>
              <a:contourClr>
                <a:schemeClr val="accent1">
                  <a:shade val="75000"/>
                </a:schemeClr>
              </a:contourClr>
            </a:sp3d>
          </a:bodyPr>
          <a:lstStyle>
            <a:lvl1pPr>
              <a:defRPr kumimoji="0" lang="en-US" sz="6600" b="1" i="0" u="none" strike="noStrike" kern="1200" cap="none" spc="0" normalizeH="0" baseline="0" dirty="0" smtClean="0">
                <a:ln>
                  <a:prstDash val="solid"/>
                </a:ln>
                <a:gradFill flip="none" rotWithShape="1">
                  <a:gsLst>
                    <a:gs pos="0">
                      <a:srgbClr val="FFC000">
                        <a:shade val="30000"/>
                        <a:satMod val="115000"/>
                      </a:srgbClr>
                    </a:gs>
                    <a:gs pos="50000">
                      <a:srgbClr val="FFC000">
                        <a:shade val="67500"/>
                        <a:satMod val="115000"/>
                      </a:srgbClr>
                    </a:gs>
                    <a:gs pos="100000">
                      <a:srgbClr val="FFC00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190500" dir="5040000" algn="tl">
                    <a:srgbClr val="FFC000">
                      <a:alpha val="45000"/>
                    </a:srgbClr>
                  </a:outerShdw>
                </a:effectLst>
                <a:uLnTx/>
                <a:uFillTx/>
                <a:latin typeface="Verdana"/>
                <a:ea typeface="+mj-ea"/>
                <a:cs typeface="Gisha"/>
              </a:defRPr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342900" indent="-342900" algn="r">
              <a:buClrTx/>
              <a:buFont typeface="Wingdings" pitchFamily="2" charset="2"/>
              <a:buChar char="v"/>
              <a:defRPr>
                <a:solidFill>
                  <a:schemeClr val="bg1">
                    <a:lumMod val="95000"/>
                  </a:schemeClr>
                </a:solidFill>
                <a:effectLst>
                  <a:outerShdw blurRad="127000" dir="5400000" algn="ctr" rotWithShape="0">
                    <a:schemeClr val="bg1">
                      <a:lumMod val="95000"/>
                      <a:alpha val="48000"/>
                    </a:scheme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75C7E-7A6A-4B80-8374-16F8C3FF5B1F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לתכנות מערכות - 234122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3218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ject Title">
    <p:bg>
      <p:bgPr>
        <a:blipFill dpi="0"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5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>
              <a:bevelT w="38100" h="38100"/>
              <a:contourClr>
                <a:schemeClr val="accent1">
                  <a:shade val="75000"/>
                </a:schemeClr>
              </a:contourClr>
            </a:sp3d>
          </a:bodyPr>
          <a:lstStyle>
            <a:lvl1pPr>
              <a:defRPr kumimoji="0" lang="en-US" sz="5400" b="1" i="0" u="none" strike="noStrike" kern="1200" cap="none" spc="0" normalizeH="0" baseline="0" dirty="0" smtClean="0">
                <a:ln>
                  <a:prstDash val="solid"/>
                </a:ln>
                <a:gradFill flip="none" rotWithShape="1">
                  <a:gsLst>
                    <a:gs pos="0">
                      <a:srgbClr val="1F497D">
                        <a:lumMod val="40000"/>
                        <a:lumOff val="60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40000"/>
                        <a:lumOff val="60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40000"/>
                        <a:lumOff val="60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outerShdw blurRad="190500" dir="5040000" algn="tl">
                    <a:srgbClr val="4F81BD">
                      <a:lumMod val="40000"/>
                      <a:lumOff val="60000"/>
                      <a:alpha val="45000"/>
                    </a:srgbClr>
                  </a:outerShdw>
                </a:effectLst>
                <a:uLnTx/>
                <a:uFillTx/>
                <a:latin typeface="Verdana"/>
                <a:ea typeface="+mj-ea"/>
                <a:cs typeface="Gisha"/>
              </a:defRPr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342900" indent="-342900" algn="r">
              <a:buClrTx/>
              <a:buFont typeface="Wingdings" pitchFamily="2" charset="2"/>
              <a:buChar char="v"/>
              <a:defRPr>
                <a:solidFill>
                  <a:schemeClr val="bg1">
                    <a:lumMod val="95000"/>
                  </a:schemeClr>
                </a:solidFill>
                <a:effectLst>
                  <a:outerShdw blurRad="127000" dir="5400000" algn="ctr" rotWithShape="0">
                    <a:schemeClr val="bg1">
                      <a:lumMod val="95000"/>
                      <a:alpha val="48000"/>
                    </a:scheme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75C7E-7A6A-4B80-8374-16F8C3FF5B1F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29999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buClr>
                <a:schemeClr val="tx1"/>
              </a:buClr>
              <a:buFont typeface="Wingdings" pitchFamily="2" charset="2"/>
              <a:buChar char="§"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C4-6B3B-4DBB-8CAC-E4E86C4D1160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276932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 algn="l" defTabSz="540000" rtl="0">
              <a:lnSpc>
                <a:spcPct val="100000"/>
              </a:lnSpc>
              <a:buClr>
                <a:schemeClr val="tx1"/>
              </a:buClr>
              <a:buFont typeface="Wingdings" pitchFamily="2" charset="2"/>
              <a:buNone/>
              <a:defRPr sz="1800">
                <a:latin typeface="Consolas" pitchFamily="49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C4-6B3B-4DBB-8CAC-E4E86C4D1160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643354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52957-5740-47C6-9B82-4F37CD25FF8A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719447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1333-01B4-4126-9362-08440504D681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0558138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5A4E-A45B-4B2E-B12A-5302868269C4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3592073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CB9E0-2C1A-4D2B-8E61-88263BB0A089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566025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2EF0-4954-4DCA-A0AE-451290F26F5A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169441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5000" contrast="1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1" anchor="ctr">
            <a:normAutofit/>
            <a:sp3d extrusionH="57150">
              <a:bevelT w="38100" h="38100"/>
            </a:sp3d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C24E8-B483-4918-8938-604540FEACFD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e-IL"/>
              <a:t>מבוא לתכנות מערכות - 234122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3306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0" r:id="rId3"/>
    <p:sldLayoutId id="2147483657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/>
  </p:transition>
  <p:hf hdr="0" dt="0"/>
  <p:txStyles>
    <p:titleStyle>
      <a:lvl1pPr algn="ctr" defTabSz="914400" rtl="1" eaLnBrk="1" latinLnBrk="0" hangingPunct="1">
        <a:spcBef>
          <a:spcPct val="0"/>
        </a:spcBef>
        <a:buNone/>
        <a:defRPr sz="4400" b="1" kern="1200" cap="none" spc="0">
          <a:ln w="10541" cmpd="sng">
            <a:solidFill>
              <a:schemeClr val="accent1">
                <a:shade val="88000"/>
                <a:satMod val="110000"/>
              </a:schemeClr>
            </a:solidFill>
            <a:prstDash val="solid"/>
          </a:ln>
          <a:gradFill>
            <a:gsLst>
              <a:gs pos="0">
                <a:schemeClr val="accent1">
                  <a:tint val="40000"/>
                  <a:satMod val="250000"/>
                </a:schemeClr>
              </a:gs>
              <a:gs pos="9000">
                <a:schemeClr val="accent1">
                  <a:tint val="52000"/>
                  <a:satMod val="300000"/>
                </a:schemeClr>
              </a:gs>
              <a:gs pos="50000">
                <a:schemeClr val="accent1">
                  <a:shade val="20000"/>
                  <a:satMod val="300000"/>
                </a:schemeClr>
              </a:gs>
              <a:gs pos="79000">
                <a:schemeClr val="accent1">
                  <a:tint val="52000"/>
                  <a:satMod val="300000"/>
                </a:schemeClr>
              </a:gs>
              <a:gs pos="100000">
                <a:schemeClr val="accent1">
                  <a:tint val="40000"/>
                  <a:satMod val="250000"/>
                </a:schemeClr>
              </a:gs>
            </a:gsLst>
            <a:lin ang="54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lnSpc>
          <a:spcPct val="114000"/>
        </a:lnSpc>
        <a:spcBef>
          <a:spcPct val="20000"/>
        </a:spcBef>
        <a:buClr>
          <a:schemeClr val="tx1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lnSpc>
          <a:spcPct val="114000"/>
        </a:lnSpc>
        <a:spcBef>
          <a:spcPct val="20000"/>
        </a:spcBef>
        <a:buClr>
          <a:schemeClr val="tx1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14000"/>
        </a:lnSpc>
        <a:spcBef>
          <a:spcPct val="20000"/>
        </a:spcBef>
        <a:buClr>
          <a:schemeClr val="tx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14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14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תרגול מס’ 12 </a:t>
            </a:r>
            <a:r>
              <a:rPr lang="en-US" dirty="0"/>
              <a:t> </a:t>
            </a:r>
            <a:endParaRPr lang="he-I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5736" y="3886200"/>
            <a:ext cx="6156664" cy="1393371"/>
          </a:xfrm>
        </p:spPr>
        <p:txBody>
          <a:bodyPr numCol="2">
            <a:normAutofit/>
          </a:bodyPr>
          <a:lstStyle/>
          <a:p>
            <a:pPr marL="342900" indent="-342900" defTabSz="91440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itchFamily="2" charset="2"/>
              <a:buChar char="v"/>
            </a:pPr>
            <a:r>
              <a:rPr lang="he-IL" dirty="0"/>
              <a:t>לולאות </a:t>
            </a:r>
            <a:r>
              <a:rPr lang="en-US" dirty="0"/>
              <a:t>for</a:t>
            </a:r>
          </a:p>
          <a:p>
            <a:pPr marL="342900" indent="-342900" defTabSz="91440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itchFamily="2" charset="2"/>
              <a:buChar char="v"/>
            </a:pPr>
            <a:r>
              <a:rPr lang="he-IL" dirty="0"/>
              <a:t>מילונים</a:t>
            </a:r>
            <a:endParaRPr lang="en-US" dirty="0"/>
          </a:p>
          <a:p>
            <a:pPr marL="342900" indent="-342900" defTabSz="91440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itchFamily="2" charset="2"/>
              <a:buChar char="v"/>
            </a:pPr>
            <a:r>
              <a:rPr lang="he-IL" dirty="0"/>
              <a:t>פונקציות</a:t>
            </a:r>
            <a:endParaRPr lang="en-US" dirty="0"/>
          </a:p>
          <a:p>
            <a:pPr marL="342900" indent="-342900" defTabSz="91440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itchFamily="2" charset="2"/>
              <a:buChar char="v"/>
            </a:pPr>
            <a:r>
              <a:rPr lang="he-IL" dirty="0"/>
              <a:t>הרצת קבצי פייתון</a:t>
            </a:r>
          </a:p>
          <a:p>
            <a:pPr marL="342900" indent="-342900" defTabSz="91440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itchFamily="2" charset="2"/>
              <a:buChar char="v"/>
            </a:pPr>
            <a:r>
              <a:rPr lang="he-IL" dirty="0"/>
              <a:t>ערכי ברירת מחדל ופרמטרים שמים</a:t>
            </a:r>
          </a:p>
        </p:txBody>
      </p:sp>
    </p:spTree>
    <p:extLst>
      <p:ext uri="{BB962C8B-B14F-4D97-AF65-F5344CB8AC3E}">
        <p14:creationId xmlns:p14="http://schemas.microsoft.com/office/powerpoint/2010/main" val="106524943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defTabSz="914400" eaLnBrk="1" latinLnBrk="0" hangingPunct="1">
              <a:spcBef>
                <a:spcPct val="0"/>
              </a:spcBef>
              <a:buNone/>
            </a:pPr>
            <a:r>
              <a:rPr lang="he-IL"/>
              <a:t>לולאות </a:t>
            </a:r>
            <a:r>
              <a:rPr lang="en-US"/>
              <a:t>for</a:t>
            </a:r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28844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 defTabSz="914400" eaLnBrk="1" latinLnBrk="0" hangingPunct="1">
              <a:spcBef>
                <a:spcPct val="0"/>
              </a:spcBef>
              <a:buNone/>
            </a:pPr>
            <a:r>
              <a:rPr lang="he-IL"/>
              <a:t>לולאת </a:t>
            </a:r>
            <a:r>
              <a:rPr lang="en-US"/>
              <a:t> for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668614" y="1171602"/>
            <a:ext cx="7935834" cy="36933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>
                <a:latin typeface="Consolas" pitchFamily="49" charset="0"/>
              </a:rPr>
              <a:t>ניתן להשתמש בלולאת </a:t>
            </a:r>
            <a:r>
              <a:rPr lang="en-US">
                <a:latin typeface="Consolas" pitchFamily="49" charset="0"/>
              </a:rPr>
              <a:t>for</a:t>
            </a:r>
            <a:r>
              <a:rPr lang="he-IL">
                <a:latin typeface="Consolas" pitchFamily="49" charset="0"/>
              </a:rPr>
              <a:t> בפייתון בכמה דרכים.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>
                <a:latin typeface="Consolas" pitchFamily="49" charset="0"/>
              </a:rPr>
              <a:t>בשביל לעבור על איברי רשימה או כל מבנה נתונים אחר (נקרא טיפוס </a:t>
            </a:r>
            <a:r>
              <a:rPr lang="en-US" err="1">
                <a:latin typeface="Consolas" pitchFamily="49" charset="0"/>
              </a:rPr>
              <a:t>iterable</a:t>
            </a:r>
            <a:r>
              <a:rPr lang="he-IL">
                <a:latin typeface="Consolas" pitchFamily="49" charset="0"/>
              </a:rPr>
              <a:t>)</a:t>
            </a:r>
          </a:p>
          <a:p>
            <a:r>
              <a:rPr lang="he-IL">
                <a:latin typeface="Consolas" pitchFamily="49" charset="0"/>
              </a:rPr>
              <a:t>     משתמשים בתבנית הבאה:</a:t>
            </a:r>
            <a:endParaRPr lang="en-US">
              <a:latin typeface="Consolas" pitchFamily="49" charset="0"/>
            </a:endParaRPr>
          </a:p>
          <a:p>
            <a:endParaRPr lang="en-US">
              <a:latin typeface="Consolas" pitchFamily="49" charset="0"/>
            </a:endParaRPr>
          </a:p>
          <a:p>
            <a:endParaRPr lang="en-US">
              <a:latin typeface="Consolas" pitchFamily="49" charset="0"/>
            </a:endParaRPr>
          </a:p>
          <a:p>
            <a:endParaRPr lang="en-US">
              <a:latin typeface="Consolas" pitchFamily="49" charset="0"/>
            </a:endParaRPr>
          </a:p>
          <a:p>
            <a:endParaRPr lang="en-US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>
                <a:latin typeface="Consolas"/>
              </a:rPr>
              <a:t>ההזחה (</a:t>
            </a:r>
            <a:r>
              <a:rPr lang="en-US">
                <a:latin typeface="Consolas"/>
              </a:rPr>
              <a:t>indentation</a:t>
            </a:r>
            <a:r>
              <a:rPr lang="he-IL">
                <a:latin typeface="Consolas"/>
              </a:rPr>
              <a:t>) מגדירה את ה-</a:t>
            </a:r>
            <a:r>
              <a:rPr lang="en-US">
                <a:latin typeface="Consolas"/>
              </a:rPr>
              <a:t>scope</a:t>
            </a:r>
            <a:r>
              <a:rPr lang="he-IL">
                <a:latin typeface="Consolas"/>
              </a:rPr>
              <a:t> של הלולאה:</a:t>
            </a:r>
          </a:p>
          <a:p>
            <a:endParaRPr lang="he-IL">
              <a:latin typeface="Consolas" pitchFamily="49" charset="0"/>
            </a:endParaRPr>
          </a:p>
          <a:p>
            <a:endParaRPr lang="he-IL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/>
          </a:p>
          <a:p>
            <a:pPr algn="r" defTabSz="914400" eaLnBrk="1" latinLnBrk="0" hangingPunct="1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8549A0-E6DA-F248-92B8-DA2CFA4910E5}"/>
              </a:ext>
            </a:extLst>
          </p:cNvPr>
          <p:cNvSpPr/>
          <p:nvPr/>
        </p:nvSpPr>
        <p:spPr>
          <a:xfrm>
            <a:off x="1619672" y="2408629"/>
            <a:ext cx="3240360" cy="8763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for element in </a:t>
            </a:r>
            <a:r>
              <a:rPr lang="en-US" sz="1500" err="1">
                <a:solidFill>
                  <a:schemeClr val="tx1"/>
                </a:solidFill>
                <a:latin typeface="Consolas" pitchFamily="49" charset="0"/>
              </a:rPr>
              <a:t>iterable</a:t>
            </a:r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: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>
                <a:solidFill>
                  <a:schemeClr val="tx2">
                    <a:lumMod val="40000"/>
                    <a:lumOff val="60000"/>
                  </a:schemeClr>
                </a:solidFill>
                <a:latin typeface="Consolas"/>
              </a:rPr>
              <a:t>&lt;TAB&gt;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statement1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>
                <a:solidFill>
                  <a:schemeClr val="tx2">
                    <a:lumMod val="40000"/>
                    <a:lumOff val="60000"/>
                  </a:schemeClr>
                </a:solidFill>
                <a:latin typeface="Consolas"/>
              </a:rPr>
              <a:t>&lt;TAB&gt;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statement2</a:t>
            </a:r>
            <a:endParaRPr lang="en-US">
              <a:solidFill>
                <a:schemeClr val="tx1"/>
              </a:solidFill>
              <a:latin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A4CD21-0BB5-D744-802B-1F7C50D337C1}"/>
              </a:ext>
            </a:extLst>
          </p:cNvPr>
          <p:cNvSpPr/>
          <p:nvPr/>
        </p:nvSpPr>
        <p:spPr>
          <a:xfrm>
            <a:off x="2779440" y="3933056"/>
            <a:ext cx="3240360" cy="225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en-US" sz="1500">
                <a:solidFill>
                  <a:schemeClr val="tx1"/>
                </a:solidFill>
                <a:latin typeface="Consolas"/>
              </a:rPr>
              <a:t>&gt; elements = [3, 'a', 5.5]</a:t>
            </a:r>
          </a:p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for element in 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elements</a:t>
            </a:r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:</a:t>
            </a:r>
          </a:p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    print(element)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>
                <a:solidFill>
                  <a:schemeClr val="tx1"/>
                </a:solidFill>
                <a:latin typeface="Consolas"/>
              </a:rPr>
              <a:t>&gt; print("Done")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>
                <a:solidFill>
                  <a:schemeClr val="tx2"/>
                </a:solidFill>
              </a:rPr>
              <a:t>3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>
                <a:solidFill>
                  <a:schemeClr val="tx2"/>
                </a:solidFill>
              </a:rPr>
              <a:t>a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>
                <a:solidFill>
                  <a:schemeClr val="tx2"/>
                </a:solidFill>
              </a:rPr>
              <a:t>5.5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>
                <a:solidFill>
                  <a:schemeClr val="tx2"/>
                </a:solidFill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7958503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 defTabSz="914400" rtl="0" eaLnBrk="1" latinLnBrk="0" hangingPunct="1">
              <a:spcBef>
                <a:spcPct val="0"/>
              </a:spcBef>
              <a:buNone/>
            </a:pPr>
            <a:r>
              <a:rPr lang="en-US"/>
              <a:t>Range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604083" y="1178322"/>
            <a:ext cx="7935834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range</a:t>
            </a:r>
            <a:r>
              <a:rPr lang="he-IL"/>
              <a:t> היא פונקציה מובנית בפייתון (ומאוד שימושית).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/>
              <a:t>היא מחזירה אובייקט </a:t>
            </a:r>
            <a:r>
              <a:rPr lang="en-US" err="1"/>
              <a:t>iterable</a:t>
            </a:r>
            <a:r>
              <a:rPr lang="he-IL"/>
              <a:t>, המייצג את הטווח המבוקש של איברים מטיפוס </a:t>
            </a:r>
            <a:r>
              <a:rPr lang="en-US"/>
              <a:t>int</a:t>
            </a:r>
            <a:r>
              <a:rPr lang="he-IL"/>
              <a:t>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CEC3B8-CF7A-DE44-AD5D-83FF3AD05544}"/>
              </a:ext>
            </a:extLst>
          </p:cNvPr>
          <p:cNvSpPr/>
          <p:nvPr/>
        </p:nvSpPr>
        <p:spPr>
          <a:xfrm>
            <a:off x="2362540" y="1988106"/>
            <a:ext cx="4216207" cy="4277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list(range(6,10))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&gt; [6,7,8,9]</a:t>
            </a:r>
          </a:p>
          <a:p>
            <a:pPr marL="57150" indent="0" algn="l" defTabSz="914400" rtl="0" eaLnBrk="1" latinLnBrk="0" hangingPunct="1">
              <a:buNone/>
            </a:pPr>
            <a:endParaRPr lang="en-US" sz="1500" dirty="0">
              <a:solidFill>
                <a:schemeClr val="tx1"/>
              </a:solidFill>
              <a:latin typeface="Consolas" pitchFamily="49" charset="0"/>
            </a:endParaRP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list(range(5))  # same as range(0,5)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&gt; [0,1,2,3,4]</a:t>
            </a:r>
          </a:p>
          <a:p>
            <a:pPr marL="57150" indent="0" algn="l" defTabSz="914400" rtl="0" eaLnBrk="1" latinLnBrk="0" hangingPunct="1">
              <a:buNone/>
            </a:pPr>
            <a:endParaRPr lang="en-US" sz="1500" dirty="0">
              <a:solidFill>
                <a:schemeClr val="tx1"/>
              </a:solidFill>
              <a:latin typeface="Consolas" pitchFamily="49" charset="0"/>
            </a:endParaRP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list(range(4,2))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&gt; []</a:t>
            </a:r>
          </a:p>
          <a:p>
            <a:pPr marL="57150" indent="0" algn="l" defTabSz="914400" rtl="0" eaLnBrk="1" latinLnBrk="0" hangingPunct="1">
              <a:buNone/>
            </a:pPr>
            <a:endParaRPr lang="en-US" sz="1500" dirty="0">
              <a:solidFill>
                <a:schemeClr val="tx1"/>
              </a:solidFill>
              <a:latin typeface="Consolas" pitchFamily="49" charset="0"/>
            </a:endParaRP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list(range(10, 0, -2))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# range(start, stop, step)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&gt; [10,8,6,4,2]</a:t>
            </a:r>
          </a:p>
          <a:p>
            <a:pPr marL="57150" indent="0" algn="l" defTabSz="914400" rtl="0" eaLnBrk="1" latinLnBrk="0" hangingPunct="1">
              <a:buNone/>
            </a:pPr>
            <a:endParaRPr lang="en-US" sz="1500" dirty="0">
              <a:solidFill>
                <a:schemeClr val="tx2"/>
              </a:solidFill>
              <a:latin typeface="Consolas" pitchFamily="49" charset="0"/>
            </a:endParaRP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type(range(10))</a:t>
            </a:r>
          </a:p>
          <a:p>
            <a:pPr marL="57150" algn="l" rtl="0"/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&gt; &lt;class 'range'&gt;</a:t>
            </a:r>
            <a:endParaRPr lang="he-IL" sz="1500" dirty="0">
              <a:solidFill>
                <a:schemeClr val="tx2"/>
              </a:solidFill>
              <a:latin typeface="Consolas" pitchFamily="49" charset="0"/>
            </a:endParaRPr>
          </a:p>
          <a:p>
            <a:pPr marL="57150" algn="l" rtl="0"/>
            <a:endParaRPr lang="en-US" sz="1500" dirty="0">
              <a:solidFill>
                <a:schemeClr val="tx2"/>
              </a:solidFill>
              <a:latin typeface="Consolas" pitchFamily="49" charset="0"/>
            </a:endParaRP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list(range(10)) </a:t>
            </a:r>
          </a:p>
          <a:p>
            <a:pPr marL="57150" algn="l" rtl="0"/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&gt; [0, 1, 2, 3, 4, 5, 6, 7, 8</a:t>
            </a:r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, 9]</a:t>
            </a:r>
            <a:endParaRPr lang="en-US" sz="1500" dirty="0">
              <a:solidFill>
                <a:schemeClr val="tx2"/>
              </a:solidFill>
              <a:latin typeface="Consolas" pitchFamily="49" charset="0"/>
            </a:endParaRPr>
          </a:p>
          <a:p>
            <a:pPr marL="57150" indent="0" algn="l" defTabSz="914400" rtl="0" eaLnBrk="1" latinLnBrk="0" hangingPunct="1">
              <a:buNone/>
            </a:pPr>
            <a:endParaRPr lang="en-US" sz="1500" dirty="0">
              <a:solidFill>
                <a:schemeClr val="tx2"/>
              </a:solidFill>
              <a:latin typeface="Consolas" pitchFamily="49" charset="0"/>
            </a:endParaRPr>
          </a:p>
        </p:txBody>
      </p:sp>
      <p:sp>
        <p:nvSpPr>
          <p:cNvPr id="10" name="Rectangular Callout 7">
            <a:extLst>
              <a:ext uri="{FF2B5EF4-FFF2-40B4-BE49-F238E27FC236}">
                <a16:creationId xmlns:a16="http://schemas.microsoft.com/office/drawing/2014/main" id="{D4AE04C9-A173-4D96-9E48-F2084C8F61C4}"/>
              </a:ext>
            </a:extLst>
          </p:cNvPr>
          <p:cNvSpPr/>
          <p:nvPr/>
        </p:nvSpPr>
        <p:spPr>
          <a:xfrm>
            <a:off x="6392099" y="2241977"/>
            <a:ext cx="2055912" cy="576798"/>
          </a:xfrm>
          <a:prstGeom prst="wedgeRectCallout">
            <a:avLst>
              <a:gd name="adj1" fmla="val -83822"/>
              <a:gd name="adj2" fmla="val -62561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eaLnBrk="1" latinLnBrk="0" hangingPunct="1"/>
            <a:r>
              <a:rPr lang="he-IL" sz="1500"/>
              <a:t>ניתן להמיר את תוצאת </a:t>
            </a:r>
            <a:r>
              <a:rPr lang="en-US" sz="1500"/>
              <a:t>range</a:t>
            </a:r>
            <a:r>
              <a:rPr lang="he-IL" sz="1500"/>
              <a:t> לרשימה</a:t>
            </a:r>
          </a:p>
        </p:txBody>
      </p:sp>
      <p:sp>
        <p:nvSpPr>
          <p:cNvPr id="12" name="Rectangular Callout 7">
            <a:extLst>
              <a:ext uri="{FF2B5EF4-FFF2-40B4-BE49-F238E27FC236}">
                <a16:creationId xmlns:a16="http://schemas.microsoft.com/office/drawing/2014/main" id="{A04D99FF-F29D-412E-978D-EA96D8A4B17F}"/>
              </a:ext>
            </a:extLst>
          </p:cNvPr>
          <p:cNvSpPr/>
          <p:nvPr/>
        </p:nvSpPr>
        <p:spPr>
          <a:xfrm>
            <a:off x="6363160" y="3180085"/>
            <a:ext cx="2550413" cy="576798"/>
          </a:xfrm>
          <a:prstGeom prst="wedgeRectCallout">
            <a:avLst>
              <a:gd name="adj1" fmla="val -76731"/>
              <a:gd name="adj2" fmla="val -69823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500"/>
              <a:t>start=0 </a:t>
            </a:r>
            <a:r>
              <a:rPr lang="he-IL" sz="1500"/>
              <a:t> הוא ערך ברירת מחדל, ומקובל להשמיטו.</a:t>
            </a:r>
          </a:p>
        </p:txBody>
      </p:sp>
      <p:sp>
        <p:nvSpPr>
          <p:cNvPr id="13" name="Rectangular Callout 7">
            <a:extLst>
              <a:ext uri="{FF2B5EF4-FFF2-40B4-BE49-F238E27FC236}">
                <a16:creationId xmlns:a16="http://schemas.microsoft.com/office/drawing/2014/main" id="{653C3A3D-909B-4BDB-81F1-1929AA72595D}"/>
              </a:ext>
            </a:extLst>
          </p:cNvPr>
          <p:cNvSpPr/>
          <p:nvPr/>
        </p:nvSpPr>
        <p:spPr>
          <a:xfrm>
            <a:off x="6252197" y="4551488"/>
            <a:ext cx="2661375" cy="576798"/>
          </a:xfrm>
          <a:prstGeom prst="wedgeRectCallout">
            <a:avLst>
              <a:gd name="adj1" fmla="val -71408"/>
              <a:gd name="adj2" fmla="val -60701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eaLnBrk="1" latinLnBrk="0" hangingPunct="1"/>
            <a:r>
              <a:rPr lang="he-IL" sz="1500"/>
              <a:t>ערך ברירת המחדל עבור פרמטר </a:t>
            </a:r>
            <a:r>
              <a:rPr lang="en-US" sz="1500"/>
              <a:t>step</a:t>
            </a:r>
            <a:r>
              <a:rPr lang="he-IL" sz="1500"/>
              <a:t> הוא 1</a:t>
            </a:r>
          </a:p>
        </p:txBody>
      </p:sp>
    </p:spTree>
    <p:extLst>
      <p:ext uri="{BB962C8B-B14F-4D97-AF65-F5344CB8AC3E}">
        <p14:creationId xmlns:p14="http://schemas.microsoft.com/office/powerpoint/2010/main" val="12435089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 defTabSz="914400" eaLnBrk="1" latinLnBrk="0" hangingPunct="1">
              <a:spcBef>
                <a:spcPct val="0"/>
              </a:spcBef>
              <a:buNone/>
            </a:pPr>
            <a:r>
              <a:rPr lang="he-IL"/>
              <a:t>לולאת </a:t>
            </a:r>
            <a:r>
              <a:rPr lang="en-US"/>
              <a:t> for</a:t>
            </a:r>
            <a:r>
              <a:rPr lang="he-IL"/>
              <a:t>עם </a:t>
            </a:r>
            <a:r>
              <a:rPr lang="en-US"/>
              <a:t>range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668614" y="1171602"/>
            <a:ext cx="7935834" cy="48013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>
                <a:latin typeface="Consolas"/>
              </a:rPr>
              <a:t>בשביל לייצר לולאה פשוטה עם אינדקס i, משתמשים בערך ההחזרה של </a:t>
            </a:r>
            <a:r>
              <a:rPr lang="en-US">
                <a:latin typeface="Consolas"/>
              </a:rPr>
              <a:t>range</a:t>
            </a:r>
            <a:r>
              <a:rPr lang="he-IL">
                <a:latin typeface="Consolas"/>
              </a:rPr>
              <a:t>:</a:t>
            </a:r>
            <a:endParaRPr lang="en-US">
              <a:latin typeface="Consola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>
                <a:latin typeface="Consolas" pitchFamily="49" charset="0"/>
              </a:rPr>
              <a:t>הערה: פקודות </a:t>
            </a:r>
            <a:r>
              <a:rPr lang="en-US">
                <a:latin typeface="Consolas" pitchFamily="49" charset="0"/>
              </a:rPr>
              <a:t>break, continue</a:t>
            </a:r>
            <a:r>
              <a:rPr lang="he-IL">
                <a:latin typeface="Consolas" pitchFamily="49" charset="0"/>
              </a:rPr>
              <a:t> עובדות כמצופה (גם בלולאות </a:t>
            </a:r>
            <a:r>
              <a:rPr lang="en-US">
                <a:latin typeface="Consolas" pitchFamily="49" charset="0"/>
              </a:rPr>
              <a:t>while</a:t>
            </a:r>
            <a:r>
              <a:rPr lang="he-IL">
                <a:latin typeface="Consolas" pitchFamily="49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>
                <a:latin typeface="Consolas" pitchFamily="49" charset="0"/>
              </a:rPr>
              <a:t>אם אין צורך במשתנה האינדקס, ניתן להמיר את שמו בקו תחתון "_" </a:t>
            </a:r>
            <a:endParaRPr lang="en-US">
              <a:latin typeface="Consolas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45745A-1598-C34D-97EE-BCB225556DBE}"/>
              </a:ext>
            </a:extLst>
          </p:cNvPr>
          <p:cNvSpPr/>
          <p:nvPr/>
        </p:nvSpPr>
        <p:spPr>
          <a:xfrm>
            <a:off x="2195736" y="1772816"/>
            <a:ext cx="4572508" cy="3240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/>
              </a:rPr>
              <a:t>elements = [3, 'a', 5.5]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>
                <a:solidFill>
                  <a:schemeClr val="tx1"/>
                </a:solidFill>
                <a:latin typeface="Consolas"/>
              </a:rPr>
              <a:t>for </a:t>
            </a:r>
            <a:r>
              <a:rPr lang="en-US" sz="1500" err="1">
                <a:solidFill>
                  <a:schemeClr val="tx1"/>
                </a:solidFill>
                <a:latin typeface="Consolas"/>
              </a:rPr>
              <a:t>i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 in range(3):</a:t>
            </a:r>
          </a:p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/>
              </a:rPr>
              <a:t>    print("iteration:", </a:t>
            </a:r>
            <a:r>
              <a:rPr lang="en-US" sz="1500" err="1">
                <a:solidFill>
                  <a:schemeClr val="tx1"/>
                </a:solidFill>
                <a:latin typeface="Consolas"/>
              </a:rPr>
              <a:t>i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)</a:t>
            </a:r>
          </a:p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/>
              </a:rPr>
              <a:t>    print("element:", elements[</a:t>
            </a:r>
            <a:r>
              <a:rPr lang="en-US" sz="1500" err="1">
                <a:solidFill>
                  <a:schemeClr val="tx1"/>
                </a:solidFill>
                <a:latin typeface="Consolas"/>
              </a:rPr>
              <a:t>i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])</a:t>
            </a:r>
          </a:p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/>
              </a:rPr>
              <a:t>print("Done")</a:t>
            </a:r>
            <a:endParaRPr lang="en-US" sz="1500">
              <a:solidFill>
                <a:schemeClr val="tx1"/>
              </a:solidFill>
              <a:latin typeface="Consolas" pitchFamily="49" charset="0"/>
            </a:endParaRPr>
          </a:p>
          <a:p>
            <a:pPr marL="57150" algn="l" rtl="0"/>
            <a:r>
              <a:rPr lang="en-US">
                <a:solidFill>
                  <a:schemeClr val="tx2"/>
                </a:solidFill>
              </a:rPr>
              <a:t>&gt; iteration: 0</a:t>
            </a:r>
          </a:p>
          <a:p>
            <a:pPr marL="57150" algn="l" rtl="0"/>
            <a:r>
              <a:rPr lang="en-US">
                <a:solidFill>
                  <a:schemeClr val="tx2"/>
                </a:solidFill>
              </a:rPr>
              <a:t>&gt; element: 3</a:t>
            </a:r>
          </a:p>
          <a:p>
            <a:pPr marL="57150" algn="l" rtl="0"/>
            <a:r>
              <a:rPr lang="en-US">
                <a:solidFill>
                  <a:schemeClr val="tx2"/>
                </a:solidFill>
              </a:rPr>
              <a:t>&gt; iteration: 1</a:t>
            </a:r>
          </a:p>
          <a:p>
            <a:pPr marL="57150" algn="l" rtl="0"/>
            <a:r>
              <a:rPr lang="en-US">
                <a:solidFill>
                  <a:schemeClr val="tx2"/>
                </a:solidFill>
              </a:rPr>
              <a:t>&gt; element: a</a:t>
            </a:r>
          </a:p>
          <a:p>
            <a:pPr marL="57150" algn="l" rtl="0"/>
            <a:r>
              <a:rPr lang="en-US">
                <a:solidFill>
                  <a:schemeClr val="tx2"/>
                </a:solidFill>
              </a:rPr>
              <a:t>&gt; iteration: 2</a:t>
            </a:r>
          </a:p>
          <a:p>
            <a:pPr marL="57150" algn="l" rtl="0"/>
            <a:r>
              <a:rPr lang="en-US">
                <a:solidFill>
                  <a:schemeClr val="tx2"/>
                </a:solidFill>
              </a:rPr>
              <a:t>&gt; element: 5.5</a:t>
            </a:r>
          </a:p>
          <a:p>
            <a:pPr marL="57150" algn="l" rtl="0"/>
            <a:r>
              <a:rPr lang="en-US">
                <a:solidFill>
                  <a:schemeClr val="tx2"/>
                </a:solidFill>
              </a:rPr>
              <a:t>&gt; Done</a:t>
            </a:r>
          </a:p>
          <a:p>
            <a:pPr marL="57150" algn="l" rtl="0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2306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 defTabSz="914400" eaLnBrk="1" latinLnBrk="0" hangingPunct="1">
              <a:spcBef>
                <a:spcPct val="0"/>
              </a:spcBef>
              <a:buNone/>
            </a:pPr>
            <a:r>
              <a:rPr lang="he-IL"/>
              <a:t>לולאת </a:t>
            </a:r>
            <a:r>
              <a:rPr lang="en-US"/>
              <a:t> for</a:t>
            </a:r>
            <a:r>
              <a:rPr lang="he-IL"/>
              <a:t>עם </a:t>
            </a:r>
            <a:r>
              <a:rPr lang="en-US"/>
              <a:t>enumerate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668614" y="1171602"/>
            <a:ext cx="7935834" cy="2862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>
                <a:latin typeface="Consolas"/>
              </a:rPr>
              <a:t>באמצעות הפונקציה המובנית </a:t>
            </a:r>
            <a:r>
              <a:rPr lang="en-US">
                <a:latin typeface="Consolas"/>
              </a:rPr>
              <a:t>enumerate</a:t>
            </a:r>
            <a:r>
              <a:rPr lang="he-IL">
                <a:latin typeface="Consolas"/>
              </a:rPr>
              <a:t> ניתן לבצע לולאה על אובייקט iterable כלשהו, ובכל </a:t>
            </a:r>
            <a:r>
              <a:rPr lang="he-IL" err="1">
                <a:latin typeface="Consolas"/>
              </a:rPr>
              <a:t>איטרציה</a:t>
            </a:r>
            <a:r>
              <a:rPr lang="he-IL">
                <a:latin typeface="Consolas"/>
              </a:rPr>
              <a:t> לקבל גם את האלמנט וגם את האינדקס הנוכחי (מספר האיטרציה):</a:t>
            </a:r>
            <a:endParaRPr lang="en-US">
              <a:latin typeface="Consolas" pitchFamily="49" charset="0"/>
            </a:endParaRPr>
          </a:p>
          <a:p>
            <a:endParaRPr lang="en-US">
              <a:latin typeface="Consolas" pitchFamily="49" charset="0"/>
            </a:endParaRPr>
          </a:p>
          <a:p>
            <a:endParaRPr lang="en-US">
              <a:latin typeface="Consolas" pitchFamily="49" charset="0"/>
            </a:endParaRPr>
          </a:p>
          <a:p>
            <a:endParaRPr lang="en-US">
              <a:latin typeface="Consolas" pitchFamily="49" charset="0"/>
            </a:endParaRPr>
          </a:p>
          <a:p>
            <a:endParaRPr lang="he-IL">
              <a:latin typeface="Consolas" pitchFamily="49" charset="0"/>
            </a:endParaRPr>
          </a:p>
          <a:p>
            <a:endParaRPr lang="he-IL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/>
          </a:p>
          <a:p>
            <a:pPr algn="r" defTabSz="914400" eaLnBrk="1" latinLnBrk="0" hangingPunct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A4CD21-0BB5-D744-802B-1F7C50D337C1}"/>
              </a:ext>
            </a:extLst>
          </p:cNvPr>
          <p:cNvSpPr/>
          <p:nvPr/>
        </p:nvSpPr>
        <p:spPr>
          <a:xfrm>
            <a:off x="1841798" y="2334275"/>
            <a:ext cx="4572508" cy="33905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en-US" sz="1500">
                <a:solidFill>
                  <a:schemeClr val="tx1"/>
                </a:solidFill>
                <a:latin typeface="Consolas"/>
              </a:rPr>
              <a:t>elements = [3, 'a', 5.5]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>
                <a:solidFill>
                  <a:schemeClr val="tx1"/>
                </a:solidFill>
                <a:latin typeface="Consolas"/>
              </a:rPr>
              <a:t>for </a:t>
            </a:r>
            <a:r>
              <a:rPr lang="en-US" sz="1500" err="1">
                <a:solidFill>
                  <a:schemeClr val="tx1"/>
                </a:solidFill>
                <a:latin typeface="Consolas"/>
              </a:rPr>
              <a:t>i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, e in </a:t>
            </a:r>
            <a:r>
              <a:rPr lang="en-US" sz="1500" b="1">
                <a:solidFill>
                  <a:srgbClr val="CC66FF"/>
                </a:solidFill>
                <a:latin typeface="Consolas"/>
              </a:rPr>
              <a:t>enumerate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(elements):</a:t>
            </a:r>
          </a:p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/>
              </a:rPr>
              <a:t>    print("iteration:",</a:t>
            </a:r>
            <a:r>
              <a:rPr lang="en-US" sz="1500" err="1">
                <a:solidFill>
                  <a:schemeClr val="tx1"/>
                </a:solidFill>
                <a:latin typeface="Consolas"/>
              </a:rPr>
              <a:t>i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)</a:t>
            </a:r>
          </a:p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/>
              </a:rPr>
              <a:t>    print("element:", e)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>
                <a:solidFill>
                  <a:schemeClr val="tx1"/>
                </a:solidFill>
                <a:latin typeface="Consolas"/>
              </a:rPr>
              <a:t>Print("Done")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>
                <a:solidFill>
                  <a:schemeClr val="tx2"/>
                </a:solidFill>
              </a:rPr>
              <a:t>&gt; iteration: 0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>
                <a:solidFill>
                  <a:schemeClr val="tx2"/>
                </a:solidFill>
              </a:rPr>
              <a:t>&gt; element: 3</a:t>
            </a:r>
          </a:p>
          <a:p>
            <a:pPr marL="57150" algn="l" rtl="0"/>
            <a:r>
              <a:rPr lang="en-US">
                <a:solidFill>
                  <a:schemeClr val="tx2"/>
                </a:solidFill>
              </a:rPr>
              <a:t>&gt; iteration: 1</a:t>
            </a:r>
          </a:p>
          <a:p>
            <a:pPr marL="57150" algn="l" rtl="0"/>
            <a:r>
              <a:rPr lang="en-US">
                <a:solidFill>
                  <a:schemeClr val="tx2"/>
                </a:solidFill>
              </a:rPr>
              <a:t>&gt; element: a</a:t>
            </a:r>
          </a:p>
          <a:p>
            <a:pPr marL="57150" algn="l" rtl="0"/>
            <a:r>
              <a:rPr lang="en-US">
                <a:solidFill>
                  <a:schemeClr val="tx2"/>
                </a:solidFill>
              </a:rPr>
              <a:t>&gt; iteration: 2</a:t>
            </a:r>
          </a:p>
          <a:p>
            <a:pPr marL="57150" algn="l" rtl="0"/>
            <a:r>
              <a:rPr lang="en-US">
                <a:solidFill>
                  <a:schemeClr val="tx2"/>
                </a:solidFill>
              </a:rPr>
              <a:t>&gt; element: 5.5</a:t>
            </a:r>
          </a:p>
          <a:p>
            <a:pPr marL="57150" algn="l" rtl="0"/>
            <a:r>
              <a:rPr lang="en-US">
                <a:solidFill>
                  <a:schemeClr val="tx2"/>
                </a:solidFill>
              </a:rPr>
              <a:t>&gt; Done</a:t>
            </a:r>
          </a:p>
          <a:p>
            <a:pPr marL="57150" algn="l"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A94B3DD4-ED6B-43AD-9033-9535FA4034B6}"/>
              </a:ext>
            </a:extLst>
          </p:cNvPr>
          <p:cNvSpPr/>
          <p:nvPr/>
        </p:nvSpPr>
        <p:spPr>
          <a:xfrm>
            <a:off x="6520273" y="2148361"/>
            <a:ext cx="2055912" cy="927348"/>
          </a:xfrm>
          <a:prstGeom prst="wedgeRectCallout">
            <a:avLst>
              <a:gd name="adj1" fmla="val -105944"/>
              <a:gd name="adj2" fmla="val 14424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500" dirty="0"/>
              <a:t>enumerate</a:t>
            </a:r>
            <a:r>
              <a:rPr lang="he-IL" sz="1500" dirty="0"/>
              <a:t> מחזירה </a:t>
            </a:r>
            <a:r>
              <a:rPr lang="en-US" sz="1500" dirty="0" err="1"/>
              <a:t>iterable</a:t>
            </a:r>
            <a:r>
              <a:rPr lang="en-US" sz="1500" dirty="0"/>
              <a:t> </a:t>
            </a:r>
            <a:r>
              <a:rPr lang="he-IL" sz="1500" dirty="0"/>
              <a:t> </a:t>
            </a:r>
            <a:r>
              <a:rPr lang="en-US" sz="1500" dirty="0" err="1"/>
              <a:t>של</a:t>
            </a:r>
            <a:r>
              <a:rPr lang="en-US" sz="1500" dirty="0"/>
              <a:t> tuples</a:t>
            </a:r>
            <a:r>
              <a:rPr lang="he-IL" sz="1500" dirty="0"/>
              <a:t> המייצגים </a:t>
            </a:r>
            <a:r>
              <a:rPr lang="en-US" sz="1500" dirty="0" err="1"/>
              <a:t>זוגות</a:t>
            </a:r>
            <a:r>
              <a:rPr lang="en-US" sz="1500" dirty="0"/>
              <a:t> </a:t>
            </a:r>
            <a:r>
              <a:rPr lang="en-US" sz="1500" dirty="0" err="1"/>
              <a:t>אינ</a:t>
            </a:r>
            <a:r>
              <a:rPr lang="he-IL" sz="1500" dirty="0"/>
              <a:t>ד</a:t>
            </a:r>
            <a:r>
              <a:rPr lang="en-US" sz="1500" dirty="0" err="1"/>
              <a:t>קס</a:t>
            </a:r>
            <a:r>
              <a:rPr lang="en-US" sz="1500" dirty="0"/>
              <a:t> + </a:t>
            </a:r>
            <a:r>
              <a:rPr lang="he-IL" sz="1500" dirty="0"/>
              <a:t> איבר</a:t>
            </a:r>
          </a:p>
        </p:txBody>
      </p:sp>
    </p:spTree>
    <p:extLst>
      <p:ext uri="{BB962C8B-B14F-4D97-AF65-F5344CB8AC3E}">
        <p14:creationId xmlns:p14="http://schemas.microsoft.com/office/powerpoint/2010/main" val="38069925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32777-61B3-45E6-89A2-83E6750BF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פקודת </a:t>
            </a:r>
            <a:r>
              <a:rPr lang="en-US"/>
              <a:t>zip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52AE9-4B71-48ED-B960-B35353694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rmAutofit/>
          </a:bodyPr>
          <a:lstStyle/>
          <a:p>
            <a:r>
              <a:rPr lang="he-IL" sz="1800" dirty="0"/>
              <a:t>למעבר על מספר רשימות (או אובייקטים </a:t>
            </a:r>
            <a:r>
              <a:rPr lang="en-US" sz="1800" dirty="0" err="1"/>
              <a:t>iterable</a:t>
            </a:r>
            <a:r>
              <a:rPr lang="he-IL" sz="1800" dirty="0"/>
              <a:t>) בו-זמנית נשתמש בפקודה </a:t>
            </a:r>
            <a:r>
              <a:rPr lang="en-US" sz="1800" dirty="0"/>
              <a:t>zip</a:t>
            </a:r>
            <a:r>
              <a:rPr lang="he-IL" sz="1800" dirty="0"/>
              <a:t>:</a:t>
            </a: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he-IL" sz="1800" dirty="0"/>
              <a:t>למעשה, הפקודה מייצרת רשימה של </a:t>
            </a:r>
            <a:r>
              <a:rPr lang="en-US" sz="1800" dirty="0"/>
              <a:t>tuples</a:t>
            </a:r>
            <a:r>
              <a:rPr lang="he-IL" sz="1800" dirty="0"/>
              <a:t>, ומתבצע מעבר עליהן, בשני משתנים:</a:t>
            </a: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he-IL" sz="1800" dirty="0"/>
              <a:t>שאלה:</a:t>
            </a:r>
            <a:r>
              <a:rPr lang="en-US" sz="1800" dirty="0"/>
              <a:t> </a:t>
            </a:r>
            <a:r>
              <a:rPr lang="he-IL" sz="1800" dirty="0"/>
              <a:t> ממשו את הפקודה </a:t>
            </a:r>
            <a:r>
              <a:rPr lang="en-US" sz="1800" dirty="0"/>
              <a:t>enumerate</a:t>
            </a:r>
            <a:r>
              <a:rPr lang="he-IL" sz="1800" dirty="0"/>
              <a:t> באמצעות </a:t>
            </a:r>
            <a:r>
              <a:rPr lang="en-US" sz="1800" dirty="0"/>
              <a:t>zip</a:t>
            </a:r>
            <a:r>
              <a:rPr lang="he-IL" sz="1800" dirty="0"/>
              <a:t> ו- </a:t>
            </a:r>
            <a:r>
              <a:rPr lang="en-US" sz="1800" dirty="0"/>
              <a:t>range</a:t>
            </a:r>
            <a:endParaRPr lang="fr-FR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A6F58-B1BB-42F2-ABD7-CA7BF0E26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לתכנות מערכות - </a:t>
            </a:r>
            <a:r>
              <a:rPr lang="he-IL" dirty="0"/>
              <a:t>234124</a:t>
            </a:r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CA101-DD90-49C8-A7B1-70D47788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7</a:t>
            </a:fld>
            <a:endParaRPr lang="he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3825D0-C55E-48D0-8839-E83457E7C3B2}"/>
              </a:ext>
            </a:extLst>
          </p:cNvPr>
          <p:cNvSpPr/>
          <p:nvPr/>
        </p:nvSpPr>
        <p:spPr>
          <a:xfrm>
            <a:off x="2285746" y="1622655"/>
            <a:ext cx="4572508" cy="13742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/>
              </a:rPr>
              <a:t>&gt; l1, l2 = ['C', 'for'], ['is', 'Cookie']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&gt; for e1, e2 in </a:t>
            </a:r>
            <a:r>
              <a:rPr lang="en-US" sz="1500" b="1" dirty="0">
                <a:solidFill>
                  <a:srgbClr val="CC66FF"/>
                </a:solidFill>
                <a:latin typeface="Consolas" pitchFamily="49" charset="0"/>
              </a:rPr>
              <a:t>zip</a:t>
            </a: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(l1, l2):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&gt;     print(e1, e2)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dirty="0">
                <a:solidFill>
                  <a:schemeClr val="tx2"/>
                </a:solidFill>
              </a:rPr>
              <a:t>C is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dirty="0">
                <a:solidFill>
                  <a:schemeClr val="tx2"/>
                </a:solidFill>
              </a:rPr>
              <a:t>for Cookie</a:t>
            </a:r>
          </a:p>
          <a:p>
            <a:pPr marL="57150" algn="l" rtl="0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DE8F12-91C8-4C0B-AB2E-E8C56A29D166}"/>
              </a:ext>
            </a:extLst>
          </p:cNvPr>
          <p:cNvSpPr/>
          <p:nvPr/>
        </p:nvSpPr>
        <p:spPr>
          <a:xfrm>
            <a:off x="2285746" y="3573016"/>
            <a:ext cx="4572508" cy="1055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/>
              </a:rPr>
              <a:t>&gt; l1, l2 = ['C', 'for'], ['is', 'Cookie']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print(zip(l1, l2))</a:t>
            </a:r>
          </a:p>
          <a:p>
            <a:pPr marL="57150" algn="l" rtl="0"/>
            <a:r>
              <a:rPr lang="en-US">
                <a:solidFill>
                  <a:schemeClr val="tx2"/>
                </a:solidFill>
              </a:rPr>
              <a:t>[('C', 'is'), ('for', 'Cookie')]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4BA9E6-DC11-414E-902F-527B6C405F94}"/>
              </a:ext>
            </a:extLst>
          </p:cNvPr>
          <p:cNvSpPr/>
          <p:nvPr/>
        </p:nvSpPr>
        <p:spPr>
          <a:xfrm>
            <a:off x="2272512" y="5301208"/>
            <a:ext cx="4572508" cy="7517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list(zip(range(</a:t>
            </a:r>
            <a:r>
              <a:rPr lang="en-US" sz="1500" err="1">
                <a:solidFill>
                  <a:schemeClr val="tx1"/>
                </a:solidFill>
                <a:latin typeface="Consolas" pitchFamily="49" charset="0"/>
              </a:rPr>
              <a:t>len</a:t>
            </a:r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(l1)), l1))</a:t>
            </a:r>
          </a:p>
          <a:p>
            <a:pPr marL="57150" algn="l" rtl="0"/>
            <a:r>
              <a:rPr lang="en-US">
                <a:solidFill>
                  <a:schemeClr val="tx2"/>
                </a:solidFill>
              </a:rPr>
              <a:t>[(0, 'C'), (1, 'for')]</a:t>
            </a:r>
          </a:p>
        </p:txBody>
      </p:sp>
      <p:sp>
        <p:nvSpPr>
          <p:cNvPr id="9" name="Rectangular Callout 7">
            <a:extLst>
              <a:ext uri="{FF2B5EF4-FFF2-40B4-BE49-F238E27FC236}">
                <a16:creationId xmlns:a16="http://schemas.microsoft.com/office/drawing/2014/main" id="{C8CEAD18-E866-4A67-9382-0B80B9DD92A2}"/>
              </a:ext>
            </a:extLst>
          </p:cNvPr>
          <p:cNvSpPr/>
          <p:nvPr/>
        </p:nvSpPr>
        <p:spPr>
          <a:xfrm>
            <a:off x="107504" y="1762954"/>
            <a:ext cx="2055912" cy="576798"/>
          </a:xfrm>
          <a:prstGeom prst="wedgeRectCallout">
            <a:avLst>
              <a:gd name="adj1" fmla="val 8898"/>
              <a:gd name="adj2" fmla="val -84921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eaLnBrk="1" latinLnBrk="0" hangingPunct="1"/>
            <a:r>
              <a:rPr lang="he-IL" sz="1500"/>
              <a:t>גם </a:t>
            </a:r>
            <a:r>
              <a:rPr lang="en-US" sz="1500"/>
              <a:t>zip</a:t>
            </a:r>
            <a:r>
              <a:rPr lang="he-IL" sz="1500"/>
              <a:t> מחזירה אובייקט </a:t>
            </a:r>
            <a:r>
              <a:rPr lang="en-US" sz="1500" err="1"/>
              <a:t>iterable</a:t>
            </a:r>
            <a:endParaRPr lang="he-IL" sz="1500"/>
          </a:p>
        </p:txBody>
      </p:sp>
    </p:spTree>
    <p:extLst>
      <p:ext uri="{BB962C8B-B14F-4D97-AF65-F5344CB8AC3E}">
        <p14:creationId xmlns:p14="http://schemas.microsoft.com/office/powerpoint/2010/main" val="29979604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 defTabSz="914400" eaLnBrk="1" latinLnBrk="0" hangingPunct="1">
              <a:spcBef>
                <a:spcPct val="0"/>
              </a:spcBef>
              <a:buNone/>
            </a:pPr>
            <a:r>
              <a:rPr lang="he-IL"/>
              <a:t>לולאת </a:t>
            </a:r>
            <a:r>
              <a:rPr lang="en-US"/>
              <a:t> for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668614" y="1171602"/>
            <a:ext cx="79358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מעבר על איברי מחרוזת: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ספירת מספר המופעים של האות </a:t>
            </a:r>
            <a:r>
              <a:rPr lang="en-US" dirty="0">
                <a:latin typeface="Consolas" pitchFamily="49" charset="0"/>
              </a:rPr>
              <a:t>s</a:t>
            </a:r>
            <a:r>
              <a:rPr lang="he-IL" dirty="0">
                <a:latin typeface="Consolas" pitchFamily="49" charset="0"/>
              </a:rPr>
              <a:t> במחרוזת: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4B3B42-7428-413D-9632-FB84E5F86FB2}"/>
              </a:ext>
            </a:extLst>
          </p:cNvPr>
          <p:cNvSpPr/>
          <p:nvPr/>
        </p:nvSpPr>
        <p:spPr>
          <a:xfrm>
            <a:off x="987177" y="1692751"/>
            <a:ext cx="3207246" cy="17362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sz="1500">
                <a:solidFill>
                  <a:schemeClr val="tx1"/>
                </a:solidFill>
                <a:latin typeface="Consolas"/>
              </a:rPr>
              <a:t>&gt; </a:t>
            </a:r>
            <a:r>
              <a:rPr lang="en-US" sz="1500" err="1">
                <a:solidFill>
                  <a:schemeClr val="tx1"/>
                </a:solidFill>
                <a:latin typeface="Consolas"/>
              </a:rPr>
              <a:t>str_mtm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 = '</a:t>
            </a:r>
            <a:r>
              <a:rPr lang="en-US" sz="1500" err="1">
                <a:solidFill>
                  <a:schemeClr val="tx1"/>
                </a:solidFill>
                <a:latin typeface="Consolas"/>
              </a:rPr>
              <a:t>mtm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'</a:t>
            </a:r>
          </a:p>
          <a:p>
            <a:pPr algn="l" rtl="0"/>
            <a:r>
              <a:rPr lang="en-US" sz="1500">
                <a:solidFill>
                  <a:schemeClr val="tx1"/>
                </a:solidFill>
                <a:latin typeface="Consolas"/>
              </a:rPr>
              <a:t>&gt; for letter in </a:t>
            </a:r>
            <a:r>
              <a:rPr lang="en-US" sz="1500" err="1">
                <a:solidFill>
                  <a:schemeClr val="tx1"/>
                </a:solidFill>
                <a:latin typeface="Consolas"/>
              </a:rPr>
              <a:t>str_mtm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:</a:t>
            </a:r>
          </a:p>
          <a:p>
            <a:pPr algn="l" rtl="0"/>
            <a:r>
              <a:rPr lang="en-US" sz="1500">
                <a:solidFill>
                  <a:schemeClr val="tx1"/>
                </a:solidFill>
                <a:latin typeface="Consolas"/>
              </a:rPr>
              <a:t>&gt;     print(letter)</a:t>
            </a:r>
          </a:p>
          <a:p>
            <a:pPr algn="l" rtl="0"/>
            <a:r>
              <a:rPr lang="en-US">
                <a:solidFill>
                  <a:schemeClr val="tx2"/>
                </a:solidFill>
              </a:rPr>
              <a:t>m</a:t>
            </a:r>
          </a:p>
          <a:p>
            <a:pPr algn="l" rtl="0"/>
            <a:r>
              <a:rPr lang="en-US">
                <a:solidFill>
                  <a:schemeClr val="tx2"/>
                </a:solidFill>
              </a:rPr>
              <a:t>t</a:t>
            </a:r>
          </a:p>
          <a:p>
            <a:pPr algn="l" rtl="0"/>
            <a:r>
              <a:rPr lang="en-US">
                <a:solidFill>
                  <a:schemeClr val="tx2"/>
                </a:solidFill>
              </a:rPr>
              <a:t>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FA65FF-7DE3-48AE-9787-BAA8AC9666FF}"/>
              </a:ext>
            </a:extLst>
          </p:cNvPr>
          <p:cNvSpPr/>
          <p:nvPr/>
        </p:nvSpPr>
        <p:spPr>
          <a:xfrm>
            <a:off x="987177" y="4212315"/>
            <a:ext cx="5046025" cy="20535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sz="1500">
                <a:solidFill>
                  <a:schemeClr val="tx1"/>
                </a:solidFill>
                <a:latin typeface="Consolas"/>
              </a:rPr>
              <a:t>&gt; seq = '</a:t>
            </a:r>
            <a:r>
              <a:rPr lang="en-US" sz="1500">
                <a:solidFill>
                  <a:srgbClr val="0000FF"/>
                </a:solidFill>
                <a:latin typeface="Consolas"/>
              </a:rPr>
              <a:t>s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upercalifragili</a:t>
            </a:r>
            <a:r>
              <a:rPr lang="en-US" sz="1500">
                <a:solidFill>
                  <a:srgbClr val="0000FF"/>
                </a:solidFill>
                <a:latin typeface="Consolas"/>
              </a:rPr>
              <a:t>s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ticexpialidociou</a:t>
            </a:r>
            <a:r>
              <a:rPr lang="en-US" sz="1500">
                <a:solidFill>
                  <a:srgbClr val="0000FF"/>
                </a:solidFill>
                <a:latin typeface="Consolas"/>
              </a:rPr>
              <a:t>s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'</a:t>
            </a:r>
          </a:p>
          <a:p>
            <a:pPr algn="l" rtl="0"/>
            <a:endParaRPr lang="pt-BR" sz="1500">
              <a:solidFill>
                <a:schemeClr val="tx1"/>
              </a:solidFill>
              <a:latin typeface="Consolas"/>
            </a:endParaRPr>
          </a:p>
          <a:p>
            <a:pPr algn="l" rtl="0"/>
            <a:r>
              <a:rPr lang="pt-BR" sz="1500">
                <a:solidFill>
                  <a:schemeClr val="tx1"/>
                </a:solidFill>
                <a:latin typeface="Consolas"/>
              </a:rPr>
              <a:t>&gt; count = 0</a:t>
            </a:r>
          </a:p>
          <a:p>
            <a:pPr algn="l" rtl="0"/>
            <a:r>
              <a:rPr lang="en-US" sz="1500">
                <a:solidFill>
                  <a:schemeClr val="tx1"/>
                </a:solidFill>
                <a:latin typeface="Consolas"/>
              </a:rPr>
              <a:t>&gt; for letter in seq:</a:t>
            </a:r>
          </a:p>
          <a:p>
            <a:pPr algn="l" rtl="0"/>
            <a:r>
              <a:rPr lang="en-US" sz="1500">
                <a:solidFill>
                  <a:schemeClr val="tx1"/>
                </a:solidFill>
                <a:latin typeface="Consolas"/>
              </a:rPr>
              <a:t>&gt;     if letter == 's':</a:t>
            </a:r>
          </a:p>
          <a:p>
            <a:pPr algn="l" rtl="0"/>
            <a:r>
              <a:rPr lang="en-US" sz="1500">
                <a:solidFill>
                  <a:schemeClr val="tx1"/>
                </a:solidFill>
                <a:latin typeface="Consolas"/>
              </a:rPr>
              <a:t>&gt;         count += 1   # count = count + 1</a:t>
            </a:r>
          </a:p>
          <a:p>
            <a:pPr algn="l" rtl="0"/>
            <a:r>
              <a:rPr lang="en-US" sz="1500">
                <a:solidFill>
                  <a:schemeClr val="tx1"/>
                </a:solidFill>
                <a:latin typeface="Consolas"/>
              </a:rPr>
              <a:t>&gt; print(count)</a:t>
            </a:r>
          </a:p>
          <a:p>
            <a:pPr algn="l" rtl="0"/>
            <a:r>
              <a:rPr lang="en-US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06AA9217-0D0B-8E46-BECF-7B1F7B2675CF}"/>
              </a:ext>
            </a:extLst>
          </p:cNvPr>
          <p:cNvSpPr/>
          <p:nvPr/>
        </p:nvSpPr>
        <p:spPr>
          <a:xfrm>
            <a:off x="5468307" y="4890514"/>
            <a:ext cx="2887797" cy="634745"/>
          </a:xfrm>
          <a:prstGeom prst="wedgeEllipseCallout">
            <a:avLst>
              <a:gd name="adj1" fmla="val -55629"/>
              <a:gd name="adj2" fmla="val 392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err="1"/>
              <a:t>seq.count</a:t>
            </a:r>
            <a:r>
              <a:rPr lang="en-US"/>
              <a:t>('s')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6A9AAC4A-A54E-DC86-6888-FDBEB1DD9C51}"/>
              </a:ext>
            </a:extLst>
          </p:cNvPr>
          <p:cNvSpPr/>
          <p:nvPr/>
        </p:nvSpPr>
        <p:spPr>
          <a:xfrm>
            <a:off x="3687234" y="4555567"/>
            <a:ext cx="2680294" cy="317373"/>
          </a:xfrm>
          <a:prstGeom prst="wedgeRectCallout">
            <a:avLst>
              <a:gd name="adj1" fmla="val -56313"/>
              <a:gd name="adj2" fmla="val 1628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השוואת מחרוזות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089904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rtl="0"/>
            <a:r>
              <a:rPr lang="en-US"/>
              <a:t>List Comprehensions</a:t>
            </a:r>
            <a:br>
              <a:rPr lang="en-US">
                <a:effectLst/>
              </a:rPr>
            </a:b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622548" y="1201089"/>
            <a:ext cx="8229600" cy="50783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>
                <a:latin typeface="Consolas"/>
              </a:rPr>
              <a:t>מנגנון לייצר רשימה חדשה על ידי הפעלת חישוב על כל איבר ברשימה קיימת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nsola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>
                <a:latin typeface="Consolas"/>
              </a:rPr>
              <a:t>מנגנון זה מורכב מהחלקים הבאים:</a:t>
            </a:r>
          </a:p>
          <a:p>
            <a:endParaRPr lang="he-IL">
              <a:latin typeface="Consola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>
                <a:latin typeface="Consolas"/>
              </a:rPr>
              <a:t>קלט: רשימה (או באופן כללי כל אובייקט iterable)</a:t>
            </a:r>
            <a:endParaRPr lang="he-IL">
              <a:latin typeface="Consolas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>
                <a:latin typeface="Consolas"/>
              </a:rPr>
              <a:t>שם משתנה: המשתנה שיקבל את האיברים בזה אחר זה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>
                <a:latin typeface="Consolas"/>
              </a:rPr>
              <a:t>ביטוי תנאי (אופציונלי): קובע אילו איברים מהרשימה הנוכחית ייכללו</a:t>
            </a:r>
            <a:endParaRPr lang="he-IL">
              <a:latin typeface="Consolas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>
                <a:latin typeface="Consolas"/>
              </a:rPr>
              <a:t>ביטוי פלט: החישוב שיופעל על כל איבר מרשימת הקלט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>
                <a:latin typeface="Consolas"/>
              </a:rPr>
              <a:t>דוגמה: יצירת רשימה חדשה ע"י העלאה בריבוע של כל מספר שלם ברשימה נתונה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>
              <a:latin typeface="Consola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>
              <a:latin typeface="Consola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>
              <a:latin typeface="Consola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>
              <a:latin typeface="Consola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>
              <a:latin typeface="Consola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>
              <a:latin typeface="Consola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>
              <a:latin typeface="Consola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>
                <a:latin typeface="Consolas"/>
              </a:rPr>
              <a:t>הערה:</a:t>
            </a:r>
            <a:r>
              <a:rPr lang="en-US">
                <a:latin typeface="Consolas"/>
              </a:rPr>
              <a:t> </a:t>
            </a:r>
            <a:r>
              <a:rPr lang="he-IL">
                <a:latin typeface="Consolas"/>
              </a:rPr>
              <a:t>ניתן להמיר את הסוגריים המרובעים [] בעגולים () לקבלת </a:t>
            </a:r>
            <a:r>
              <a:rPr lang="en-US">
                <a:latin typeface="Consolas"/>
              </a:rPr>
              <a:t>n</a:t>
            </a:r>
            <a:r>
              <a:rPr lang="he-IL">
                <a:latin typeface="Consolas"/>
              </a:rPr>
              <a:t>-ייה. 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9125A8-9F4B-4110-912B-25696006124E}"/>
              </a:ext>
            </a:extLst>
          </p:cNvPr>
          <p:cNvSpPr/>
          <p:nvPr/>
        </p:nvSpPr>
        <p:spPr>
          <a:xfrm>
            <a:off x="1452471" y="4181197"/>
            <a:ext cx="6789596" cy="761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endParaRPr lang="en-US" sz="1500" dirty="0">
              <a:solidFill>
                <a:schemeClr val="tx2"/>
              </a:solidFill>
              <a:latin typeface="Consolas" pitchFamily="49" charset="0"/>
            </a:endParaRPr>
          </a:p>
          <a:p>
            <a:pPr marL="57150" algn="l" rtl="0"/>
            <a:r>
              <a:rPr lang="en-US" b="1" dirty="0">
                <a:solidFill>
                  <a:schemeClr val="tx1"/>
                </a:solidFill>
                <a:latin typeface="Consolas"/>
              </a:rPr>
              <a:t>[</a:t>
            </a:r>
            <a:r>
              <a:rPr lang="en-US" b="1" dirty="0" err="1">
                <a:solidFill>
                  <a:schemeClr val="tx1"/>
                </a:solidFill>
                <a:latin typeface="Consolas"/>
              </a:rPr>
              <a:t>elem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**2 for </a:t>
            </a:r>
            <a:r>
              <a:rPr lang="en-US" b="1" dirty="0" err="1">
                <a:solidFill>
                  <a:schemeClr val="tx1"/>
                </a:solidFill>
                <a:latin typeface="Consolas"/>
              </a:rPr>
              <a:t>elem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 in </a:t>
            </a:r>
            <a:r>
              <a:rPr lang="en-US" b="1" dirty="0" err="1">
                <a:solidFill>
                  <a:schemeClr val="tx1"/>
                </a:solidFill>
                <a:latin typeface="Consolas"/>
              </a:rPr>
              <a:t>iterable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 if type(</a:t>
            </a:r>
            <a:r>
              <a:rPr lang="en-US" b="1" dirty="0" err="1">
                <a:solidFill>
                  <a:schemeClr val="tx1"/>
                </a:solidFill>
                <a:latin typeface="Consolas"/>
              </a:rPr>
              <a:t>elem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) is int]</a:t>
            </a:r>
          </a:p>
          <a:p>
            <a:pPr marL="57150" indent="0" algn="l" defTabSz="914400" rtl="0" eaLnBrk="1" latinLnBrk="0" hangingPunct="1">
              <a:buNone/>
            </a:pPr>
            <a:endParaRPr lang="en-US" sz="1500" dirty="0">
              <a:solidFill>
                <a:srgbClr val="00B050"/>
              </a:solidFill>
              <a:latin typeface="Consolas" pitchFamily="49" charset="0"/>
            </a:endParaRPr>
          </a:p>
          <a:p>
            <a:pPr marL="57150" indent="0" algn="l" defTabSz="914400" rtl="0" eaLnBrk="1" latinLnBrk="0" hangingPunct="1">
              <a:buNone/>
            </a:pPr>
            <a:endParaRPr lang="en-US" sz="1500" dirty="0">
              <a:solidFill>
                <a:schemeClr val="tx1"/>
              </a:solidFill>
              <a:latin typeface="Consolas" pitchFamily="49" charset="0"/>
            </a:endParaRPr>
          </a:p>
          <a:p>
            <a:pPr marL="57150" indent="0" algn="l" defTabSz="914400" rtl="0" eaLnBrk="1" latinLnBrk="0" hangingPunct="1">
              <a:buNone/>
            </a:pPr>
            <a:endParaRPr lang="en-US" sz="1500" dirty="0">
              <a:solidFill>
                <a:schemeClr val="tx2"/>
              </a:solidFill>
              <a:latin typeface="Consolas" pitchFamily="49" charset="0"/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E2306EAE-6688-4878-87F0-0CA00D21B7D9}"/>
              </a:ext>
            </a:extLst>
          </p:cNvPr>
          <p:cNvSpPr/>
          <p:nvPr/>
        </p:nvSpPr>
        <p:spPr>
          <a:xfrm rot="16200000">
            <a:off x="1908730" y="4576053"/>
            <a:ext cx="444611" cy="846857"/>
          </a:xfrm>
          <a:prstGeom prst="lef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A0F10-0944-4497-81B4-A0E3D617B42B}"/>
              </a:ext>
            </a:extLst>
          </p:cNvPr>
          <p:cNvSpPr txBox="1"/>
          <p:nvPr/>
        </p:nvSpPr>
        <p:spPr>
          <a:xfrm>
            <a:off x="1333954" y="5271684"/>
            <a:ext cx="124780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he-IL"/>
              <a:t>ביטוי פלט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E20872-CA2B-42D2-96AE-5B7CC01E923E}"/>
              </a:ext>
            </a:extLst>
          </p:cNvPr>
          <p:cNvSpPr txBox="1"/>
          <p:nvPr/>
        </p:nvSpPr>
        <p:spPr>
          <a:xfrm>
            <a:off x="2711339" y="5271684"/>
            <a:ext cx="133816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he-IL"/>
              <a:t>שם משתנה</a:t>
            </a:r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8E0099-A790-419A-8D60-0176BA3EB7DF}"/>
              </a:ext>
            </a:extLst>
          </p:cNvPr>
          <p:cNvCxnSpPr>
            <a:cxnSpLocks/>
          </p:cNvCxnSpPr>
          <p:nvPr/>
        </p:nvCxnSpPr>
        <p:spPr>
          <a:xfrm flipV="1">
            <a:off x="3510909" y="4720497"/>
            <a:ext cx="0" cy="557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E1F73BF3-CC0D-45E3-9D5A-74CB70755815}"/>
              </a:ext>
            </a:extLst>
          </p:cNvPr>
          <p:cNvSpPr/>
          <p:nvPr/>
        </p:nvSpPr>
        <p:spPr>
          <a:xfrm rot="16200000">
            <a:off x="4502879" y="4542376"/>
            <a:ext cx="444611" cy="936508"/>
          </a:xfrm>
          <a:prstGeom prst="leftBrace">
            <a:avLst>
              <a:gd name="adj1" fmla="val 8333"/>
              <a:gd name="adj2" fmla="val 48239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D65105-AADD-473C-9999-FC84BF05DE11}"/>
              </a:ext>
            </a:extLst>
          </p:cNvPr>
          <p:cNvSpPr txBox="1"/>
          <p:nvPr/>
        </p:nvSpPr>
        <p:spPr>
          <a:xfrm>
            <a:off x="3998968" y="5271684"/>
            <a:ext cx="1515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/>
              <a:t>רשימת הקלט</a:t>
            </a:r>
            <a:endParaRPr lang="en-US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D3667D02-CB1E-4775-816C-68D95CA81EF9}"/>
              </a:ext>
            </a:extLst>
          </p:cNvPr>
          <p:cNvSpPr/>
          <p:nvPr/>
        </p:nvSpPr>
        <p:spPr>
          <a:xfrm rot="16200000">
            <a:off x="6438513" y="3762800"/>
            <a:ext cx="450908" cy="2480151"/>
          </a:xfrm>
          <a:prstGeom prst="leftBrace">
            <a:avLst>
              <a:gd name="adj1" fmla="val 8333"/>
              <a:gd name="adj2" fmla="val 48239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13DC5D-DF97-417D-9F52-EC9E07AFAE91}"/>
              </a:ext>
            </a:extLst>
          </p:cNvPr>
          <p:cNvSpPr txBox="1"/>
          <p:nvPr/>
        </p:nvSpPr>
        <p:spPr>
          <a:xfrm>
            <a:off x="5685353" y="5271684"/>
            <a:ext cx="216819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he-IL"/>
              <a:t>ביטוי תנאי (אופציונלי)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353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6642"/>
            <a:ext cx="8229600" cy="1143000"/>
          </a:xfrm>
        </p:spPr>
        <p:txBody>
          <a:bodyPr>
            <a:normAutofit fontScale="90000"/>
          </a:bodyPr>
          <a:lstStyle/>
          <a:p>
            <a:pPr rtl="0"/>
            <a:r>
              <a:rPr lang="en-US"/>
              <a:t>List Comprehensions</a:t>
            </a:r>
            <a:br>
              <a:rPr lang="en-US"/>
            </a:b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מבוא לתכנות מערכות - 234124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604082" y="1996828"/>
            <a:ext cx="793583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מתבצע תהליך איטרטיבי בו בכל איטרציה המשתנה </a:t>
            </a:r>
            <a:r>
              <a:rPr lang="en-US" dirty="0" err="1">
                <a:latin typeface="Consolas" pitchFamily="49" charset="0"/>
              </a:rPr>
              <a:t>elem</a:t>
            </a:r>
            <a:r>
              <a:rPr lang="he-IL" dirty="0">
                <a:latin typeface="Consolas" pitchFamily="49" charset="0"/>
              </a:rPr>
              <a:t> מקבל ערך אחר מתוך הרשימה </a:t>
            </a:r>
            <a:r>
              <a:rPr lang="en-US" dirty="0" err="1">
                <a:latin typeface="Consolas" pitchFamily="49" charset="0"/>
              </a:rPr>
              <a:t>a_list</a:t>
            </a:r>
            <a:endParaRPr lang="he-IL" dirty="0">
              <a:latin typeface="Consolas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ביטוי ההשוואה בודק האם </a:t>
            </a:r>
            <a:r>
              <a:rPr lang="en-US" dirty="0" err="1">
                <a:latin typeface="Consolas" pitchFamily="49" charset="0"/>
              </a:rPr>
              <a:t>elem</a:t>
            </a:r>
            <a:r>
              <a:rPr lang="he-IL" dirty="0">
                <a:latin typeface="Consolas" pitchFamily="49" charset="0"/>
              </a:rPr>
              <a:t> הוא מטיפוס </a:t>
            </a:r>
            <a:r>
              <a:rPr lang="en-US" dirty="0">
                <a:latin typeface="Consolas" pitchFamily="49" charset="0"/>
              </a:rPr>
              <a:t>int</a:t>
            </a:r>
            <a:endParaRPr lang="he-IL" dirty="0">
              <a:latin typeface="Consolas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אם האיבר הוא מטיפוס </a:t>
            </a:r>
            <a:r>
              <a:rPr lang="en-US" dirty="0">
                <a:latin typeface="Consolas" pitchFamily="49" charset="0"/>
              </a:rPr>
              <a:t>int</a:t>
            </a:r>
            <a:r>
              <a:rPr lang="he-IL" dirty="0">
                <a:latin typeface="Consolas" pitchFamily="49" charset="0"/>
              </a:rPr>
              <a:t> אז הוא מועלה בריבוע ונכנס לרשימת הפלט. </a:t>
            </a:r>
            <a:endParaRPr lang="en-US" dirty="0">
              <a:latin typeface="Consolas" pitchFamily="49" charset="0"/>
            </a:endParaRPr>
          </a:p>
          <a:p>
            <a:pPr marL="285750" indent="-28575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ניתן להשמיט את ביטוי התנאי: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algn="r" defTabSz="914400" eaLnBrk="1" latinLnBrk="0" hangingPunct="1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5872A3-6181-47E8-94EC-054CA87C1497}"/>
              </a:ext>
            </a:extLst>
          </p:cNvPr>
          <p:cNvSpPr/>
          <p:nvPr/>
        </p:nvSpPr>
        <p:spPr>
          <a:xfrm>
            <a:off x="735704" y="1017871"/>
            <a:ext cx="7672591" cy="8198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a_list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= [1, 4, 9, 'a', 'b', 0, 4]</a:t>
            </a:r>
          </a:p>
          <a:p>
            <a:pPr marL="57150" indent="0" algn="l" defTabSz="914400" rtl="0" eaLnBrk="1" latinLnBrk="0" hangingPunct="1">
              <a:spcAft>
                <a:spcPts val="100"/>
              </a:spcAft>
              <a:buNone/>
            </a:pP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squared_ints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elem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**2 for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elem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in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a_list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if type(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elem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) is int]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2"/>
                </a:solidFill>
                <a:latin typeface="Consolas" panose="020B0609020204030204" pitchFamily="49" charset="0"/>
              </a:rPr>
              <a:t>&gt; [1, 16, 81, 0, 16]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0A8CD3-3046-41D7-8826-A63ECFD5A4E5}"/>
              </a:ext>
            </a:extLst>
          </p:cNvPr>
          <p:cNvSpPr/>
          <p:nvPr/>
        </p:nvSpPr>
        <p:spPr>
          <a:xfrm>
            <a:off x="735704" y="4065690"/>
            <a:ext cx="7672591" cy="8034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/>
              </a:rPr>
              <a:t>x = 1</a:t>
            </a:r>
          </a:p>
          <a:p>
            <a:pPr marL="57150" algn="l" rtl="0">
              <a:spcAft>
                <a:spcPts val="100"/>
              </a:spcAft>
            </a:pPr>
            <a:r>
              <a:rPr lang="en-US" sz="1500" err="1">
                <a:solidFill>
                  <a:schemeClr val="tx1"/>
                </a:solidFill>
                <a:latin typeface="Consolas"/>
              </a:rPr>
              <a:t>squared_plus_x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 = [</a:t>
            </a:r>
            <a:r>
              <a:rPr lang="en-US" sz="1500" err="1">
                <a:solidFill>
                  <a:schemeClr val="tx1"/>
                </a:solidFill>
                <a:latin typeface="Consolas"/>
              </a:rPr>
              <a:t>elem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 + x for </a:t>
            </a:r>
            <a:r>
              <a:rPr lang="en-US" sz="1500" err="1">
                <a:solidFill>
                  <a:schemeClr val="tx1"/>
                </a:solidFill>
                <a:latin typeface="Consolas"/>
              </a:rPr>
              <a:t>elem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 in </a:t>
            </a:r>
            <a:r>
              <a:rPr lang="en-US" sz="1500" err="1">
                <a:solidFill>
                  <a:schemeClr val="tx1"/>
                </a:solidFill>
                <a:latin typeface="Consolas"/>
              </a:rPr>
              <a:t>squared_ints</a:t>
            </a:r>
            <a:r>
              <a:rPr lang="en-US" sz="1500">
                <a:solidFill>
                  <a:schemeClr val="tx1"/>
                </a:solidFill>
                <a:latin typeface="Consolas"/>
              </a:rPr>
              <a:t>]</a:t>
            </a:r>
            <a:endParaRPr lang="en-US" sz="1500">
              <a:solidFill>
                <a:srgbClr val="00B050"/>
              </a:solidFill>
              <a:latin typeface="Consolas" pitchFamily="49" charset="0"/>
            </a:endParaRPr>
          </a:p>
          <a:p>
            <a:pPr marL="57150" indent="0" algn="l" defTabSz="914400" rtl="0" eaLnBrk="1" latinLnBrk="0" hangingPunct="1">
              <a:buNone/>
            </a:pPr>
            <a:r>
              <a:rPr lang="en-US" sz="1500">
                <a:solidFill>
                  <a:schemeClr val="tx2"/>
                </a:solidFill>
                <a:latin typeface="Consolas" panose="020B0609020204030204" pitchFamily="49" charset="0"/>
              </a:rPr>
              <a:t>&gt; [2, 17, 82, 1, 17]</a:t>
            </a:r>
          </a:p>
          <a:p>
            <a:pPr marL="57150" indent="0" algn="l" defTabSz="914400" rtl="0" eaLnBrk="1" latinLnBrk="0" hangingPunct="1">
              <a:buNone/>
            </a:pPr>
            <a:endParaRPr lang="en-US" sz="1500">
              <a:solidFill>
                <a:schemeClr val="tx1"/>
              </a:solidFill>
              <a:latin typeface="Consolas" pitchFamily="49" charset="0"/>
            </a:endParaRPr>
          </a:p>
          <a:p>
            <a:pPr marL="57150" indent="0" algn="l" defTabSz="914400" rtl="0" eaLnBrk="1" latinLnBrk="0" hangingPunct="1">
              <a:buNone/>
            </a:pPr>
            <a:endParaRPr lang="en-US" sz="1500">
              <a:solidFill>
                <a:schemeClr val="tx2"/>
              </a:solidFill>
              <a:latin typeface="Consolas" pitchFamily="49" charset="0"/>
            </a:endParaRPr>
          </a:p>
        </p:txBody>
      </p:sp>
      <p:sp>
        <p:nvSpPr>
          <p:cNvPr id="12" name="Rectangular Callout 7">
            <a:extLst>
              <a:ext uri="{FF2B5EF4-FFF2-40B4-BE49-F238E27FC236}">
                <a16:creationId xmlns:a16="http://schemas.microsoft.com/office/drawing/2014/main" id="{A673314E-3B88-47C5-99B3-EF3E8914BD3D}"/>
              </a:ext>
            </a:extLst>
          </p:cNvPr>
          <p:cNvSpPr/>
          <p:nvPr/>
        </p:nvSpPr>
        <p:spPr>
          <a:xfrm>
            <a:off x="6630887" y="488272"/>
            <a:ext cx="2055912" cy="576798"/>
          </a:xfrm>
          <a:prstGeom prst="wedgeRectCallout">
            <a:avLst>
              <a:gd name="adj1" fmla="val -40329"/>
              <a:gd name="adj2" fmla="val 87461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eaLnBrk="1" latinLnBrk="0" hangingPunct="1"/>
            <a:r>
              <a:rPr lang="he-IL" sz="1500"/>
              <a:t>דרך יותר נכונה:</a:t>
            </a:r>
            <a:r>
              <a:rPr lang="en-US" sz="1500"/>
              <a:t> </a:t>
            </a:r>
            <a:br>
              <a:rPr lang="en-US" sz="1500"/>
            </a:br>
            <a:r>
              <a:rPr lang="en-US" sz="1500"/>
              <a:t>if </a:t>
            </a:r>
            <a:r>
              <a:rPr lang="en-US" sz="1500" err="1"/>
              <a:t>isinstance</a:t>
            </a:r>
            <a:r>
              <a:rPr lang="en-US" sz="1500"/>
              <a:t>(</a:t>
            </a:r>
            <a:r>
              <a:rPr lang="en-US" sz="1500" err="1"/>
              <a:t>elem</a:t>
            </a:r>
            <a:r>
              <a:rPr lang="en-US" sz="1500"/>
              <a:t>, int)</a:t>
            </a:r>
            <a:endParaRPr lang="he-IL" sz="1500"/>
          </a:p>
        </p:txBody>
      </p:sp>
    </p:spTree>
    <p:extLst>
      <p:ext uri="{BB962C8B-B14F-4D97-AF65-F5344CB8AC3E}">
        <p14:creationId xmlns:p14="http://schemas.microsoft.com/office/powerpoint/2010/main" val="4251497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9" grpId="0" animBg="1"/>
      <p:bldP spid="10" grpId="0" uiExpand="1" animBg="1"/>
      <p:bldP spid="12" grpId="0" animBg="1"/>
      <p:bldP spid="1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12EB-11D1-4159-A58A-C64598342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לולאות </a:t>
            </a:r>
            <a:r>
              <a:rPr lang="en-US"/>
              <a:t>for</a:t>
            </a:r>
            <a:r>
              <a:rPr lang="he-IL"/>
              <a:t> – סיכום	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88C31-611E-4BB1-973A-833A13427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e-IL" dirty="0"/>
              <a:t>לולאת </a:t>
            </a:r>
            <a:r>
              <a:rPr lang="en-US" dirty="0"/>
              <a:t>for</a:t>
            </a:r>
            <a:r>
              <a:rPr lang="he-IL" dirty="0"/>
              <a:t> בפייתון משמשת לאיטרציה על כל רצף </a:t>
            </a:r>
            <a:r>
              <a:rPr lang="en-US" dirty="0" err="1"/>
              <a:t>iterable</a:t>
            </a:r>
            <a:endParaRPr lang="he-IL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e-IL" dirty="0"/>
              <a:t>הפונק' המובנית </a:t>
            </a:r>
            <a:r>
              <a:rPr lang="en-US" dirty="0"/>
              <a:t>range</a:t>
            </a:r>
            <a:r>
              <a:rPr lang="he-IL" dirty="0"/>
              <a:t> מייצרת סדרה של מספרים שלמים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e-IL" dirty="0"/>
              <a:t>ניתן להשתמש ב-</a:t>
            </a:r>
            <a:r>
              <a:rPr lang="en-US" dirty="0"/>
              <a:t>for</a:t>
            </a:r>
            <a:r>
              <a:rPr lang="he-IL" dirty="0"/>
              <a:t> בתוך </a:t>
            </a:r>
            <a:r>
              <a:rPr lang="en-US" dirty="0"/>
              <a:t>list comprehension</a:t>
            </a:r>
            <a:r>
              <a:rPr lang="he-IL" dirty="0"/>
              <a:t> לקבלת רשימה על בסיס אובייקט  </a:t>
            </a:r>
            <a:r>
              <a:rPr lang="en-US" dirty="0" err="1"/>
              <a:t>iterable</a:t>
            </a:r>
            <a:r>
              <a:rPr lang="he-IL" dirty="0"/>
              <a:t> קיים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he-IL" dirty="0"/>
              <a:t>קיים גם </a:t>
            </a:r>
            <a:r>
              <a:rPr lang="en-US" dirty="0"/>
              <a:t>tuple comprehension</a:t>
            </a:r>
            <a:r>
              <a:rPr lang="he-IL" dirty="0"/>
              <a:t>.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F6EE6-824E-401D-BAE3-50631CF0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לתכנות מערכות - </a:t>
            </a:r>
            <a:r>
              <a:rPr lang="he-IL" dirty="0"/>
              <a:t>234124</a:t>
            </a:r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79902-EF2B-448D-AA7D-8D33D68C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017048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defTabSz="914400" eaLnBrk="1" latinLnBrk="0" hangingPunct="1">
              <a:spcBef>
                <a:spcPct val="0"/>
              </a:spcBef>
              <a:buNone/>
            </a:pPr>
            <a:r>
              <a:rPr lang="he-IL"/>
              <a:t>מילונים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74248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defTabSz="914400" eaLnBrk="1" latinLnBrk="0" hangingPunct="1">
              <a:spcBef>
                <a:spcPct val="0"/>
              </a:spcBef>
              <a:buNone/>
            </a:pPr>
            <a:r>
              <a:rPr lang="en-US" err="1"/>
              <a:t>dict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- 234122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668614" y="1171602"/>
            <a:ext cx="79358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latin typeface="Consolas" pitchFamily="49" charset="0"/>
              </a:rPr>
              <a:t>dict</a:t>
            </a:r>
            <a:r>
              <a:rPr lang="he-IL">
                <a:latin typeface="Consolas" pitchFamily="49" charset="0"/>
              </a:rPr>
              <a:t> הוא מבנה נתונים מסוג מילון אשר ממפה בין </a:t>
            </a:r>
            <a:r>
              <a:rPr lang="en-US" u="sng">
                <a:latin typeface="Consolas" pitchFamily="49" charset="0"/>
              </a:rPr>
              <a:t>מ</a:t>
            </a:r>
            <a:r>
              <a:rPr lang="he-IL" u="sng">
                <a:latin typeface="Consolas" pitchFamily="49" charset="0"/>
              </a:rPr>
              <a:t>פתחות</a:t>
            </a:r>
            <a:r>
              <a:rPr lang="he-IL">
                <a:latin typeface="Consolas" pitchFamily="49" charset="0"/>
              </a:rPr>
              <a:t> (</a:t>
            </a:r>
            <a:r>
              <a:rPr lang="en-US">
                <a:latin typeface="Consolas" pitchFamily="49" charset="0"/>
              </a:rPr>
              <a:t>keys</a:t>
            </a:r>
            <a:r>
              <a:rPr lang="he-IL">
                <a:latin typeface="Consolas" pitchFamily="49" charset="0"/>
              </a:rPr>
              <a:t>) </a:t>
            </a:r>
            <a:r>
              <a:rPr lang="en-US" err="1">
                <a:latin typeface="Consolas" pitchFamily="49" charset="0"/>
              </a:rPr>
              <a:t>לב</a:t>
            </a:r>
            <a:r>
              <a:rPr lang="he-IL">
                <a:latin typeface="Consolas" pitchFamily="49" charset="0"/>
              </a:rPr>
              <a:t>ין </a:t>
            </a:r>
            <a:r>
              <a:rPr lang="he-IL" u="sng">
                <a:latin typeface="Consolas" pitchFamily="49" charset="0"/>
              </a:rPr>
              <a:t>ערכים</a:t>
            </a:r>
            <a:r>
              <a:rPr lang="he-IL">
                <a:latin typeface="Consolas" pitchFamily="49" charset="0"/>
              </a:rPr>
              <a:t> (</a:t>
            </a:r>
            <a:r>
              <a:rPr lang="en-US">
                <a:latin typeface="Consolas" pitchFamily="49" charset="0"/>
              </a:rPr>
              <a:t>values</a:t>
            </a:r>
            <a:r>
              <a:rPr lang="he-IL">
                <a:latin typeface="Consolas" pitchFamily="49" charset="0"/>
              </a:rPr>
              <a:t>).</a:t>
            </a:r>
            <a:endParaRPr lang="en-US">
              <a:latin typeface="Consolas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>
                <a:latin typeface="Consolas" pitchFamily="49" charset="0"/>
              </a:rPr>
              <a:t>סדר שמירת הזוגות הסדורים במילון (מפתח, ערך) אינו מוגדר.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>
                <a:latin typeface="Consolas" pitchFamily="49" charset="0"/>
              </a:rPr>
              <a:t>בשביל לאתחל מילון עם תוכן מסויים, יש להשתמש בסוגריים מסולסלים {}.</a:t>
            </a:r>
            <a:endParaRPr lang="he-IL"/>
          </a:p>
          <a:p>
            <a:pPr algn="r" defTabSz="914400" eaLnBrk="1" latinLnBrk="0" hangingPunct="1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8549A0-E6DA-F248-92B8-DA2CFA4910E5}"/>
              </a:ext>
            </a:extLst>
          </p:cNvPr>
          <p:cNvSpPr/>
          <p:nvPr/>
        </p:nvSpPr>
        <p:spPr>
          <a:xfrm>
            <a:off x="524565" y="2399203"/>
            <a:ext cx="4166433" cy="13085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&gt; </a:t>
            </a:r>
            <a:r>
              <a:rPr lang="en-US" sz="1500" dirty="0" err="1">
                <a:solidFill>
                  <a:schemeClr val="tx1"/>
                </a:solidFill>
                <a:latin typeface="Consolas" pitchFamily="49" charset="0"/>
              </a:rPr>
              <a:t>new_dict</a:t>
            </a: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 = {</a:t>
            </a:r>
            <a:endParaRPr lang="he-IL" sz="1500" dirty="0">
              <a:solidFill>
                <a:schemeClr val="tx1"/>
              </a:solidFill>
              <a:latin typeface="Consolas" pitchFamily="49" charset="0"/>
            </a:endParaRP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&gt;   'a</a:t>
            </a:r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': 1, </a:t>
            </a: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'b': 2, 'c': [3]</a:t>
            </a: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&gt; }</a:t>
            </a: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&gt; print(</a:t>
            </a:r>
            <a:r>
              <a:rPr lang="en-US" sz="1500" dirty="0" err="1">
                <a:solidFill>
                  <a:schemeClr val="tx1"/>
                </a:solidFill>
                <a:latin typeface="Consolas" pitchFamily="49" charset="0"/>
              </a:rPr>
              <a:t>new_dict</a:t>
            </a: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)</a:t>
            </a:r>
            <a:endParaRPr lang="en-US" sz="1500" dirty="0">
              <a:solidFill>
                <a:schemeClr val="tx2"/>
              </a:solidFill>
              <a:latin typeface="Consolas" pitchFamily="49" charset="0"/>
            </a:endParaRPr>
          </a:p>
          <a:p>
            <a:pPr marL="57150" algn="l" rtl="0"/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{'a': 1, 'b': 2, 'c': [3]}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902623-21CE-2240-922E-9541D1127B6F}"/>
              </a:ext>
            </a:extLst>
          </p:cNvPr>
          <p:cNvSpPr/>
          <p:nvPr/>
        </p:nvSpPr>
        <p:spPr>
          <a:xfrm>
            <a:off x="4853836" y="2410070"/>
            <a:ext cx="3826701" cy="11250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</a:t>
            </a:r>
            <a:r>
              <a:rPr lang="en-US" sz="1500" err="1">
                <a:solidFill>
                  <a:schemeClr val="tx1"/>
                </a:solidFill>
                <a:latin typeface="Consolas" pitchFamily="49" charset="0"/>
              </a:rPr>
              <a:t>empty_dict</a:t>
            </a:r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 = {}</a:t>
            </a:r>
          </a:p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print(</a:t>
            </a:r>
            <a:r>
              <a:rPr lang="en-US" sz="1500" err="1">
                <a:solidFill>
                  <a:schemeClr val="tx1"/>
                </a:solidFill>
                <a:latin typeface="Consolas" pitchFamily="49" charset="0"/>
              </a:rPr>
              <a:t>empty_dict</a:t>
            </a:r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)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{}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15" name="Rectangular Callout 7">
            <a:extLst>
              <a:ext uri="{FF2B5EF4-FFF2-40B4-BE49-F238E27FC236}">
                <a16:creationId xmlns:a16="http://schemas.microsoft.com/office/drawing/2014/main" id="{DC28A81F-85D5-41FE-8E54-9C533E249404}"/>
              </a:ext>
            </a:extLst>
          </p:cNvPr>
          <p:cNvSpPr/>
          <p:nvPr/>
        </p:nvSpPr>
        <p:spPr>
          <a:xfrm>
            <a:off x="2251311" y="3798142"/>
            <a:ext cx="2968728" cy="481040"/>
          </a:xfrm>
          <a:prstGeom prst="wedgeRectCallout">
            <a:avLst>
              <a:gd name="adj1" fmla="val 3431"/>
              <a:gd name="adj2" fmla="val -253597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500"/>
              <a:t>מותר לשבור שורה בתוך סוגריים.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27A016-429F-4143-8CBE-A8434DF97DF1}"/>
              </a:ext>
            </a:extLst>
          </p:cNvPr>
          <p:cNvSpPr/>
          <p:nvPr/>
        </p:nvSpPr>
        <p:spPr>
          <a:xfrm>
            <a:off x="457200" y="4640217"/>
            <a:ext cx="4233798" cy="1241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&gt; d = {[3]: 4}</a:t>
            </a:r>
          </a:p>
          <a:p>
            <a:pPr marL="57150" algn="l" rtl="0"/>
            <a:r>
              <a:rPr lang="en-US" sz="1500" dirty="0" err="1">
                <a:solidFill>
                  <a:schemeClr val="tx2"/>
                </a:solidFill>
                <a:latin typeface="Consolas" pitchFamily="49" charset="0"/>
              </a:rPr>
              <a:t>TypeError</a:t>
            </a:r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: </a:t>
            </a:r>
            <a:r>
              <a:rPr lang="en-US" sz="1500" dirty="0" err="1">
                <a:solidFill>
                  <a:schemeClr val="tx2"/>
                </a:solidFill>
                <a:latin typeface="Consolas" pitchFamily="49" charset="0"/>
              </a:rPr>
              <a:t>unhashable</a:t>
            </a:r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 type: 'list'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6" name="Rectangular Callout 7">
            <a:extLst>
              <a:ext uri="{FF2B5EF4-FFF2-40B4-BE49-F238E27FC236}">
                <a16:creationId xmlns:a16="http://schemas.microsoft.com/office/drawing/2014/main" id="{F6645C51-0B1D-4B4C-A0C3-4ACD941F6A7D}"/>
              </a:ext>
            </a:extLst>
          </p:cNvPr>
          <p:cNvSpPr/>
          <p:nvPr/>
        </p:nvSpPr>
        <p:spPr>
          <a:xfrm>
            <a:off x="1015888" y="5535783"/>
            <a:ext cx="2992014" cy="797590"/>
          </a:xfrm>
          <a:prstGeom prst="wedgeRectCallout">
            <a:avLst>
              <a:gd name="adj1" fmla="val -38485"/>
              <a:gd name="adj2" fmla="val -94442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500"/>
              <a:t>תנאי הכרחי: מפתחות </a:t>
            </a:r>
            <a:r>
              <a:rPr lang="he-IL" sz="1500" u="sng"/>
              <a:t>חייבים להיות מטיפוס קבוע</a:t>
            </a:r>
            <a:r>
              <a:rPr lang="he-IL" sz="1500"/>
              <a:t> (</a:t>
            </a:r>
            <a:r>
              <a:rPr lang="en-US" sz="1500"/>
              <a:t>immutable</a:t>
            </a:r>
            <a:r>
              <a:rPr lang="he-IL" sz="1500"/>
              <a:t>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0E37B9-6DD2-9A84-263C-A309DE4E89DD}"/>
              </a:ext>
            </a:extLst>
          </p:cNvPr>
          <p:cNvSpPr/>
          <p:nvPr/>
        </p:nvSpPr>
        <p:spPr>
          <a:xfrm>
            <a:off x="4842589" y="4640217"/>
            <a:ext cx="3826701" cy="1241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&gt; d = {(3</a:t>
            </a:r>
            <a:r>
              <a:rPr lang="he-IL" sz="1500" dirty="0">
                <a:solidFill>
                  <a:schemeClr val="tx1"/>
                </a:solidFill>
                <a:latin typeface="Consolas" pitchFamily="49" charset="0"/>
              </a:rPr>
              <a:t>(</a:t>
            </a: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: 4}</a:t>
            </a:r>
          </a:p>
        </p:txBody>
      </p:sp>
      <p:sp>
        <p:nvSpPr>
          <p:cNvPr id="19" name="Rectangular Callout 7">
            <a:extLst>
              <a:ext uri="{FF2B5EF4-FFF2-40B4-BE49-F238E27FC236}">
                <a16:creationId xmlns:a16="http://schemas.microsoft.com/office/drawing/2014/main" id="{6746B011-8811-1B09-8413-65B92384CD7B}"/>
              </a:ext>
            </a:extLst>
          </p:cNvPr>
          <p:cNvSpPr/>
          <p:nvPr/>
        </p:nvSpPr>
        <p:spPr>
          <a:xfrm>
            <a:off x="5271179" y="5513541"/>
            <a:ext cx="2992014" cy="797590"/>
          </a:xfrm>
          <a:prstGeom prst="wedgeRectCallout">
            <a:avLst>
              <a:gd name="adj1" fmla="val -38740"/>
              <a:gd name="adj2" fmla="val -122148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500" dirty="0"/>
              <a:t>Tuple</a:t>
            </a:r>
            <a:r>
              <a:rPr lang="he-IL" sz="1500" dirty="0"/>
              <a:t> הוא טיפוס </a:t>
            </a:r>
            <a:r>
              <a:rPr lang="en-US" sz="1500" dirty="0"/>
              <a:t>immutable</a:t>
            </a:r>
            <a:r>
              <a:rPr lang="he-IL" sz="1500" dirty="0"/>
              <a:t> ולכן הקוד הזה תקין. לא תזרק חריגה.</a:t>
            </a:r>
          </a:p>
        </p:txBody>
      </p:sp>
    </p:spTree>
    <p:extLst>
      <p:ext uri="{BB962C8B-B14F-4D97-AF65-F5344CB8AC3E}">
        <p14:creationId xmlns:p14="http://schemas.microsoft.com/office/powerpoint/2010/main" val="3538557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5" grpId="0" animBg="1"/>
      <p:bldP spid="15" grpId="1" animBg="1"/>
      <p:bldP spid="13" grpId="0" animBg="1"/>
      <p:bldP spid="16" grpId="0" animBg="1"/>
      <p:bldP spid="17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defTabSz="914400" eaLnBrk="1" latinLnBrk="0" hangingPunct="1">
              <a:spcBef>
                <a:spcPct val="0"/>
              </a:spcBef>
              <a:buNone/>
            </a:pPr>
            <a:r>
              <a:rPr lang="he-IL"/>
              <a:t>פעולות על מילון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- 234122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539554" y="1178322"/>
            <a:ext cx="793583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he-IL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/>
              <a:t>גישה לאיבר: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110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/>
              <a:t>השמה לאיבר: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/>
              <a:t>הוספת איבר: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/>
              <a:t>הסרת איבר: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/>
              <a:t>בדיקה</a:t>
            </a:r>
            <a:r>
              <a:rPr lang="en-US"/>
              <a:t> </a:t>
            </a:r>
            <a:r>
              <a:rPr lang="he-IL"/>
              <a:t>האם</a:t>
            </a:r>
            <a:br>
              <a:rPr lang="en-US"/>
            </a:br>
            <a:r>
              <a:rPr lang="he-IL"/>
              <a:t>מפתח מופיע : </a:t>
            </a:r>
          </a:p>
          <a:p>
            <a:pPr algn="r" defTabSz="914400" eaLnBrk="1" latinLnBrk="0" hangingPunct="1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8549A0-E6DA-F248-92B8-DA2CFA4910E5}"/>
              </a:ext>
            </a:extLst>
          </p:cNvPr>
          <p:cNvSpPr/>
          <p:nvPr/>
        </p:nvSpPr>
        <p:spPr>
          <a:xfrm>
            <a:off x="645990" y="1348151"/>
            <a:ext cx="5880070" cy="3526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d = {'one': 1, 'two': 2, 'three': 3}</a:t>
            </a:r>
            <a:endParaRPr lang="en-US" sz="1500">
              <a:solidFill>
                <a:schemeClr val="tx2"/>
              </a:solidFill>
              <a:latin typeface="Consolas" pitchFamily="49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304800" y="1621417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902623-21CE-2240-922E-9541D1127B6F}"/>
              </a:ext>
            </a:extLst>
          </p:cNvPr>
          <p:cNvSpPr/>
          <p:nvPr/>
        </p:nvSpPr>
        <p:spPr>
          <a:xfrm>
            <a:off x="631034" y="1864411"/>
            <a:ext cx="5897032" cy="5473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d['two']</a:t>
            </a:r>
          </a:p>
          <a:p>
            <a:pPr marL="57150" algn="l" rtl="0"/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2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902623-21CE-2240-922E-9541D1127B6F}"/>
              </a:ext>
            </a:extLst>
          </p:cNvPr>
          <p:cNvSpPr/>
          <p:nvPr/>
        </p:nvSpPr>
        <p:spPr>
          <a:xfrm>
            <a:off x="655912" y="2564904"/>
            <a:ext cx="5868818" cy="8202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d['two'] = [2]</a:t>
            </a:r>
          </a:p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print(d)</a:t>
            </a:r>
          </a:p>
          <a:p>
            <a:pPr marL="57150" algn="l" rtl="0"/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{'one': 1, 'two': [2], 'three': 3}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902623-21CE-2240-922E-9541D1127B6F}"/>
              </a:ext>
            </a:extLst>
          </p:cNvPr>
          <p:cNvSpPr/>
          <p:nvPr/>
        </p:nvSpPr>
        <p:spPr>
          <a:xfrm>
            <a:off x="631034" y="3555731"/>
            <a:ext cx="5895026" cy="6653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d['four'] = 'quattro'</a:t>
            </a:r>
          </a:p>
          <a:p>
            <a:pPr marL="57150" algn="l" rtl="0"/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{'one': 1, 'four': 'quattro', 'two': [2], 'three': 3}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902623-21CE-2240-922E-9541D1127B6F}"/>
              </a:ext>
            </a:extLst>
          </p:cNvPr>
          <p:cNvSpPr/>
          <p:nvPr/>
        </p:nvSpPr>
        <p:spPr>
          <a:xfrm>
            <a:off x="655912" y="4365104"/>
            <a:ext cx="5868818" cy="6165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del d['two']</a:t>
            </a:r>
          </a:p>
          <a:p>
            <a:pPr marL="57150" algn="l" rtl="0"/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{'one': 1, 'four': 'quattro', 'three': 3}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902623-21CE-2240-922E-9541D1127B6F}"/>
              </a:ext>
            </a:extLst>
          </p:cNvPr>
          <p:cNvSpPr/>
          <p:nvPr/>
        </p:nvSpPr>
        <p:spPr>
          <a:xfrm>
            <a:off x="655912" y="5106019"/>
            <a:ext cx="5868818" cy="6165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'four' in d</a:t>
            </a:r>
          </a:p>
          <a:p>
            <a:pPr marL="57150" algn="l" rtl="0"/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True</a:t>
            </a: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9707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defTabSz="914400" eaLnBrk="1" latinLnBrk="0" hangingPunct="1">
              <a:spcBef>
                <a:spcPct val="0"/>
              </a:spcBef>
              <a:buNone/>
            </a:pPr>
            <a:r>
              <a:rPr lang="en-US"/>
              <a:t>for</a:t>
            </a:r>
            <a:r>
              <a:rPr lang="he-IL"/>
              <a:t> על מילון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- 234122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668614" y="1171602"/>
            <a:ext cx="793583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הפונקציות</a:t>
            </a:r>
            <a:r>
              <a:rPr lang="en-US" dirty="0">
                <a:latin typeface="Consolas" pitchFamily="49" charset="0"/>
              </a:rPr>
              <a:t>keys(), values(), items() </a:t>
            </a:r>
            <a:r>
              <a:rPr lang="he-IL" dirty="0">
                <a:latin typeface="Consolas" pitchFamily="49" charset="0"/>
              </a:rPr>
              <a:t> מחזירות </a:t>
            </a:r>
            <a:r>
              <a:rPr lang="en-US" dirty="0" err="1">
                <a:latin typeface="Consolas" pitchFamily="49" charset="0"/>
              </a:rPr>
              <a:t>iterables</a:t>
            </a:r>
            <a:r>
              <a:rPr lang="he-IL" dirty="0">
                <a:latin typeface="Consolas" pitchFamily="49" charset="0"/>
              </a:rPr>
              <a:t> של מפתחות, ערכים, וזוגות (מפתח, ערך) בהתאמה.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ניתן להשתמש ב-</a:t>
            </a:r>
            <a:r>
              <a:rPr lang="en-US" dirty="0">
                <a:latin typeface="Consolas" pitchFamily="49" charset="0"/>
              </a:rPr>
              <a:t>for</a:t>
            </a:r>
            <a:r>
              <a:rPr lang="he-IL" dirty="0">
                <a:latin typeface="Consolas" pitchFamily="49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איטרציה על המילון עצמו שקולה לאיטרציה על </a:t>
            </a:r>
            <a:r>
              <a:rPr lang="en-US" dirty="0" err="1"/>
              <a:t>d.keys</a:t>
            </a:r>
            <a:r>
              <a:rPr lang="en-US" dirty="0"/>
              <a:t>()</a:t>
            </a:r>
            <a:endParaRPr lang="he-I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סדר ההדפסה / החזרה של האיברים עלול להשתנות לאחר כל שינוי במילון!</a:t>
            </a:r>
          </a:p>
          <a:p>
            <a:pPr algn="r" defTabSz="914400" eaLnBrk="1" latinLnBrk="0" hangingPunct="1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8549A0-E6DA-F248-92B8-DA2CFA4910E5}"/>
              </a:ext>
            </a:extLst>
          </p:cNvPr>
          <p:cNvSpPr/>
          <p:nvPr/>
        </p:nvSpPr>
        <p:spPr>
          <a:xfrm>
            <a:off x="668614" y="2120732"/>
            <a:ext cx="7575794" cy="3721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d = {'C': 'cookie', 'B': 'Big bite', 'A': 'Apple'}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8549A0-E6DA-F248-92B8-DA2CFA4910E5}"/>
              </a:ext>
            </a:extLst>
          </p:cNvPr>
          <p:cNvSpPr/>
          <p:nvPr/>
        </p:nvSpPr>
        <p:spPr>
          <a:xfrm>
            <a:off x="668614" y="2609569"/>
            <a:ext cx="4727224" cy="13124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for k in </a:t>
            </a:r>
            <a:r>
              <a:rPr lang="en-US" sz="1500" err="1">
                <a:solidFill>
                  <a:schemeClr val="tx1"/>
                </a:solidFill>
                <a:latin typeface="Consolas" pitchFamily="49" charset="0"/>
              </a:rPr>
              <a:t>d.keys</a:t>
            </a:r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(): </a:t>
            </a:r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# also "for k in d:" </a:t>
            </a:r>
          </a:p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    print(k)</a:t>
            </a:r>
          </a:p>
          <a:p>
            <a:pPr marL="57150" algn="l" rtl="0"/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C</a:t>
            </a:r>
          </a:p>
          <a:p>
            <a:pPr marL="57150" algn="l" rtl="0"/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B</a:t>
            </a:r>
          </a:p>
          <a:p>
            <a:pPr marL="57150" algn="l" rtl="0"/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A</a:t>
            </a:r>
            <a:endParaRPr lang="en-US" sz="1500">
              <a:solidFill>
                <a:schemeClr val="tx1"/>
              </a:solidFill>
              <a:latin typeface="Consolas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8549A0-E6DA-F248-92B8-DA2CFA4910E5}"/>
              </a:ext>
            </a:extLst>
          </p:cNvPr>
          <p:cNvSpPr/>
          <p:nvPr/>
        </p:nvSpPr>
        <p:spPr>
          <a:xfrm>
            <a:off x="5644182" y="2627534"/>
            <a:ext cx="2600226" cy="13124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for v in </a:t>
            </a:r>
            <a:r>
              <a:rPr lang="en-US" sz="1500" err="1">
                <a:solidFill>
                  <a:schemeClr val="tx1"/>
                </a:solidFill>
                <a:latin typeface="Consolas" pitchFamily="49" charset="0"/>
              </a:rPr>
              <a:t>d.values</a:t>
            </a:r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():</a:t>
            </a:r>
          </a:p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    print(v)</a:t>
            </a:r>
          </a:p>
          <a:p>
            <a:pPr marL="57150" algn="l" rtl="0"/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cookie</a:t>
            </a:r>
          </a:p>
          <a:p>
            <a:pPr marL="57150" algn="l" rtl="0"/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Big bite</a:t>
            </a:r>
          </a:p>
          <a:p>
            <a:pPr marL="57150" algn="l" rtl="0"/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Apple</a:t>
            </a:r>
            <a:endParaRPr lang="en-US" sz="1500">
              <a:solidFill>
                <a:schemeClr val="tx1"/>
              </a:solidFill>
              <a:latin typeface="Consolas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8549A0-E6DA-F248-92B8-DA2CFA4910E5}"/>
              </a:ext>
            </a:extLst>
          </p:cNvPr>
          <p:cNvSpPr/>
          <p:nvPr/>
        </p:nvSpPr>
        <p:spPr>
          <a:xfrm>
            <a:off x="2637819" y="4074641"/>
            <a:ext cx="3637384" cy="13124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for k, v in </a:t>
            </a:r>
            <a:r>
              <a:rPr lang="en-US" sz="1500" err="1">
                <a:solidFill>
                  <a:schemeClr val="tx1"/>
                </a:solidFill>
                <a:latin typeface="Consolas" pitchFamily="49" charset="0"/>
              </a:rPr>
              <a:t>d.items</a:t>
            </a:r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():</a:t>
            </a:r>
          </a:p>
          <a:p>
            <a:pPr marL="57150" algn="l" rtl="0"/>
            <a:r>
              <a:rPr lang="en-US" sz="1500">
                <a:solidFill>
                  <a:schemeClr val="tx1"/>
                </a:solidFill>
                <a:latin typeface="Consolas" pitchFamily="49" charset="0"/>
              </a:rPr>
              <a:t>&gt;     print(k + ' is for ' + v)</a:t>
            </a:r>
          </a:p>
          <a:p>
            <a:pPr marL="57150" algn="l" rtl="0"/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C is for cookie</a:t>
            </a:r>
          </a:p>
          <a:p>
            <a:pPr marL="57150" algn="l" rtl="0"/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B is for Big bite</a:t>
            </a:r>
          </a:p>
          <a:p>
            <a:pPr marL="57150" algn="l" rtl="0"/>
            <a:r>
              <a:rPr lang="en-US" sz="1500">
                <a:solidFill>
                  <a:schemeClr val="tx2"/>
                </a:solidFill>
                <a:latin typeface="Consolas" pitchFamily="49" charset="0"/>
              </a:rPr>
              <a:t>A is for Apple</a:t>
            </a:r>
            <a:endParaRPr lang="en-US" sz="1500">
              <a:solidFill>
                <a:schemeClr val="tx1"/>
              </a:solidFill>
              <a:latin typeface="Consolas" pitchFamily="49" charset="0"/>
            </a:endParaRPr>
          </a:p>
        </p:txBody>
      </p:sp>
      <p:sp>
        <p:nvSpPr>
          <p:cNvPr id="12" name="Rectangular Callout 7">
            <a:extLst>
              <a:ext uri="{FF2B5EF4-FFF2-40B4-BE49-F238E27FC236}">
                <a16:creationId xmlns:a16="http://schemas.microsoft.com/office/drawing/2014/main" id="{49E645D0-CF4E-48F3-AE0E-0386EE6AAB15}"/>
              </a:ext>
            </a:extLst>
          </p:cNvPr>
          <p:cNvSpPr/>
          <p:nvPr/>
        </p:nvSpPr>
        <p:spPr>
          <a:xfrm>
            <a:off x="6472018" y="4121441"/>
            <a:ext cx="2095500" cy="812684"/>
          </a:xfrm>
          <a:prstGeom prst="wedgeRectCallout">
            <a:avLst>
              <a:gd name="adj1" fmla="val -103804"/>
              <a:gd name="adj2" fmla="val -33065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500" dirty="0"/>
              <a:t>כל איבר ב-</a:t>
            </a:r>
            <a:r>
              <a:rPr lang="en-US" sz="1500" dirty="0" err="1"/>
              <a:t>d.items</a:t>
            </a:r>
            <a:r>
              <a:rPr lang="en-US" sz="1500" dirty="0"/>
              <a:t>()</a:t>
            </a:r>
            <a:r>
              <a:rPr lang="he-IL" sz="1500" dirty="0"/>
              <a:t> הוא זוג (</a:t>
            </a:r>
            <a:r>
              <a:rPr lang="en-US" sz="1500" dirty="0"/>
              <a:t>tuple</a:t>
            </a:r>
            <a:r>
              <a:rPr lang="he-IL" sz="1500" dirty="0"/>
              <a:t>) של מפתח וערך</a:t>
            </a:r>
          </a:p>
        </p:txBody>
      </p:sp>
    </p:spTree>
    <p:extLst>
      <p:ext uri="{BB962C8B-B14F-4D97-AF65-F5344CB8AC3E}">
        <p14:creationId xmlns:p14="http://schemas.microsoft.com/office/powerpoint/2010/main" val="21529064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5" grpId="0" animBg="1"/>
      <p:bldP spid="16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rtl="0"/>
            <a:r>
              <a:rPr lang="en-US" dirty="0"/>
              <a:t>dictionary</a:t>
            </a:r>
            <a:r>
              <a:rPr lang="en-US"/>
              <a:t> comprehensions</a:t>
            </a:r>
            <a:br>
              <a:rPr lang="en-US">
                <a:effectLst/>
              </a:rPr>
            </a:b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- 234122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622548" y="1201089"/>
            <a:ext cx="8229600" cy="4524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/>
              </a:rPr>
              <a:t>מנגנון לייצר מילון על ידי הפעלת חישוב על כל איבר בסדרת איברים קיימת.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/>
              </a:rPr>
              <a:t>דומה מאוד ל-</a:t>
            </a:r>
            <a:r>
              <a:rPr lang="en-US" dirty="0">
                <a:latin typeface="Consolas"/>
              </a:rPr>
              <a:t>list comprehensions</a:t>
            </a:r>
            <a:r>
              <a:rPr lang="he-IL" dirty="0">
                <a:latin typeface="Consolas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/>
              </a:rPr>
              <a:t>מנגנון זה מורכב מהחלקים הבאים:</a:t>
            </a:r>
          </a:p>
          <a:p>
            <a:endParaRPr lang="he-IL" dirty="0">
              <a:latin typeface="Consola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/>
              </a:rPr>
              <a:t>קלט: איברי מילון/רשימה קיימת (או באופן כללי אובייקט iterable)</a:t>
            </a:r>
            <a:endParaRPr lang="he-IL" dirty="0">
              <a:latin typeface="Consolas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/>
              </a:rPr>
              <a:t>שם משתנה: המשתנה (או המשתנים) שיקבלו את האיברים בזה אחר זה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/>
              </a:rPr>
              <a:t>ביטוי תנאי (אופציונלי): קובע אילו איברים מהקלט הנוכחי ייכללו</a:t>
            </a:r>
            <a:endParaRPr lang="he-IL" dirty="0">
              <a:latin typeface="Consolas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/>
              </a:rPr>
              <a:t>ביטוי פלט מהצורה </a:t>
            </a:r>
            <a:r>
              <a:rPr lang="en-US" dirty="0">
                <a:latin typeface="Consolas"/>
              </a:rPr>
              <a:t>key: value</a:t>
            </a:r>
            <a:r>
              <a:rPr lang="he-IL" dirty="0">
                <a:latin typeface="Consolas"/>
              </a:rPr>
              <a:t> שמתאר את המפתח והערך שלו (יכולים</a:t>
            </a:r>
            <a:br>
              <a:rPr lang="en-US" dirty="0">
                <a:latin typeface="Consolas"/>
              </a:rPr>
            </a:br>
            <a:r>
              <a:rPr lang="he-IL" dirty="0">
                <a:latin typeface="Consolas"/>
              </a:rPr>
              <a:t>להיות תוצאת חישוב)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/>
              </a:rPr>
              <a:t>דוגמה: יצירת מילון חדש ע"י העלאה בריבוע של כל מספר שלם ברשימה נתונה:</a:t>
            </a:r>
          </a:p>
          <a:p>
            <a:endParaRPr lang="he-IL" dirty="0">
              <a:latin typeface="Consolas" pitchFamily="49" charset="0"/>
            </a:endParaRPr>
          </a:p>
          <a:p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r" defTabSz="914400" eaLnBrk="1" latinLnBrk="0" hangingPunct="1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9125A8-9F4B-4110-912B-25696006124E}"/>
              </a:ext>
            </a:extLst>
          </p:cNvPr>
          <p:cNvSpPr/>
          <p:nvPr/>
        </p:nvSpPr>
        <p:spPr>
          <a:xfrm>
            <a:off x="739036" y="4638325"/>
            <a:ext cx="7503090" cy="761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ctr" defTabSz="914400" rtl="0" eaLnBrk="1" latinLnBrk="0" hangingPunct="1">
              <a:buNone/>
            </a:pPr>
            <a:endParaRPr lang="en-US" sz="1500" dirty="0">
              <a:solidFill>
                <a:schemeClr val="tx2"/>
              </a:solidFill>
              <a:latin typeface="Consolas" pitchFamily="49" charset="0"/>
            </a:endParaRPr>
          </a:p>
          <a:p>
            <a:pPr marL="57150" algn="ctr" rtl="0"/>
            <a:r>
              <a:rPr lang="en-US" b="1" dirty="0">
                <a:solidFill>
                  <a:schemeClr val="tx1"/>
                </a:solidFill>
                <a:latin typeface="Consolas"/>
              </a:rPr>
              <a:t>{</a:t>
            </a:r>
            <a:r>
              <a:rPr lang="en-US" b="1" dirty="0" err="1">
                <a:solidFill>
                  <a:schemeClr val="tx1"/>
                </a:solidFill>
                <a:latin typeface="Consolas"/>
              </a:rPr>
              <a:t>elem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:</a:t>
            </a:r>
            <a:r>
              <a:rPr lang="he-IL" b="1" dirty="0">
                <a:solidFill>
                  <a:schemeClr val="tx1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nsolas"/>
              </a:rPr>
              <a:t>elem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**2 for </a:t>
            </a:r>
            <a:r>
              <a:rPr lang="en-US" b="1" dirty="0" err="1">
                <a:solidFill>
                  <a:schemeClr val="tx1"/>
                </a:solidFill>
                <a:latin typeface="Consolas"/>
              </a:rPr>
              <a:t>elem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 in </a:t>
            </a:r>
            <a:r>
              <a:rPr lang="en-US" b="1" dirty="0" err="1">
                <a:solidFill>
                  <a:schemeClr val="tx1"/>
                </a:solidFill>
                <a:latin typeface="Consolas"/>
              </a:rPr>
              <a:t>a_list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 if type(</a:t>
            </a:r>
            <a:r>
              <a:rPr lang="en-US" b="1" dirty="0" err="1">
                <a:solidFill>
                  <a:schemeClr val="tx1"/>
                </a:solidFill>
                <a:latin typeface="Consolas"/>
              </a:rPr>
              <a:t>elem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) is int}</a:t>
            </a:r>
          </a:p>
          <a:p>
            <a:pPr marL="57150" indent="0" algn="ctr" defTabSz="914400" rtl="0" eaLnBrk="1" latinLnBrk="0" hangingPunct="1">
              <a:buNone/>
            </a:pPr>
            <a:endParaRPr lang="en-US" sz="1500" dirty="0">
              <a:solidFill>
                <a:srgbClr val="00B050"/>
              </a:solidFill>
              <a:latin typeface="Consolas" pitchFamily="49" charset="0"/>
            </a:endParaRPr>
          </a:p>
          <a:p>
            <a:pPr marL="57150" indent="0" algn="ctr" defTabSz="914400" rtl="0" eaLnBrk="1" latinLnBrk="0" hangingPunct="1">
              <a:buNone/>
            </a:pPr>
            <a:endParaRPr lang="en-US" sz="1500" dirty="0">
              <a:solidFill>
                <a:schemeClr val="tx1"/>
              </a:solidFill>
              <a:latin typeface="Consolas" pitchFamily="49" charset="0"/>
            </a:endParaRPr>
          </a:p>
          <a:p>
            <a:pPr marL="57150" indent="0" algn="ctr" defTabSz="914400" rtl="0" eaLnBrk="1" latinLnBrk="0" hangingPunct="1">
              <a:buNone/>
            </a:pPr>
            <a:endParaRPr lang="en-US" sz="1500" dirty="0">
              <a:solidFill>
                <a:schemeClr val="tx2"/>
              </a:solidFill>
              <a:latin typeface="Consolas" pitchFamily="49" charset="0"/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E2306EAE-6688-4878-87F0-0CA00D21B7D9}"/>
              </a:ext>
            </a:extLst>
          </p:cNvPr>
          <p:cNvSpPr/>
          <p:nvPr/>
        </p:nvSpPr>
        <p:spPr>
          <a:xfrm rot="16200000">
            <a:off x="1799816" y="4664063"/>
            <a:ext cx="444611" cy="1517306"/>
          </a:xfrm>
          <a:prstGeom prst="lef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A0F10-0944-4497-81B4-A0E3D617B42B}"/>
              </a:ext>
            </a:extLst>
          </p:cNvPr>
          <p:cNvSpPr txBox="1"/>
          <p:nvPr/>
        </p:nvSpPr>
        <p:spPr>
          <a:xfrm>
            <a:off x="1384434" y="5708852"/>
            <a:ext cx="124780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he-IL"/>
              <a:t>ביטוי פלט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E20872-CA2B-42D2-96AE-5B7CC01E923E}"/>
              </a:ext>
            </a:extLst>
          </p:cNvPr>
          <p:cNvSpPr txBox="1"/>
          <p:nvPr/>
        </p:nvSpPr>
        <p:spPr>
          <a:xfrm>
            <a:off x="3019231" y="5694949"/>
            <a:ext cx="133816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he-IL" dirty="0"/>
              <a:t>שם משתנה</a:t>
            </a:r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8E0099-A790-419A-8D60-0176BA3EB7DF}"/>
              </a:ext>
            </a:extLst>
          </p:cNvPr>
          <p:cNvCxnSpPr>
            <a:cxnSpLocks/>
          </p:cNvCxnSpPr>
          <p:nvPr/>
        </p:nvCxnSpPr>
        <p:spPr>
          <a:xfrm flipV="1">
            <a:off x="3688315" y="5203199"/>
            <a:ext cx="0" cy="557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E1F73BF3-CC0D-45E3-9D5A-74CB70755815}"/>
              </a:ext>
            </a:extLst>
          </p:cNvPr>
          <p:cNvSpPr/>
          <p:nvPr/>
        </p:nvSpPr>
        <p:spPr>
          <a:xfrm rot="16200000">
            <a:off x="4590828" y="5118789"/>
            <a:ext cx="444611" cy="707706"/>
          </a:xfrm>
          <a:prstGeom prst="leftBrace">
            <a:avLst>
              <a:gd name="adj1" fmla="val 8333"/>
              <a:gd name="adj2" fmla="val 48239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D65105-AADD-473C-9999-FC84BF05DE11}"/>
              </a:ext>
            </a:extLst>
          </p:cNvPr>
          <p:cNvSpPr txBox="1"/>
          <p:nvPr/>
        </p:nvSpPr>
        <p:spPr>
          <a:xfrm>
            <a:off x="4078819" y="5708852"/>
            <a:ext cx="1439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dirty="0"/>
              <a:t>רשימת</a:t>
            </a:r>
            <a:br>
              <a:rPr lang="en-US" dirty="0"/>
            </a:br>
            <a:r>
              <a:rPr lang="he-IL" dirty="0"/>
              <a:t>קלט</a:t>
            </a:r>
            <a:endParaRPr lang="en-US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D3667D02-CB1E-4775-816C-68D95CA81EF9}"/>
              </a:ext>
            </a:extLst>
          </p:cNvPr>
          <p:cNvSpPr/>
          <p:nvPr/>
        </p:nvSpPr>
        <p:spPr>
          <a:xfrm rot="16200000">
            <a:off x="6529211" y="4401087"/>
            <a:ext cx="450908" cy="2073057"/>
          </a:xfrm>
          <a:prstGeom prst="leftBrace">
            <a:avLst>
              <a:gd name="adj1" fmla="val 8333"/>
              <a:gd name="adj2" fmla="val 48239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13DC5D-DF97-417D-9F52-EC9E07AFAE91}"/>
              </a:ext>
            </a:extLst>
          </p:cNvPr>
          <p:cNvSpPr txBox="1"/>
          <p:nvPr/>
        </p:nvSpPr>
        <p:spPr>
          <a:xfrm>
            <a:off x="5653275" y="5732842"/>
            <a:ext cx="216819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he-IL"/>
              <a:t>ביטוי תנאי (אופציונלי)</a:t>
            </a:r>
            <a:endParaRPr lang="en-US"/>
          </a:p>
        </p:txBody>
      </p:sp>
      <p:sp>
        <p:nvSpPr>
          <p:cNvPr id="19" name="Rectangular Callout 7">
            <a:extLst>
              <a:ext uri="{FF2B5EF4-FFF2-40B4-BE49-F238E27FC236}">
                <a16:creationId xmlns:a16="http://schemas.microsoft.com/office/drawing/2014/main" id="{038DFF40-4337-4A48-BF18-08314DAADB48}"/>
              </a:ext>
            </a:extLst>
          </p:cNvPr>
          <p:cNvSpPr/>
          <p:nvPr/>
        </p:nvSpPr>
        <p:spPr>
          <a:xfrm>
            <a:off x="201250" y="3746612"/>
            <a:ext cx="1843870" cy="487327"/>
          </a:xfrm>
          <a:prstGeom prst="wedgeRectCallout">
            <a:avLst>
              <a:gd name="adj1" fmla="val -3"/>
              <a:gd name="adj2" fmla="val 163343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500"/>
              <a:t>שימו לב לסוגריים המסולסלים</a:t>
            </a:r>
          </a:p>
        </p:txBody>
      </p:sp>
    </p:spTree>
    <p:extLst>
      <p:ext uri="{BB962C8B-B14F-4D97-AF65-F5344CB8AC3E}">
        <p14:creationId xmlns:p14="http://schemas.microsoft.com/office/powerpoint/2010/main" val="29179804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6642"/>
            <a:ext cx="8229600" cy="1143000"/>
          </a:xfrm>
        </p:spPr>
        <p:txBody>
          <a:bodyPr>
            <a:normAutofit fontScale="90000"/>
          </a:bodyPr>
          <a:lstStyle/>
          <a:p>
            <a:pPr rtl="0"/>
            <a:r>
              <a:rPr lang="en-US" dirty="0"/>
              <a:t>dictionary comprehensions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- 234122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604082" y="1019622"/>
            <a:ext cx="79358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ניתן להשתמש ב-</a:t>
            </a:r>
            <a:r>
              <a:rPr lang="en-US" dirty="0">
                <a:latin typeface="Consolas" pitchFamily="49" charset="0"/>
              </a:rPr>
              <a:t>dictionary comprehension</a:t>
            </a:r>
            <a:r>
              <a:rPr lang="he-IL" dirty="0">
                <a:latin typeface="Consolas" pitchFamily="49" charset="0"/>
              </a:rPr>
              <a:t> גם עם מילון קלט, למשל: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מתבצע תהליך איטרטיבי בו בכל איטרציה, משתני הלולאה </a:t>
            </a:r>
            <a:r>
              <a:rPr lang="en-US" dirty="0">
                <a:latin typeface="Consolas" pitchFamily="49" charset="0"/>
              </a:rPr>
              <a:t>key, </a:t>
            </a:r>
            <a:r>
              <a:rPr lang="en-US" dirty="0" err="1">
                <a:latin typeface="Consolas" pitchFamily="49" charset="0"/>
              </a:rPr>
              <a:t>val</a:t>
            </a:r>
            <a:r>
              <a:rPr lang="he-IL" dirty="0">
                <a:latin typeface="Consolas" pitchFamily="49" charset="0"/>
              </a:rPr>
              <a:t> מקבלים ערכים אחרים מתוך המילון (זוג של מפתח + ערך תואמים)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מילון הפלט מתקבל על ידי המפתח המקורי והערך </a:t>
            </a:r>
            <a:r>
              <a:rPr lang="en-US" dirty="0" err="1">
                <a:latin typeface="Consolas" pitchFamily="49" charset="0"/>
              </a:rPr>
              <a:t>val.lower</a:t>
            </a:r>
            <a:r>
              <a:rPr lang="en-US" dirty="0">
                <a:latin typeface="Consolas" pitchFamily="49" charset="0"/>
              </a:rPr>
              <a:t>()</a:t>
            </a:r>
            <a:r>
              <a:rPr lang="he-IL" dirty="0">
                <a:latin typeface="Consolas" pitchFamily="49" charset="0"/>
              </a:rPr>
              <a:t> שממופה אליו</a:t>
            </a:r>
          </a:p>
          <a:p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דוגמה נוספת:</a:t>
            </a:r>
          </a:p>
          <a:p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r" defTabSz="914400" eaLnBrk="1" latinLnBrk="0" hangingPunct="1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5872A3-6181-47E8-94EC-054CA87C1497}"/>
              </a:ext>
            </a:extLst>
          </p:cNvPr>
          <p:cNvSpPr/>
          <p:nvPr/>
        </p:nvSpPr>
        <p:spPr>
          <a:xfrm>
            <a:off x="716688" y="1464665"/>
            <a:ext cx="7672592" cy="1328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 dirty="0" err="1">
                <a:solidFill>
                  <a:schemeClr val="tx1"/>
                </a:solidFill>
                <a:latin typeface="Consolas"/>
              </a:rPr>
              <a:t>a_dict</a:t>
            </a:r>
            <a:r>
              <a:rPr lang="en-US" sz="1500" dirty="0">
                <a:solidFill>
                  <a:schemeClr val="tx1"/>
                </a:solidFill>
                <a:latin typeface="Consolas"/>
              </a:rPr>
              <a:t> = {'a': 'Alfa', 'b': 'Bravo', 'c': 'Charlie', 'd': 'Delta'}</a:t>
            </a:r>
          </a:p>
          <a:p>
            <a:pPr marL="57150" indent="0" algn="l" defTabSz="914400" rtl="0" eaLnBrk="1" latinLnBrk="0" hangingPunct="1">
              <a:buNone/>
            </a:pPr>
            <a:endParaRPr lang="en-US" sz="1500" dirty="0">
              <a:solidFill>
                <a:schemeClr val="tx2"/>
              </a:solidFill>
              <a:latin typeface="Consolas" pitchFamily="49" charset="0"/>
            </a:endParaRP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/>
              </a:rPr>
              <a:t>result = {letter: </a:t>
            </a:r>
            <a:r>
              <a:rPr lang="en-US" sz="1500" dirty="0" err="1">
                <a:solidFill>
                  <a:schemeClr val="tx1"/>
                </a:solidFill>
                <a:latin typeface="Consolas"/>
              </a:rPr>
              <a:t>code.lower</a:t>
            </a:r>
            <a:r>
              <a:rPr lang="en-US" sz="1500" dirty="0">
                <a:solidFill>
                  <a:schemeClr val="tx1"/>
                </a:solidFill>
                <a:latin typeface="Consolas"/>
              </a:rPr>
              <a:t>() for (letter, code) in </a:t>
            </a:r>
            <a:r>
              <a:rPr lang="en-US" sz="1500" dirty="0" err="1">
                <a:solidFill>
                  <a:schemeClr val="tx1"/>
                </a:solidFill>
                <a:latin typeface="Consolas"/>
              </a:rPr>
              <a:t>a_dict.items</a:t>
            </a:r>
            <a:r>
              <a:rPr lang="en-US" sz="1500" dirty="0">
                <a:solidFill>
                  <a:schemeClr val="tx1"/>
                </a:solidFill>
                <a:latin typeface="Consolas"/>
              </a:rPr>
              <a:t>()}</a:t>
            </a:r>
            <a:endParaRPr lang="en-US" sz="1500" b="1" dirty="0">
              <a:solidFill>
                <a:schemeClr val="tx1"/>
              </a:solidFill>
              <a:latin typeface="Consolas"/>
            </a:endParaRPr>
          </a:p>
          <a:p>
            <a:pPr marL="57150" indent="0" algn="l" defTabSz="914400" rtl="0" eaLnBrk="1" latinLnBrk="0" hangingPunct="1">
              <a:buNone/>
            </a:pPr>
            <a:endParaRPr lang="en-US" sz="1500" dirty="0">
              <a:solidFill>
                <a:srgbClr val="00B050"/>
              </a:solidFill>
              <a:latin typeface="Consolas" pitchFamily="49" charset="0"/>
            </a:endParaRPr>
          </a:p>
          <a:p>
            <a:pPr marL="57150" algn="l" rtl="0"/>
            <a:r>
              <a:rPr lang="en-US" sz="1500" dirty="0">
                <a:solidFill>
                  <a:srgbClr val="00B050"/>
                </a:solidFill>
                <a:latin typeface="Consolas" pitchFamily="49" charset="0"/>
              </a:rPr>
              <a:t>&gt; {'a': 'alfa', 'b': 'bravo', 'c': '</a:t>
            </a:r>
            <a:r>
              <a:rPr lang="en-US" sz="1500" dirty="0" err="1">
                <a:solidFill>
                  <a:srgbClr val="00B050"/>
                </a:solidFill>
                <a:latin typeface="Consolas" pitchFamily="49" charset="0"/>
              </a:rPr>
              <a:t>charlie</a:t>
            </a:r>
            <a:r>
              <a:rPr lang="en-US" sz="1500" dirty="0">
                <a:solidFill>
                  <a:srgbClr val="00B050"/>
                </a:solidFill>
                <a:latin typeface="Consolas" pitchFamily="49" charset="0"/>
              </a:rPr>
              <a:t>', 'd': 'delta'}</a:t>
            </a:r>
            <a:endParaRPr lang="en-US" sz="1500" dirty="0">
              <a:solidFill>
                <a:schemeClr val="tx1"/>
              </a:solidFill>
              <a:latin typeface="Consolas" pitchFamily="49" charset="0"/>
            </a:endParaRPr>
          </a:p>
          <a:p>
            <a:pPr marL="57150" indent="0" algn="l" defTabSz="914400" rtl="0" eaLnBrk="1" latinLnBrk="0" hangingPunct="1">
              <a:buNone/>
            </a:pPr>
            <a:endParaRPr lang="en-US" sz="1500" dirty="0">
              <a:solidFill>
                <a:schemeClr val="tx2"/>
              </a:solidFill>
              <a:latin typeface="Consolas" pitchFamily="49" charset="0"/>
            </a:endParaRPr>
          </a:p>
        </p:txBody>
      </p:sp>
      <p:sp>
        <p:nvSpPr>
          <p:cNvPr id="11" name="Rectangular Callout 7">
            <a:extLst>
              <a:ext uri="{FF2B5EF4-FFF2-40B4-BE49-F238E27FC236}">
                <a16:creationId xmlns:a16="http://schemas.microsoft.com/office/drawing/2014/main" id="{5836A0D1-26B4-429A-AF56-BEB09A68D09B}"/>
              </a:ext>
            </a:extLst>
          </p:cNvPr>
          <p:cNvSpPr/>
          <p:nvPr/>
        </p:nvSpPr>
        <p:spPr>
          <a:xfrm>
            <a:off x="7234615" y="2309109"/>
            <a:ext cx="1843870" cy="383987"/>
          </a:xfrm>
          <a:prstGeom prst="wedgeRectCallout">
            <a:avLst>
              <a:gd name="adj1" fmla="val -114132"/>
              <a:gd name="adj2" fmla="val -58992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500" dirty="0"/>
              <a:t>הסוגריים אופציונליים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0A8CD3-3046-41D7-8826-A63ECFD5A4E5}"/>
              </a:ext>
            </a:extLst>
          </p:cNvPr>
          <p:cNvSpPr/>
          <p:nvPr/>
        </p:nvSpPr>
        <p:spPr>
          <a:xfrm>
            <a:off x="716689" y="4948200"/>
            <a:ext cx="7672592" cy="10613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/>
              </a:rPr>
              <a:t>result = {'-'+letter+'-': code for (letter, code) in </a:t>
            </a:r>
            <a:r>
              <a:rPr lang="en-US" sz="1500" dirty="0" err="1">
                <a:solidFill>
                  <a:schemeClr val="tx1"/>
                </a:solidFill>
                <a:latin typeface="Consolas"/>
              </a:rPr>
              <a:t>a_dict.items</a:t>
            </a:r>
            <a:r>
              <a:rPr lang="en-US" sz="1500" dirty="0">
                <a:solidFill>
                  <a:schemeClr val="tx1"/>
                </a:solidFill>
                <a:latin typeface="Consolas"/>
              </a:rPr>
              <a:t>()</a:t>
            </a: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/>
              </a:rPr>
              <a:t>                               if </a:t>
            </a:r>
            <a:r>
              <a:rPr lang="en-US" sz="1500" dirty="0" err="1">
                <a:solidFill>
                  <a:schemeClr val="tx1"/>
                </a:solidFill>
                <a:latin typeface="Consolas"/>
              </a:rPr>
              <a:t>len</a:t>
            </a:r>
            <a:r>
              <a:rPr lang="en-US" sz="1500" dirty="0">
                <a:solidFill>
                  <a:schemeClr val="tx1"/>
                </a:solidFill>
                <a:latin typeface="Consolas"/>
              </a:rPr>
              <a:t>(code) &gt;= 5}</a:t>
            </a:r>
          </a:p>
          <a:p>
            <a:pPr marL="57150" algn="l" rtl="0"/>
            <a:endParaRPr lang="en-US" sz="1500" dirty="0">
              <a:solidFill>
                <a:srgbClr val="00B050"/>
              </a:solidFill>
              <a:latin typeface="Consolas" pitchFamily="49" charset="0"/>
            </a:endParaRPr>
          </a:p>
          <a:p>
            <a:pPr marL="57150" algn="l" rtl="0"/>
            <a:r>
              <a:rPr lang="en-US" sz="1500" dirty="0">
                <a:solidFill>
                  <a:srgbClr val="00B050"/>
                </a:solidFill>
                <a:latin typeface="Consolas" pitchFamily="49" charset="0"/>
              </a:rPr>
              <a:t>&gt; {'-b-': 'Bravo', '-c-': 'Charlie', '-d-': 'Delta'}</a:t>
            </a:r>
          </a:p>
          <a:p>
            <a:pPr marL="57150" indent="0" algn="l" defTabSz="914400" rtl="0" eaLnBrk="1" latinLnBrk="0" hangingPunct="1">
              <a:buNone/>
            </a:pPr>
            <a:endParaRPr lang="en-US" sz="1500" dirty="0">
              <a:solidFill>
                <a:schemeClr val="tx1"/>
              </a:solidFill>
              <a:latin typeface="Consolas" pitchFamily="49" charset="0"/>
            </a:endParaRPr>
          </a:p>
          <a:p>
            <a:pPr marL="57150" indent="0" algn="l" defTabSz="914400" rtl="0" eaLnBrk="1" latinLnBrk="0" hangingPunct="1">
              <a:buNone/>
            </a:pPr>
            <a:endParaRPr lang="en-US" sz="1500" dirty="0">
              <a:solidFill>
                <a:schemeClr val="tx2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7328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1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defTabSz="914400" eaLnBrk="1" latinLnBrk="0" hangingPunct="1">
              <a:spcBef>
                <a:spcPct val="0"/>
              </a:spcBef>
              <a:buNone/>
            </a:pPr>
            <a:r>
              <a:rPr lang="he-IL"/>
              <a:t>פונקציות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15443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 defTabSz="914400" eaLnBrk="1" latinLnBrk="0" hangingPunct="1">
              <a:spcBef>
                <a:spcPct val="0"/>
              </a:spcBef>
              <a:buNone/>
            </a:pPr>
            <a:r>
              <a:rPr lang="he-IL"/>
              <a:t>פונקציות </a:t>
            </a:r>
            <a:r>
              <a:rPr lang="he-IL" err="1"/>
              <a:t>בפייתון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- 234122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916314" y="1201089"/>
            <a:ext cx="7935834" cy="67403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/>
              </a:rPr>
              <a:t>בפייתון מגדירים פונקציה באמצעות התבנית הבאה:</a:t>
            </a:r>
          </a:p>
          <a:p>
            <a:endParaRPr lang="he-IL" dirty="0">
              <a:latin typeface="Consolas" pitchFamily="49" charset="0"/>
            </a:endParaRPr>
          </a:p>
          <a:p>
            <a:pPr algn="l"/>
            <a:r>
              <a:rPr lang="en-US" dirty="0">
                <a:solidFill>
                  <a:srgbClr val="CC66FF"/>
                </a:solidFill>
                <a:latin typeface="Consolas"/>
              </a:rPr>
              <a:t>def </a:t>
            </a:r>
            <a:r>
              <a:rPr lang="en-US" dirty="0" err="1">
                <a:solidFill>
                  <a:srgbClr val="FFC000"/>
                </a:solidFill>
                <a:latin typeface="Consolas"/>
              </a:rPr>
              <a:t>function_name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>
                <a:solidFill>
                  <a:schemeClr val="accent3"/>
                </a:solidFill>
                <a:latin typeface="Consolas"/>
              </a:rPr>
              <a:t>arg1, arg2, ...</a:t>
            </a:r>
            <a:r>
              <a:rPr lang="en-US" dirty="0">
                <a:latin typeface="Consolas"/>
              </a:rPr>
              <a:t>)</a:t>
            </a:r>
            <a:r>
              <a:rPr lang="en-US" dirty="0">
                <a:solidFill>
                  <a:srgbClr val="CC66FF"/>
                </a:solidFill>
                <a:latin typeface="Consolas"/>
              </a:rPr>
              <a:t>:</a:t>
            </a:r>
          </a:p>
          <a:p>
            <a:pPr algn="l"/>
            <a:r>
              <a:rPr lang="en-US" dirty="0">
                <a:solidFill>
                  <a:srgbClr val="CC66FF"/>
                </a:solidFill>
                <a:latin typeface="Consolas"/>
              </a:rPr>
              <a:t>    </a:t>
            </a:r>
            <a:r>
              <a:rPr lang="en-US" dirty="0">
                <a:latin typeface="Consolas"/>
              </a:rPr>
              <a:t>statements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/>
              </a:rPr>
              <a:t>לא מגדירים את טיפוס ההחזרה של הפונקציה.</a:t>
            </a:r>
            <a:endParaRPr lang="he-I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לא מגדירים את טיפוסו של כל ארגומנט.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לא רושמים הכרזה של הפונקציה, אלא רק הגדרה ומימוש.</a:t>
            </a:r>
          </a:p>
          <a:p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ניתן להשתמש בפונקציה החל מהשורה שמתחת למימושה.</a:t>
            </a: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הפקודה </a:t>
            </a:r>
            <a:r>
              <a:rPr lang="en-US" dirty="0">
                <a:latin typeface="Consolas" pitchFamily="49" charset="0"/>
              </a:rPr>
              <a:t>pass</a:t>
            </a:r>
            <a:r>
              <a:rPr lang="he-IL" dirty="0">
                <a:latin typeface="Consolas" pitchFamily="49" charset="0"/>
              </a:rPr>
              <a:t> מציינת פקודה ריקה (שימושי לניפוי שגיאות)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ערך החזרה של פונקציה שלא מכילה פקודת </a:t>
            </a:r>
            <a:r>
              <a:rPr lang="en-US" dirty="0">
                <a:latin typeface="Consolas" pitchFamily="49" charset="0"/>
              </a:rPr>
              <a:t>return</a:t>
            </a:r>
            <a:r>
              <a:rPr lang="he-IL" dirty="0">
                <a:latin typeface="Consolas" pitchFamily="49" charset="0"/>
              </a:rPr>
              <a:t> הוא הקבוע </a:t>
            </a:r>
            <a:r>
              <a:rPr lang="en-US" dirty="0">
                <a:latin typeface="Consolas" pitchFamily="49" charset="0"/>
              </a:rPr>
              <a:t>None</a:t>
            </a: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800" dirty="0">
                <a:latin typeface="Consolas" panose="020B0609020204030204" pitchFamily="49" charset="0"/>
              </a:rPr>
              <a:t>בניגוד ל-</a:t>
            </a:r>
            <a:r>
              <a:rPr lang="en-US" sz="1800" dirty="0">
                <a:latin typeface="Consolas" panose="020B0609020204030204" pitchFamily="49" charset="0"/>
              </a:rPr>
              <a:t>C++</a:t>
            </a:r>
            <a:r>
              <a:rPr lang="he-IL" sz="1800" dirty="0">
                <a:latin typeface="Consolas" panose="020B0609020204030204" pitchFamily="49" charset="0"/>
              </a:rPr>
              <a:t>, בפייתון אין העמסת פונקציות.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r" defTabSz="914400" eaLnBrk="1" latinLnBrk="0" hangingPunct="1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06342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B1236CF-4226-4884-9716-5A33AF017BC8}"/>
              </a:ext>
            </a:extLst>
          </p:cNvPr>
          <p:cNvSpPr/>
          <p:nvPr/>
        </p:nvSpPr>
        <p:spPr>
          <a:xfrm>
            <a:off x="916314" y="1728075"/>
            <a:ext cx="4231637" cy="19436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def </a:t>
            </a:r>
            <a:r>
              <a:rPr lang="en-US" sz="1600" dirty="0" err="1">
                <a:solidFill>
                  <a:schemeClr val="tx1"/>
                </a:solidFill>
                <a:latin typeface="Consolas" pitchFamily="49" charset="0"/>
              </a:rPr>
              <a:t>sumTwo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(a, b):</a:t>
            </a:r>
          </a:p>
          <a:p>
            <a:pPr algn="l" rtl="0"/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    return a + b</a:t>
            </a:r>
          </a:p>
          <a:p>
            <a:pPr algn="l" rtl="0"/>
            <a:endParaRPr lang="en-US" sz="1600" dirty="0">
              <a:latin typeface="Consolas" pitchFamily="49" charset="0"/>
            </a:endParaRPr>
          </a:p>
          <a:p>
            <a:pPr algn="l" rtl="0"/>
            <a:r>
              <a:rPr lang="en-US" sz="1600" dirty="0" err="1">
                <a:solidFill>
                  <a:schemeClr val="tx1"/>
                </a:solidFill>
                <a:latin typeface="Consolas" pitchFamily="49" charset="0"/>
              </a:rPr>
              <a:t>sumTwo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(1,5)</a:t>
            </a:r>
          </a:p>
          <a:p>
            <a:pPr algn="l" rtl="0"/>
            <a:r>
              <a:rPr lang="en-US" sz="1600" dirty="0">
                <a:solidFill>
                  <a:schemeClr val="tx2"/>
                </a:solidFill>
                <a:latin typeface="Consolas" pitchFamily="49" charset="0"/>
              </a:rPr>
              <a:t>&gt; 6</a:t>
            </a:r>
          </a:p>
          <a:p>
            <a:pPr algn="l" rtl="0"/>
            <a:r>
              <a:rPr lang="en-US" sz="1600" dirty="0" err="1">
                <a:solidFill>
                  <a:schemeClr val="tx1"/>
                </a:solidFill>
                <a:latin typeface="Consolas" pitchFamily="49" charset="0"/>
              </a:rPr>
              <a:t>sumTwo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('</a:t>
            </a:r>
            <a:r>
              <a:rPr lang="en-US" sz="1600" dirty="0" err="1">
                <a:solidFill>
                  <a:schemeClr val="tx1"/>
                </a:solidFill>
                <a:latin typeface="Consolas" pitchFamily="49" charset="0"/>
              </a:rPr>
              <a:t>Hello_','World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')</a:t>
            </a:r>
          </a:p>
          <a:p>
            <a:pPr algn="l" rtl="0"/>
            <a:r>
              <a:rPr lang="en-US" sz="1600" dirty="0">
                <a:solidFill>
                  <a:schemeClr val="tx2"/>
                </a:solidFill>
                <a:latin typeface="Consolas" pitchFamily="49" charset="0"/>
              </a:rPr>
              <a:t>&gt; '</a:t>
            </a:r>
            <a:r>
              <a:rPr lang="en-US" sz="1600" dirty="0" err="1">
                <a:solidFill>
                  <a:schemeClr val="tx2"/>
                </a:solidFill>
                <a:latin typeface="Consolas" pitchFamily="49" charset="0"/>
              </a:rPr>
              <a:t>Hello_World</a:t>
            </a:r>
            <a:r>
              <a:rPr lang="en-US" sz="1600" dirty="0">
                <a:solidFill>
                  <a:schemeClr val="tx2"/>
                </a:solidFill>
                <a:latin typeface="Consolas" pitchFamily="49" charset="0"/>
              </a:rPr>
              <a:t>'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 defTabSz="914400" rtl="0" eaLnBrk="1" latinLnBrk="0" hangingPunct="1">
              <a:spcBef>
                <a:spcPct val="0"/>
              </a:spcBef>
              <a:buNone/>
            </a:pPr>
            <a:r>
              <a:rPr lang="he-IL"/>
              <a:t>דוגמאות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- 234122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916314" y="1201089"/>
            <a:ext cx="79358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פונקציה למציאת סכום שני איברים: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פונקציה למציאת הערך הממוצע ברשימה: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31A15373-7A4D-43B7-9620-36AD2DFA31C2}"/>
              </a:ext>
            </a:extLst>
          </p:cNvPr>
          <p:cNvSpPr/>
          <p:nvPr/>
        </p:nvSpPr>
        <p:spPr>
          <a:xfrm>
            <a:off x="5243014" y="2513663"/>
            <a:ext cx="2159271" cy="768954"/>
          </a:xfrm>
          <a:prstGeom prst="wedgeRectCallout">
            <a:avLst>
              <a:gd name="adj1" fmla="val -104147"/>
              <a:gd name="adj2" fmla="val 27372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500"/>
              <a:t>הפונקציה </a:t>
            </a:r>
            <a:r>
              <a:rPr lang="en-US" sz="1500" err="1"/>
              <a:t>sumTwo</a:t>
            </a:r>
            <a:r>
              <a:rPr lang="he-IL" sz="1500"/>
              <a:t> עובדת לכל טיפוס </a:t>
            </a:r>
            <a:r>
              <a:rPr lang="he-IL" sz="1500" dirty="0"/>
              <a:t>שמוגדרת </a:t>
            </a:r>
            <a:r>
              <a:rPr lang="he-IL" sz="1500"/>
              <a:t>עבורו </a:t>
            </a:r>
            <a:r>
              <a:rPr lang="he-IL" sz="1500" dirty="0"/>
              <a:t>פעולת</a:t>
            </a:r>
            <a:r>
              <a:rPr lang="he-IL" sz="1500"/>
              <a:t> +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6B67D7-906A-4EEA-B23A-FB1B5FD8247B}"/>
              </a:ext>
            </a:extLst>
          </p:cNvPr>
          <p:cNvSpPr/>
          <p:nvPr/>
        </p:nvSpPr>
        <p:spPr>
          <a:xfrm>
            <a:off x="916314" y="4611252"/>
            <a:ext cx="4231637" cy="1389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def avg(elements):</a:t>
            </a:r>
          </a:p>
          <a:p>
            <a:pPr algn="l" rtl="0"/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    sum = 0</a:t>
            </a:r>
          </a:p>
          <a:p>
            <a:pPr algn="l" rtl="0"/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    for </a:t>
            </a:r>
            <a:r>
              <a:rPr lang="en-US" sz="1600" dirty="0" err="1">
                <a:solidFill>
                  <a:schemeClr val="tx1"/>
                </a:solidFill>
                <a:latin typeface="Consolas" pitchFamily="49" charset="0"/>
              </a:rPr>
              <a:t>elem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 in elements:</a:t>
            </a:r>
          </a:p>
          <a:p>
            <a:pPr algn="l" rtl="0"/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        sum += </a:t>
            </a:r>
            <a:r>
              <a:rPr lang="en-US" sz="1600" dirty="0" err="1">
                <a:solidFill>
                  <a:schemeClr val="tx1"/>
                </a:solidFill>
                <a:latin typeface="Consolas" pitchFamily="49" charset="0"/>
              </a:rPr>
              <a:t>elem</a:t>
            </a:r>
            <a:endParaRPr lang="en-US" sz="1600" dirty="0">
              <a:solidFill>
                <a:schemeClr val="tx1"/>
              </a:solidFill>
              <a:latin typeface="Consolas" pitchFamily="49" charset="0"/>
            </a:endParaRPr>
          </a:p>
          <a:p>
            <a:pPr algn="l" rtl="0"/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    return sum / </a:t>
            </a:r>
            <a:r>
              <a:rPr lang="en-US" sz="1600" dirty="0" err="1">
                <a:solidFill>
                  <a:schemeClr val="tx1"/>
                </a:solidFill>
                <a:latin typeface="Consolas" pitchFamily="49" charset="0"/>
              </a:rPr>
              <a:t>len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(elements)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0498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 defTabSz="914400" eaLnBrk="1" latinLnBrk="0" hangingPunct="1">
              <a:spcBef>
                <a:spcPct val="0"/>
              </a:spcBef>
              <a:buNone/>
            </a:pPr>
            <a:r>
              <a:rPr lang="he-IL"/>
              <a:t>העברת פונקציה כפרמטר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- 234122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916314" y="1242626"/>
            <a:ext cx="793583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למעשה, פונקציה בפייתון היא "עצם", שמוגדרת עבורו הפעולה סוגריים.</a:t>
            </a:r>
          </a:p>
          <a:p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לדוגמה, עבור הפונקציה </a:t>
            </a:r>
            <a:r>
              <a:rPr lang="en-US" dirty="0" err="1">
                <a:latin typeface="Consolas" pitchFamily="49" charset="0"/>
              </a:rPr>
              <a:t>sumTwo</a:t>
            </a:r>
            <a:r>
              <a:rPr lang="en-US" dirty="0">
                <a:latin typeface="Consolas" pitchFamily="49" charset="0"/>
              </a:rPr>
              <a:t>(</a:t>
            </a:r>
            <a:r>
              <a:rPr lang="en-US" dirty="0" err="1">
                <a:latin typeface="Consolas" pitchFamily="49" charset="0"/>
              </a:rPr>
              <a:t>a,b</a:t>
            </a:r>
            <a:r>
              <a:rPr lang="en-US" dirty="0">
                <a:latin typeface="Consolas" pitchFamily="49" charset="0"/>
              </a:rPr>
              <a:t>)</a:t>
            </a:r>
            <a:r>
              <a:rPr lang="he-IL" dirty="0">
                <a:latin typeface="Consolas" pitchFamily="49" charset="0"/>
              </a:rPr>
              <a:t> מהשקף הקודם:</a:t>
            </a:r>
            <a:endParaRPr lang="en-US" dirty="0">
              <a:latin typeface="Consolas" pitchFamily="49" charset="0"/>
            </a:endParaRPr>
          </a:p>
          <a:p>
            <a:pPr algn="l" rtl="0"/>
            <a:r>
              <a:rPr lang="en-US" dirty="0">
                <a:latin typeface="Consolas" pitchFamily="49" charset="0"/>
              </a:rPr>
              <a:t>&gt; type(</a:t>
            </a:r>
            <a:r>
              <a:rPr lang="en-US" dirty="0" err="1">
                <a:latin typeface="Consolas" pitchFamily="49" charset="0"/>
              </a:rPr>
              <a:t>sumTwo</a:t>
            </a:r>
            <a:r>
              <a:rPr lang="en-US" dirty="0">
                <a:latin typeface="Consolas" pitchFamily="49" charset="0"/>
              </a:rPr>
              <a:t>)</a:t>
            </a:r>
          </a:p>
          <a:p>
            <a:pPr algn="l" rtl="0"/>
            <a:r>
              <a:rPr lang="en-US" dirty="0">
                <a:latin typeface="Consolas" pitchFamily="49" charset="0"/>
              </a:rPr>
              <a:t>&lt;class 'function’&gt;</a:t>
            </a:r>
            <a:endParaRPr lang="he-IL" dirty="0">
              <a:latin typeface="Consolas" pitchFamily="49" charset="0"/>
            </a:endParaRPr>
          </a:p>
          <a:p>
            <a:pPr marL="285750" indent="-285750" algn="r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u="sng" dirty="0">
                <a:latin typeface="Consolas" pitchFamily="49" charset="0"/>
              </a:rPr>
              <a:t>תרגיל</a:t>
            </a:r>
            <a:r>
              <a:rPr lang="he-IL" dirty="0">
                <a:latin typeface="Consolas" pitchFamily="49" charset="0"/>
              </a:rPr>
              <a:t>:</a:t>
            </a:r>
            <a:r>
              <a:rPr lang="en-US" dirty="0">
                <a:latin typeface="Consolas" pitchFamily="49" charset="0"/>
              </a:rPr>
              <a:t> </a:t>
            </a:r>
            <a:r>
              <a:rPr lang="he-IL" dirty="0">
                <a:latin typeface="Consolas" pitchFamily="49" charset="0"/>
              </a:rPr>
              <a:t>כתבו פונקציה המקבלת פונקציה ורצף. הפונקציה תחזיר רשימה חדשה, שאיבריה הם איברי רשימת הקלט לאחר הפעלת הפונקציה הנתונה עליהם.</a:t>
            </a:r>
            <a:br>
              <a:rPr lang="en-US" dirty="0">
                <a:latin typeface="Consolas" pitchFamily="49" charset="0"/>
              </a:rPr>
            </a:br>
            <a:br>
              <a:rPr lang="en-US" dirty="0">
                <a:latin typeface="Consolas" pitchFamily="49" charset="0"/>
              </a:rPr>
            </a:br>
            <a:r>
              <a:rPr lang="he-IL" dirty="0">
                <a:latin typeface="Consolas" pitchFamily="49" charset="0"/>
              </a:rPr>
              <a:t>פתרון:</a:t>
            </a:r>
            <a:br>
              <a:rPr lang="en-US" dirty="0">
                <a:latin typeface="Consolas" pitchFamily="49" charset="0"/>
              </a:rPr>
            </a:br>
            <a:br>
              <a:rPr lang="en-US" dirty="0">
                <a:latin typeface="Consolas" pitchFamily="49" charset="0"/>
              </a:rPr>
            </a:br>
            <a:br>
              <a:rPr lang="en-US" dirty="0">
                <a:latin typeface="Consolas" pitchFamily="49" charset="0"/>
              </a:rPr>
            </a:br>
            <a:endParaRPr lang="en-US" dirty="0">
              <a:latin typeface="Consolas" pitchFamily="49" charset="0"/>
            </a:endParaRPr>
          </a:p>
          <a:p>
            <a:pPr algn="r">
              <a:spcAft>
                <a:spcPts val="600"/>
              </a:spcAft>
            </a:pPr>
            <a:r>
              <a:rPr lang="he-IL" dirty="0">
                <a:latin typeface="Consolas" pitchFamily="49" charset="0"/>
              </a:rPr>
              <a:t>    דוגמת שימוש:</a:t>
            </a:r>
          </a:p>
          <a:p>
            <a:pPr algn="r">
              <a:spcAft>
                <a:spcPts val="600"/>
              </a:spcAft>
            </a:pPr>
            <a:endParaRPr lang="he-IL" dirty="0">
              <a:latin typeface="Consolas" pitchFamily="49" charset="0"/>
            </a:endParaRPr>
          </a:p>
          <a:p>
            <a:pPr algn="r">
              <a:spcAft>
                <a:spcPts val="600"/>
              </a:spcAft>
            </a:pPr>
            <a:endParaRPr lang="he-IL" dirty="0">
              <a:latin typeface="Consolas" pitchFamily="49" charset="0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הערה: פונקצייה </a:t>
            </a:r>
            <a:r>
              <a:rPr lang="en-US" dirty="0">
                <a:latin typeface="Consolas" pitchFamily="49" charset="0"/>
              </a:rPr>
              <a:t>map</a:t>
            </a:r>
            <a:r>
              <a:rPr lang="he-IL" dirty="0">
                <a:latin typeface="Consolas" pitchFamily="49" charset="0"/>
              </a:rPr>
              <a:t> כזו אכן קיימת ב-</a:t>
            </a:r>
            <a:r>
              <a:rPr lang="en-US" dirty="0">
                <a:latin typeface="Consolas" pitchFamily="49" charset="0"/>
              </a:rPr>
              <a:t>python</a:t>
            </a:r>
            <a:r>
              <a:rPr lang="he-IL" dirty="0">
                <a:latin typeface="Consolas" pitchFamily="49" charset="0"/>
              </a:rPr>
              <a:t>.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32B102-346B-46C2-A277-7A7DC376CE86}"/>
              </a:ext>
            </a:extLst>
          </p:cNvPr>
          <p:cNvSpPr/>
          <p:nvPr/>
        </p:nvSpPr>
        <p:spPr>
          <a:xfrm>
            <a:off x="2439821" y="4561495"/>
            <a:ext cx="4581998" cy="10725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&gt; def square(x):</a:t>
            </a: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      return x**2</a:t>
            </a: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&gt; map(square, [1, 2, 3])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dirty="0">
                <a:solidFill>
                  <a:schemeClr val="tx2"/>
                </a:solidFill>
              </a:rPr>
              <a:t>[1, 4, 9]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14B7C4-3760-CB82-807C-4FB7F716B6AB}"/>
              </a:ext>
            </a:extLst>
          </p:cNvPr>
          <p:cNvSpPr/>
          <p:nvPr/>
        </p:nvSpPr>
        <p:spPr>
          <a:xfrm>
            <a:off x="2449311" y="3767336"/>
            <a:ext cx="4572508" cy="6816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def map(seq, f):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    return [f(el) for el in seq]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3518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 defTabSz="914400" eaLnBrk="1" latinLnBrk="0" hangingPunct="1">
              <a:spcBef>
                <a:spcPct val="0"/>
              </a:spcBef>
              <a:buNone/>
            </a:pPr>
            <a:r>
              <a:rPr lang="he-IL" dirty="0"/>
              <a:t>דוגמה: חישוב נגזרת (נומרית)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מבוא לתכנות מערכות - 234122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916314" y="1242626"/>
            <a:ext cx="79358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נכתוב פונק' שמקבלת פונק' מתמטית (במשתנה אחד), נקודה </a:t>
            </a:r>
            <a:r>
              <a:rPr lang="en-US" dirty="0">
                <a:latin typeface="Consolas" pitchFamily="49" charset="0"/>
              </a:rPr>
              <a:t>x</a:t>
            </a:r>
            <a:r>
              <a:rPr lang="he-IL" dirty="0">
                <a:latin typeface="Consolas" pitchFamily="49" charset="0"/>
              </a:rPr>
              <a:t> ואפסילון קטן, ומחזירה נגזרת מקורבת של הפונקציה בנקודה.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נבדוק:</a:t>
            </a:r>
          </a:p>
          <a:p>
            <a:pPr algn="l" rtl="0"/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r" defTabSz="914400" eaLnBrk="1" latinLnBrk="0" hangingPunct="1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8923FB-ABF0-4C5E-9385-F727A0DA6421}"/>
              </a:ext>
            </a:extLst>
          </p:cNvPr>
          <p:cNvSpPr/>
          <p:nvPr/>
        </p:nvSpPr>
        <p:spPr>
          <a:xfrm>
            <a:off x="291852" y="2379978"/>
            <a:ext cx="4904763" cy="13121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600" b="1" dirty="0">
                <a:solidFill>
                  <a:schemeClr val="tx1"/>
                </a:solidFill>
                <a:latin typeface="Consolas" pitchFamily="49" charset="0"/>
              </a:rPr>
              <a:t>def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 derivative(f, x, epsilon): </a:t>
            </a:r>
          </a:p>
          <a:p>
            <a:pPr marL="57150" algn="l" rtl="0"/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    assert epsilon &gt; 0</a:t>
            </a:r>
          </a:p>
          <a:p>
            <a:pPr marL="57150" algn="l" rtl="0"/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itchFamily="49" charset="0"/>
              </a:rPr>
              <a:t>dy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 = f(x + epsilon) – f(x – epsilon)</a:t>
            </a:r>
          </a:p>
          <a:p>
            <a:pPr marL="57150" algn="l" rtl="0"/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    dx = 2 * epsilon</a:t>
            </a:r>
          </a:p>
          <a:p>
            <a:pPr marL="57150" algn="l" rtl="0"/>
            <a:r>
              <a:rPr lang="en-US" sz="1600" b="1" dirty="0">
                <a:solidFill>
                  <a:schemeClr val="tx1"/>
                </a:solidFill>
                <a:latin typeface="Consolas" pitchFamily="49" charset="0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Consolas" pitchFamily="49" charset="0"/>
              </a:rPr>
              <a:t>dy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 / dx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8923FB-ABF0-4C5E-9385-F727A0DA6421}"/>
              </a:ext>
            </a:extLst>
          </p:cNvPr>
          <p:cNvSpPr/>
          <p:nvPr/>
        </p:nvSpPr>
        <p:spPr>
          <a:xfrm>
            <a:off x="2632709" y="4074378"/>
            <a:ext cx="3980945" cy="19197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600" b="1" dirty="0">
                <a:solidFill>
                  <a:schemeClr val="tx1"/>
                </a:solidFill>
                <a:latin typeface="Consolas" pitchFamily="49" charset="0"/>
              </a:rPr>
              <a:t>from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 math </a:t>
            </a:r>
            <a:r>
              <a:rPr lang="en-US" sz="1600" b="1" dirty="0">
                <a:solidFill>
                  <a:schemeClr val="tx1"/>
                </a:solidFill>
                <a:latin typeface="Consolas" pitchFamily="49" charset="0"/>
              </a:rPr>
              <a:t>import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 sin, cos, pi</a:t>
            </a:r>
          </a:p>
          <a:p>
            <a:pPr marL="57150" algn="l" rtl="0"/>
            <a:endParaRPr lang="en-US" sz="1600" dirty="0">
              <a:solidFill>
                <a:schemeClr val="tx1"/>
              </a:solidFill>
              <a:latin typeface="Consolas" pitchFamily="49" charset="0"/>
            </a:endParaRPr>
          </a:p>
          <a:p>
            <a:pPr marL="57150" algn="l" rtl="0"/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derivative(sin, pi/4, 0.001)</a:t>
            </a:r>
          </a:p>
          <a:p>
            <a:pPr marL="57150" algn="l" rtl="0"/>
            <a:r>
              <a:rPr lang="en-US" sz="1600" dirty="0">
                <a:solidFill>
                  <a:schemeClr val="tx2"/>
                </a:solidFill>
                <a:latin typeface="Consolas" pitchFamily="49" charset="0"/>
              </a:rPr>
              <a:t>0.707106663335455</a:t>
            </a:r>
          </a:p>
          <a:p>
            <a:pPr marL="57150" algn="l" rtl="0"/>
            <a:endParaRPr lang="en-US" sz="1600" dirty="0">
              <a:solidFill>
                <a:schemeClr val="tx2"/>
              </a:solidFill>
              <a:latin typeface="Consolas" pitchFamily="49" charset="0"/>
            </a:endParaRPr>
          </a:p>
          <a:p>
            <a:pPr marL="57150" algn="l" rtl="0"/>
            <a:r>
              <a:rPr lang="en-US" sz="1600" dirty="0">
                <a:solidFill>
                  <a:schemeClr val="tx1"/>
                </a:solidFill>
                <a:latin typeface="Consolas" pitchFamily="49" charset="0"/>
              </a:rPr>
              <a:t>cos(pi/4)</a:t>
            </a:r>
          </a:p>
          <a:p>
            <a:pPr marL="57150" algn="l" rtl="0"/>
            <a:r>
              <a:rPr lang="en-US" sz="1600" dirty="0">
                <a:solidFill>
                  <a:schemeClr val="tx2"/>
                </a:solidFill>
                <a:latin typeface="Consolas" pitchFamily="49" charset="0"/>
              </a:rPr>
              <a:t>0.7071067811865475</a:t>
            </a:r>
            <a:endParaRPr lang="en-US" sz="1600" dirty="0">
              <a:solidFill>
                <a:schemeClr val="tx1"/>
              </a:solidFill>
              <a:latin typeface="Consolas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1594C1-3555-F3A8-B5C0-3372C0648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352" y="2044825"/>
            <a:ext cx="2333334" cy="157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578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0" grpId="0" uiExpand="1" build="p" animBg="1"/>
      <p:bldP spid="13" grpId="0" uiExpand="1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defTabSz="914400" eaLnBrk="1" latinLnBrk="0" hangingPunct="1">
              <a:spcBef>
                <a:spcPct val="0"/>
              </a:spcBef>
              <a:buNone/>
            </a:pPr>
            <a:r>
              <a:rPr lang="he-IL"/>
              <a:t>ייבוא והרצת קבצי פייתון, </a:t>
            </a:r>
            <a:r>
              <a:rPr lang="en-US"/>
              <a:t>import</a:t>
            </a:r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894963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3924"/>
            <a:ext cx="8229600" cy="1143000"/>
          </a:xfrm>
        </p:spPr>
        <p:txBody>
          <a:bodyPr/>
          <a:lstStyle/>
          <a:p>
            <a:pPr algn="ctr" defTabSz="914400" eaLnBrk="1" latinLnBrk="0" hangingPunct="1">
              <a:spcBef>
                <a:spcPct val="0"/>
              </a:spcBef>
              <a:buNone/>
            </a:pPr>
            <a:r>
              <a:rPr lang="he-IL" dirty="0"/>
              <a:t>ייבוא והרצת קבצי פייתון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מבוא לתכנות מערכות - 234124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97335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814365" y="626773"/>
            <a:ext cx="8017934" cy="42473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תזכורת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ה-</a:t>
            </a:r>
            <a:r>
              <a:rPr lang="en-US" dirty="0">
                <a:latin typeface="Consolas" pitchFamily="49" charset="0"/>
              </a:rPr>
              <a:t>interpreter</a:t>
            </a:r>
            <a:r>
              <a:rPr lang="he-IL" dirty="0">
                <a:latin typeface="Consolas" pitchFamily="49" charset="0"/>
              </a:rPr>
              <a:t> מריץ את הפקודות בקובץ שורה אחר שורה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הפקודה </a:t>
            </a:r>
            <a:r>
              <a:rPr lang="en-US" dirty="0">
                <a:latin typeface="Consolas" pitchFamily="49" charset="0"/>
              </a:rPr>
              <a:t>import</a:t>
            </a:r>
            <a:r>
              <a:rPr lang="he-IL" dirty="0">
                <a:latin typeface="Consolas" pitchFamily="49" charset="0"/>
              </a:rPr>
              <a:t> </a:t>
            </a:r>
            <a:r>
              <a:rPr lang="he-IL" u="sng" dirty="0">
                <a:latin typeface="Consolas" pitchFamily="49" charset="0"/>
              </a:rPr>
              <a:t>גוררת הרצה </a:t>
            </a:r>
            <a:r>
              <a:rPr lang="he-IL" dirty="0">
                <a:latin typeface="Consolas" pitchFamily="49" charset="0"/>
              </a:rPr>
              <a:t>של הקובץ (שם נרדף: </a:t>
            </a:r>
            <a:r>
              <a:rPr lang="en-US" dirty="0">
                <a:latin typeface="Consolas" pitchFamily="49" charset="0"/>
              </a:rPr>
              <a:t>module</a:t>
            </a:r>
            <a:r>
              <a:rPr lang="he-IL" dirty="0">
                <a:latin typeface="Consolas" pitchFamily="49" charset="0"/>
              </a:rPr>
              <a:t>) לו עושים </a:t>
            </a:r>
            <a:r>
              <a:rPr lang="en-US" dirty="0">
                <a:latin typeface="Consolas" pitchFamily="49" charset="0"/>
              </a:rPr>
              <a:t>import</a:t>
            </a:r>
            <a:endParaRPr lang="he-IL" dirty="0">
              <a:latin typeface="Consolas" pitchFamily="49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כל הגדרה שמופיעה בקובץ נשמרת תחת </a:t>
            </a:r>
            <a:r>
              <a:rPr lang="en-US" dirty="0">
                <a:latin typeface="Consolas" pitchFamily="49" charset="0"/>
              </a:rPr>
              <a:t>namespace</a:t>
            </a:r>
            <a:r>
              <a:rPr lang="he-IL" dirty="0">
                <a:latin typeface="Consolas" pitchFamily="49" charset="0"/>
              </a:rPr>
              <a:t> כשם הקובץ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dirty="0"/>
              <a:t>אפשר לייבא רק חלקים ספציפים ממודול מסוים, לדוגמה: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8549A0-E6DA-F248-92B8-DA2CFA4910E5}"/>
              </a:ext>
            </a:extLst>
          </p:cNvPr>
          <p:cNvSpPr/>
          <p:nvPr/>
        </p:nvSpPr>
        <p:spPr>
          <a:xfrm>
            <a:off x="134112" y="947084"/>
            <a:ext cx="4597371" cy="8763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def </a:t>
            </a:r>
            <a:r>
              <a:rPr lang="en-US" sz="1500" dirty="0" err="1">
                <a:solidFill>
                  <a:schemeClr val="tx1"/>
                </a:solidFill>
                <a:latin typeface="Consolas" pitchFamily="49" charset="0"/>
              </a:rPr>
              <a:t>getlanguageName</a:t>
            </a: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():</a:t>
            </a: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    return 'Python'</a:t>
            </a: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print('Hello ' + </a:t>
            </a:r>
            <a:r>
              <a:rPr lang="en-US" sz="1500" dirty="0" err="1">
                <a:solidFill>
                  <a:schemeClr val="tx1"/>
                </a:solidFill>
                <a:latin typeface="Consolas" pitchFamily="49" charset="0"/>
              </a:rPr>
              <a:t>getlanguageName</a:t>
            </a: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() + '!')</a:t>
            </a:r>
            <a:endParaRPr lang="en-US" dirty="0">
              <a:solidFill>
                <a:schemeClr val="tx1"/>
              </a:solidFill>
              <a:latin typeface="Consola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DF609-5575-4B9C-8390-325DA48ABF66}"/>
              </a:ext>
            </a:extLst>
          </p:cNvPr>
          <p:cNvSpPr txBox="1"/>
          <p:nvPr/>
        </p:nvSpPr>
        <p:spPr>
          <a:xfrm>
            <a:off x="176190" y="598454"/>
            <a:ext cx="1276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b="1" dirty="0" err="1"/>
              <a:t>myfile</a:t>
            </a:r>
            <a:r>
              <a:rPr lang="he-IL" b="1" dirty="0"/>
              <a:t>1</a:t>
            </a:r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C4C920-89D0-4F96-AEF8-4A9112019AED}"/>
              </a:ext>
            </a:extLst>
          </p:cNvPr>
          <p:cNvSpPr/>
          <p:nvPr/>
        </p:nvSpPr>
        <p:spPr>
          <a:xfrm>
            <a:off x="4823332" y="947084"/>
            <a:ext cx="3624620" cy="8763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he-IL" sz="1500" dirty="0">
                <a:solidFill>
                  <a:schemeClr val="tx1"/>
                </a:solidFill>
                <a:latin typeface="Consolas" pitchFamily="49" charset="0"/>
              </a:rPr>
              <a:t>$</a:t>
            </a: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 python3 </a:t>
            </a:r>
            <a:r>
              <a:rPr lang="en-US" sz="1500" b="1" dirty="0">
                <a:solidFill>
                  <a:schemeClr val="tx1"/>
                </a:solidFill>
                <a:latin typeface="Consolas" pitchFamily="49" charset="0"/>
              </a:rPr>
              <a:t>myfile1.py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Hello Python!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D3E53A-B237-4ECA-A930-D7980BE6D190}"/>
              </a:ext>
            </a:extLst>
          </p:cNvPr>
          <p:cNvSpPr/>
          <p:nvPr/>
        </p:nvSpPr>
        <p:spPr>
          <a:xfrm>
            <a:off x="176190" y="3045894"/>
            <a:ext cx="4555293" cy="8763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import </a:t>
            </a:r>
            <a:r>
              <a:rPr lang="en-US" sz="1500" b="1" dirty="0">
                <a:solidFill>
                  <a:schemeClr val="tx1"/>
                </a:solidFill>
                <a:latin typeface="Consolas" pitchFamily="49" charset="0"/>
              </a:rPr>
              <a:t>myfile1</a:t>
            </a: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print(myfile1.getlanguageName() + ' is cool!')</a:t>
            </a:r>
            <a:endParaRPr lang="en-US" dirty="0">
              <a:solidFill>
                <a:schemeClr val="tx1"/>
              </a:solidFill>
              <a:latin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D66030-D2AA-4C86-927F-CCF8C4B98049}"/>
              </a:ext>
            </a:extLst>
          </p:cNvPr>
          <p:cNvSpPr txBox="1"/>
          <p:nvPr/>
        </p:nvSpPr>
        <p:spPr>
          <a:xfrm>
            <a:off x="218268" y="2686103"/>
            <a:ext cx="1276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b="1" dirty="0" err="1"/>
              <a:t>myfile</a:t>
            </a:r>
            <a:r>
              <a:rPr lang="he-IL" b="1" dirty="0"/>
              <a:t>2</a:t>
            </a:r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D86626-0FDF-498D-BBD0-E4052E205820}"/>
              </a:ext>
            </a:extLst>
          </p:cNvPr>
          <p:cNvSpPr/>
          <p:nvPr/>
        </p:nvSpPr>
        <p:spPr>
          <a:xfrm>
            <a:off x="4823332" y="3052469"/>
            <a:ext cx="3624620" cy="8763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he-IL" sz="1500" dirty="0">
                <a:solidFill>
                  <a:schemeClr val="tx1"/>
                </a:solidFill>
                <a:latin typeface="Consolas" pitchFamily="49" charset="0"/>
              </a:rPr>
              <a:t>$</a:t>
            </a: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 python3 </a:t>
            </a:r>
            <a:r>
              <a:rPr lang="en-US" sz="1500" b="1" dirty="0" err="1">
                <a:solidFill>
                  <a:schemeClr val="tx1"/>
                </a:solidFill>
                <a:latin typeface="Consolas" pitchFamily="49" charset="0"/>
              </a:rPr>
              <a:t>myfile</a:t>
            </a:r>
            <a:r>
              <a:rPr lang="he-IL" sz="1500" b="1" dirty="0">
                <a:solidFill>
                  <a:schemeClr val="tx1"/>
                </a:solidFill>
                <a:latin typeface="Consolas" pitchFamily="49" charset="0"/>
              </a:rPr>
              <a:t>2</a:t>
            </a:r>
            <a:r>
              <a:rPr lang="en-US" sz="1500" b="1" dirty="0">
                <a:solidFill>
                  <a:schemeClr val="tx1"/>
                </a:solidFill>
                <a:latin typeface="Consolas" pitchFamily="49" charset="0"/>
              </a:rPr>
              <a:t>.</a:t>
            </a:r>
            <a:r>
              <a:rPr lang="en-US" sz="1500" b="1" dirty="0" err="1">
                <a:solidFill>
                  <a:schemeClr val="tx1"/>
                </a:solidFill>
                <a:latin typeface="Consolas" pitchFamily="49" charset="0"/>
              </a:rPr>
              <a:t>py</a:t>
            </a:r>
            <a:endParaRPr lang="en-US" sz="1500" b="1" dirty="0">
              <a:solidFill>
                <a:schemeClr val="tx1"/>
              </a:solidFill>
              <a:latin typeface="Consolas" pitchFamily="49" charset="0"/>
            </a:endParaRP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Hello Python!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Python is cool!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FF081C-ADCE-A793-9EF3-5D002F832D03}"/>
              </a:ext>
            </a:extLst>
          </p:cNvPr>
          <p:cNvSpPr/>
          <p:nvPr/>
        </p:nvSpPr>
        <p:spPr>
          <a:xfrm>
            <a:off x="4823332" y="5395319"/>
            <a:ext cx="3697580" cy="8763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he-IL" sz="1500" dirty="0">
                <a:solidFill>
                  <a:schemeClr val="tx1"/>
                </a:solidFill>
                <a:latin typeface="Consolas" pitchFamily="49" charset="0"/>
              </a:rPr>
              <a:t>$</a:t>
            </a: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 python3 </a:t>
            </a:r>
            <a:r>
              <a:rPr lang="en-US" sz="1500" b="1" dirty="0">
                <a:solidFill>
                  <a:schemeClr val="tx1"/>
                </a:solidFill>
                <a:latin typeface="Consolas" pitchFamily="49" charset="0"/>
              </a:rPr>
              <a:t>myfile3.py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Hello Python!</a:t>
            </a: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Python is cool!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22FBD2-9C4B-02E8-C5BE-1752305D795F}"/>
              </a:ext>
            </a:extLst>
          </p:cNvPr>
          <p:cNvSpPr/>
          <p:nvPr/>
        </p:nvSpPr>
        <p:spPr>
          <a:xfrm>
            <a:off x="134113" y="5406725"/>
            <a:ext cx="4597370" cy="8763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from myfile1 import </a:t>
            </a:r>
            <a:r>
              <a:rPr lang="en-US" sz="1500" dirty="0" err="1">
                <a:solidFill>
                  <a:schemeClr val="tx1"/>
                </a:solidFill>
                <a:latin typeface="Consolas" pitchFamily="49" charset="0"/>
              </a:rPr>
              <a:t>getlanguageName</a:t>
            </a:r>
            <a:endParaRPr lang="en-US" sz="1500" dirty="0">
              <a:solidFill>
                <a:schemeClr val="tx1"/>
              </a:solidFill>
              <a:latin typeface="Consolas" pitchFamily="49" charset="0"/>
            </a:endParaRP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print(</a:t>
            </a:r>
            <a:r>
              <a:rPr lang="en-US" sz="1500" dirty="0" err="1">
                <a:solidFill>
                  <a:schemeClr val="tx1"/>
                </a:solidFill>
                <a:latin typeface="Consolas" pitchFamily="49" charset="0"/>
              </a:rPr>
              <a:t>getlanguageName</a:t>
            </a: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() + 'is cool!')</a:t>
            </a:r>
            <a:endParaRPr lang="en-US" dirty="0">
              <a:solidFill>
                <a:schemeClr val="tx1"/>
              </a:solidFill>
              <a:latin typeface="Consola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455252-5A86-0271-ED9C-5A50558BD03C}"/>
              </a:ext>
            </a:extLst>
          </p:cNvPr>
          <p:cNvSpPr txBox="1"/>
          <p:nvPr/>
        </p:nvSpPr>
        <p:spPr>
          <a:xfrm>
            <a:off x="218268" y="5025987"/>
            <a:ext cx="1276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b="1" dirty="0"/>
              <a:t>myfile3.py:</a:t>
            </a:r>
          </a:p>
        </p:txBody>
      </p:sp>
    </p:spTree>
    <p:extLst>
      <p:ext uri="{BB962C8B-B14F-4D97-AF65-F5344CB8AC3E}">
        <p14:creationId xmlns:p14="http://schemas.microsoft.com/office/powerpoint/2010/main" val="5304703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הרצה כתסריט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268760"/>
            <a:ext cx="7935834" cy="40934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itchFamily="49" charset="0"/>
              </a:rPr>
              <a:t>יש שתי דרכים עיקריות להשתמש בקובץ </a:t>
            </a:r>
            <a:r>
              <a:rPr lang="he-IL" sz="2000" dirty="0" err="1">
                <a:latin typeface="Consolas" pitchFamily="49" charset="0"/>
              </a:rPr>
              <a:t>פייתון</a:t>
            </a:r>
            <a:r>
              <a:rPr lang="he-IL" sz="2000" dirty="0">
                <a:latin typeface="Consolas" pitchFamily="49" charset="0"/>
              </a:rPr>
              <a:t>: אפשר להריץ אותו ישירות (</a:t>
            </a:r>
            <a:r>
              <a:rPr lang="he-IL" sz="2000" b="1" dirty="0">
                <a:latin typeface="Consolas" pitchFamily="49" charset="0"/>
              </a:rPr>
              <a:t>בתור תסריט</a:t>
            </a:r>
            <a:r>
              <a:rPr lang="he-IL" sz="2000" dirty="0">
                <a:latin typeface="Consolas" pitchFamily="49" charset="0"/>
              </a:rPr>
              <a:t>) ואפשר לבצע לו </a:t>
            </a:r>
            <a:r>
              <a:rPr lang="en-US" sz="2000" dirty="0">
                <a:latin typeface="Consolas" pitchFamily="49" charset="0"/>
              </a:rPr>
              <a:t>import</a:t>
            </a:r>
            <a:r>
              <a:rPr lang="he-IL" sz="2000" dirty="0">
                <a:latin typeface="Consolas" pitchFamily="49" charset="0"/>
              </a:rPr>
              <a:t>.</a:t>
            </a:r>
            <a:endParaRPr lang="en-US" sz="2000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itchFamily="49" charset="0"/>
              </a:rPr>
              <a:t>ייתכן שנרצה להשתמש באותו הקובץ לשתי המטרות: למשל, לכלול באותו הקובץ פונקציות שאנחנו משתמשים בהם, וטסטים לאותן הפונקציות.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itchFamily="49" charset="0"/>
              </a:rPr>
              <a:t>כדי להריץ את הטסטים, נריץ את הקובץ כתסריט.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itchFamily="49" charset="0"/>
              </a:rPr>
              <a:t>כשנעשה לקובץ </a:t>
            </a:r>
            <a:r>
              <a:rPr lang="en-US" sz="2000" dirty="0">
                <a:latin typeface="Consolas" pitchFamily="49" charset="0"/>
              </a:rPr>
              <a:t>import</a:t>
            </a:r>
            <a:r>
              <a:rPr lang="he-IL" sz="2000" dirty="0">
                <a:latin typeface="Consolas" pitchFamily="49" charset="0"/>
              </a:rPr>
              <a:t>, נייבא את הפונקציות ללא הרצת הטסטים.</a:t>
            </a:r>
            <a:endParaRPr lang="en-US" sz="2000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itchFamily="49" charset="0"/>
              </a:rPr>
              <a:t>אם נרצה להריץ פקודות מסוימות רק כאשר אנחנו מריצים את הקובץ ישירות (לא דרך </a:t>
            </a:r>
            <a:r>
              <a:rPr lang="en-US" sz="2000" dirty="0">
                <a:latin typeface="Consolas" pitchFamily="49" charset="0"/>
              </a:rPr>
              <a:t>import</a:t>
            </a:r>
            <a:r>
              <a:rPr lang="he-IL" sz="2000" dirty="0">
                <a:latin typeface="Consolas" pitchFamily="49" charset="0"/>
              </a:rPr>
              <a:t>), נעטוף את הקוד בבדיקה הבאה:</a:t>
            </a:r>
          </a:p>
          <a:p>
            <a:pPr algn="l" rtl="0"/>
            <a:r>
              <a:rPr lang="en-US" sz="2000" b="1" dirty="0">
                <a:latin typeface="Consolas" pitchFamily="49" charset="0"/>
              </a:rPr>
              <a:t>if __name__ == </a:t>
            </a:r>
            <a:r>
              <a:rPr lang="en-US" sz="2000" dirty="0">
                <a:solidFill>
                  <a:schemeClr val="tx1"/>
                </a:solidFill>
                <a:latin typeface="Consolas" pitchFamily="49" charset="0"/>
              </a:rPr>
              <a:t>"</a:t>
            </a:r>
            <a:r>
              <a:rPr lang="en-US" sz="2000" b="1" dirty="0">
                <a:latin typeface="Consolas" pitchFamily="49" charset="0"/>
              </a:rPr>
              <a:t>__main__</a:t>
            </a:r>
            <a:r>
              <a:rPr lang="en-US" sz="2000" dirty="0">
                <a:solidFill>
                  <a:schemeClr val="tx1"/>
                </a:solidFill>
                <a:latin typeface="Consolas" pitchFamily="49" charset="0"/>
              </a:rPr>
              <a:t>"</a:t>
            </a:r>
            <a:r>
              <a:rPr lang="en-US" sz="2000" b="1" dirty="0">
                <a:latin typeface="Consolas" pitchFamily="49" charset="0"/>
              </a:rPr>
              <a:t>:</a:t>
            </a:r>
          </a:p>
          <a:p>
            <a:pPr algn="l" rtl="0"/>
            <a:r>
              <a:rPr lang="en-US" sz="2000" b="1" dirty="0">
                <a:latin typeface="Consolas" pitchFamily="49" charset="0"/>
              </a:rPr>
              <a:t>    &lt;code&gt;</a:t>
            </a:r>
          </a:p>
        </p:txBody>
      </p:sp>
    </p:spTree>
    <p:extLst>
      <p:ext uri="{BB962C8B-B14F-4D97-AF65-F5344CB8AC3E}">
        <p14:creationId xmlns:p14="http://schemas.microsoft.com/office/powerpoint/2010/main" val="246681114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 defTabSz="914400" eaLnBrk="1" latinLnBrk="0" hangingPunct="1">
              <a:spcBef>
                <a:spcPct val="0"/>
              </a:spcBef>
              <a:buNone/>
            </a:pPr>
            <a:r>
              <a:rPr lang="he-IL" dirty="0"/>
              <a:t>ייבוא והרצת קבצי פייתון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מבוא לתכנות מערכות - 234124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668614" y="1200177"/>
            <a:ext cx="7935834" cy="41549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 ניתן להוסיף פקודות שיתבצעו כשהקובץ מורץ ישירות משורת הפקודה, אבל לא כשהוא נכלל כ-</a:t>
            </a:r>
            <a:r>
              <a:rPr lang="en-US" dirty="0">
                <a:latin typeface="Consolas" pitchFamily="49" charset="0"/>
              </a:rPr>
              <a:t>import</a:t>
            </a:r>
            <a:r>
              <a:rPr lang="he-IL" dirty="0">
                <a:latin typeface="Consolas" pitchFamily="49" charset="0"/>
              </a:rPr>
              <a:t>:</a:t>
            </a:r>
            <a:br>
              <a:rPr lang="en-US" dirty="0">
                <a:latin typeface="Consolas" pitchFamily="49" charset="0"/>
              </a:rPr>
            </a:br>
            <a:br>
              <a:rPr lang="en-US" dirty="0">
                <a:latin typeface="Consolas" pitchFamily="49" charset="0"/>
              </a:rPr>
            </a:br>
            <a:br>
              <a:rPr lang="en-US" dirty="0">
                <a:latin typeface="Consolas" pitchFamily="49" charset="0"/>
              </a:rPr>
            </a:br>
            <a:br>
              <a:rPr lang="en-US" dirty="0">
                <a:latin typeface="Consolas" pitchFamily="49" charset="0"/>
              </a:rPr>
            </a:br>
            <a:endParaRPr lang="en-US" dirty="0">
              <a:latin typeface="Consolas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onsolas" pitchFamily="49" charset="0"/>
            </a:endParaRPr>
          </a:p>
          <a:p>
            <a:pPr marL="285750" indent="-28575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הפקודות תחת התנאי יבוצעו בהפעלה ישירה של הקובץ, אבל לא בזמן </a:t>
            </a:r>
            <a:r>
              <a:rPr lang="en-US" dirty="0">
                <a:latin typeface="Consolas" pitchFamily="49" charset="0"/>
              </a:rPr>
              <a:t>import</a:t>
            </a:r>
            <a:br>
              <a:rPr lang="en-US" dirty="0">
                <a:latin typeface="Consolas" pitchFamily="49" charset="0"/>
              </a:rPr>
            </a:br>
            <a:endParaRPr lang="he-IL" dirty="0">
              <a:latin typeface="Consolas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he-IL" dirty="0">
              <a:latin typeface="Consolas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>
              <a:latin typeface="Consolas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8549A0-E6DA-F248-92B8-DA2CFA4910E5}"/>
              </a:ext>
            </a:extLst>
          </p:cNvPr>
          <p:cNvSpPr/>
          <p:nvPr/>
        </p:nvSpPr>
        <p:spPr>
          <a:xfrm>
            <a:off x="802746" y="1885116"/>
            <a:ext cx="6085734" cy="1359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def </a:t>
            </a:r>
            <a:r>
              <a:rPr lang="en-US" sz="1500" dirty="0" err="1">
                <a:solidFill>
                  <a:schemeClr val="tx1"/>
                </a:solidFill>
                <a:latin typeface="Consolas" pitchFamily="49" charset="0"/>
              </a:rPr>
              <a:t>getlanguageName</a:t>
            </a: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():</a:t>
            </a: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    return 'Python'</a:t>
            </a:r>
          </a:p>
          <a:p>
            <a:pPr marL="57150" indent="0" algn="l" defTabSz="914400" rtl="0" eaLnBrk="1" latinLnBrk="0" hangingPunct="1">
              <a:buNone/>
            </a:pPr>
            <a:endParaRPr lang="en-US" sz="1000" dirty="0">
              <a:solidFill>
                <a:schemeClr val="tx1"/>
              </a:solidFill>
              <a:latin typeface="Consolas" pitchFamily="49" charset="0"/>
            </a:endParaRPr>
          </a:p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if __name__ == "__main__":</a:t>
            </a: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    print('Hello ' + </a:t>
            </a:r>
            <a:r>
              <a:rPr lang="en-US" sz="1500" dirty="0" err="1">
                <a:solidFill>
                  <a:schemeClr val="tx1"/>
                </a:solidFill>
                <a:latin typeface="Consolas" pitchFamily="49" charset="0"/>
              </a:rPr>
              <a:t>getlanguageName</a:t>
            </a: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()+ '!')</a:t>
            </a:r>
            <a:endParaRPr lang="en-US" dirty="0">
              <a:solidFill>
                <a:schemeClr val="tx1"/>
              </a:solidFill>
              <a:latin typeface="Consola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DF609-5575-4B9C-8390-325DA48ABF66}"/>
              </a:ext>
            </a:extLst>
          </p:cNvPr>
          <p:cNvSpPr txBox="1"/>
          <p:nvPr/>
        </p:nvSpPr>
        <p:spPr>
          <a:xfrm>
            <a:off x="720394" y="1540405"/>
            <a:ext cx="1276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b="1" dirty="0" err="1"/>
              <a:t>myfile</a:t>
            </a:r>
            <a:r>
              <a:rPr lang="he-IL" b="1" dirty="0"/>
              <a:t>1</a:t>
            </a:r>
            <a:r>
              <a:rPr lang="en-US" b="1" dirty="0"/>
              <a:t>.py</a:t>
            </a:r>
            <a:r>
              <a:rPr lang="en-US" dirty="0"/>
              <a:t>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D86626-0FDF-498D-BBD0-E4052E205820}"/>
              </a:ext>
            </a:extLst>
          </p:cNvPr>
          <p:cNvSpPr/>
          <p:nvPr/>
        </p:nvSpPr>
        <p:spPr>
          <a:xfrm>
            <a:off x="4572000" y="3996036"/>
            <a:ext cx="3864963" cy="1359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&gt; python3 </a:t>
            </a:r>
            <a:r>
              <a:rPr lang="en-US" sz="1500" b="1" dirty="0">
                <a:solidFill>
                  <a:schemeClr val="tx1"/>
                </a:solidFill>
                <a:latin typeface="Consolas" pitchFamily="49" charset="0"/>
              </a:rPr>
              <a:t>myfile1.py</a:t>
            </a:r>
          </a:p>
          <a:p>
            <a:pPr marL="57150" algn="l" rtl="0"/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Hello Python!</a:t>
            </a:r>
            <a:endParaRPr lang="he-IL" sz="1500" dirty="0">
              <a:solidFill>
                <a:schemeClr val="tx2"/>
              </a:solidFill>
              <a:latin typeface="Consolas" pitchFamily="49" charset="0"/>
            </a:endParaRPr>
          </a:p>
          <a:p>
            <a:pPr marL="57150" indent="0" algn="l" defTabSz="914400" rtl="0" eaLnBrk="1" latinLnBrk="0" hangingPunct="1">
              <a:buNone/>
            </a:pPr>
            <a:endParaRPr lang="en-US" sz="800" dirty="0">
              <a:solidFill>
                <a:schemeClr val="tx2"/>
              </a:solidFill>
              <a:latin typeface="Consolas" pitchFamily="49" charset="0"/>
            </a:endParaRP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&gt; python3 </a:t>
            </a:r>
            <a:r>
              <a:rPr lang="en-US" sz="1500" b="1" dirty="0">
                <a:solidFill>
                  <a:schemeClr val="tx1"/>
                </a:solidFill>
                <a:latin typeface="Consolas" pitchFamily="49" charset="0"/>
              </a:rPr>
              <a:t>myfile2.py</a:t>
            </a:r>
          </a:p>
          <a:p>
            <a:pPr marL="57150" algn="l" rtl="0"/>
            <a:r>
              <a:rPr lang="en-US" sz="1500" dirty="0">
                <a:solidFill>
                  <a:schemeClr val="tx2"/>
                </a:solidFill>
                <a:latin typeface="Consolas" pitchFamily="49" charset="0"/>
              </a:rPr>
              <a:t>Python is cool!</a:t>
            </a:r>
          </a:p>
          <a:p>
            <a:pPr marL="57150" algn="l" rtl="0"/>
            <a:endParaRPr lang="en-US" sz="1500" dirty="0">
              <a:solidFill>
                <a:schemeClr val="tx2"/>
              </a:solidFill>
              <a:latin typeface="Consolas" pitchFamily="49" charset="0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FCEBA7C-9B3B-4FD1-BB25-BD76C3511FF2}"/>
              </a:ext>
            </a:extLst>
          </p:cNvPr>
          <p:cNvSpPr/>
          <p:nvPr/>
        </p:nvSpPr>
        <p:spPr>
          <a:xfrm rot="16200000">
            <a:off x="455636" y="2206147"/>
            <a:ext cx="344468" cy="4665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D18994-FF2A-3429-7F9C-6B6629652A51}"/>
              </a:ext>
            </a:extLst>
          </p:cNvPr>
          <p:cNvSpPr/>
          <p:nvPr/>
        </p:nvSpPr>
        <p:spPr>
          <a:xfrm>
            <a:off x="719750" y="4441239"/>
            <a:ext cx="3603906" cy="8763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marL="57150" indent="0" algn="l" defTabSz="914400" rtl="0" eaLnBrk="1" latinLnBrk="0" hangingPunct="1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import </a:t>
            </a:r>
            <a:r>
              <a:rPr lang="en-US" sz="1500" b="1" dirty="0">
                <a:solidFill>
                  <a:schemeClr val="tx1"/>
                </a:solidFill>
                <a:latin typeface="Consolas" pitchFamily="49" charset="0"/>
              </a:rPr>
              <a:t>myfile1</a:t>
            </a:r>
          </a:p>
          <a:p>
            <a:pPr marL="57150" algn="l" rtl="0"/>
            <a:r>
              <a:rPr lang="en-US" sz="1500" dirty="0">
                <a:solidFill>
                  <a:schemeClr val="tx1"/>
                </a:solidFill>
                <a:latin typeface="Consolas" pitchFamily="49" charset="0"/>
              </a:rPr>
              <a:t>print(myfile1.getlanguageName() + ' is cool!')</a:t>
            </a:r>
            <a:endParaRPr lang="en-US" dirty="0">
              <a:solidFill>
                <a:schemeClr val="tx1"/>
              </a:solidFill>
              <a:latin typeface="Consola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7D5726-CC7F-0F1D-8A6D-25B7CD7EDB77}"/>
              </a:ext>
            </a:extLst>
          </p:cNvPr>
          <p:cNvSpPr txBox="1"/>
          <p:nvPr/>
        </p:nvSpPr>
        <p:spPr>
          <a:xfrm>
            <a:off x="705782" y="4022369"/>
            <a:ext cx="1276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b="1" dirty="0" err="1"/>
              <a:t>myfile</a:t>
            </a:r>
            <a:r>
              <a:rPr lang="he-IL" b="1" dirty="0"/>
              <a:t>2</a:t>
            </a:r>
            <a:r>
              <a:rPr lang="en-US" b="1" dirty="0"/>
              <a:t>.py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013622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1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12EB-11D1-4159-A58A-C64598342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הרצת קבצי פייתון - סיכום	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88C31-611E-4BB1-973A-833A13427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e-IL"/>
              <a:t>בהרצה ובייבוא (</a:t>
            </a:r>
            <a:r>
              <a:rPr lang="en-US"/>
              <a:t>import</a:t>
            </a:r>
            <a:r>
              <a:rPr lang="he-IL"/>
              <a:t>) של קובץ פייתון שורות הקובץ מתבצעות אחת אחרי השנייה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e-IL"/>
              <a:t>ניתן להשתמש בתנאי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if __name__=="__main__"</a:t>
            </a:r>
            <a:r>
              <a:rPr lang="he-IL"/>
              <a:t> לעיטוף פקודות שאינן לביצוע בעת </a:t>
            </a:r>
            <a:r>
              <a:rPr lang="en-US"/>
              <a:t>import</a:t>
            </a:r>
            <a:endParaRPr lang="he-IL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F6EE6-824E-401D-BAE3-50631CF0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לתכנות מערכות - </a:t>
            </a:r>
            <a:r>
              <a:rPr lang="he-IL" dirty="0"/>
              <a:t>234124</a:t>
            </a:r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79902-EF2B-448D-AA7D-8D33D68C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27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671249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57400"/>
            <a:ext cx="7772400" cy="1470025"/>
          </a:xfrm>
        </p:spPr>
        <p:txBody>
          <a:bodyPr/>
          <a:lstStyle/>
          <a:p>
            <a:pPr defTabSz="914400" eaLnBrk="1" latinLnBrk="0" hangingPunct="1">
              <a:spcBef>
                <a:spcPct val="0"/>
              </a:spcBef>
              <a:buNone/>
            </a:pPr>
            <a:r>
              <a:rPr lang="en-US" dirty="0"/>
              <a:t>Named &amp; Unnamed Arguments</a:t>
            </a:r>
            <a:endParaRPr lang="he-I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960260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פרמטרים ברירת-מחדל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1377386" y="1351826"/>
            <a:ext cx="7309413" cy="16312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כמו ב-</a:t>
            </a:r>
            <a:r>
              <a:rPr lang="en-US" sz="2000" dirty="0">
                <a:latin typeface="Consolas" panose="020B0609020204030204" pitchFamily="49" charset="0"/>
              </a:rPr>
              <a:t>C++</a:t>
            </a:r>
            <a:r>
              <a:rPr lang="he-IL" sz="2000" dirty="0">
                <a:latin typeface="Consolas" panose="020B0609020204030204" pitchFamily="49" charset="0"/>
              </a:rPr>
              <a:t>, ניתן להגדיר בפייתון פרמטרים ברירת מחדל (</a:t>
            </a:r>
            <a:r>
              <a:rPr lang="en-US" sz="2000" dirty="0">
                <a:latin typeface="Consolas" panose="020B0609020204030204" pitchFamily="49" charset="0"/>
              </a:rPr>
              <a:t>default arguments</a:t>
            </a:r>
            <a:r>
              <a:rPr lang="he-IL" sz="2000" dirty="0">
                <a:latin typeface="Consolas" panose="020B0609020204030204" pitchFamily="49" charset="0"/>
              </a:rPr>
              <a:t>) לפונקציות. התחביר וההתנהגות דומים לאלה שב-</a:t>
            </a:r>
            <a:r>
              <a:rPr lang="en-US" sz="2000" dirty="0">
                <a:latin typeface="Consolas" panose="020B0609020204030204" pitchFamily="49" charset="0"/>
              </a:rPr>
              <a:t>C++</a:t>
            </a:r>
            <a:r>
              <a:rPr lang="he-IL" sz="2000" dirty="0">
                <a:latin typeface="Consolas" panose="020B0609020204030204" pitchFamily="49" charset="0"/>
              </a:rPr>
              <a:t>.</a:t>
            </a: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rgbClr val="000000"/>
                </a:solidFill>
                <a:latin typeface="Segoe UI" panose="020B0502040204020203" pitchFamily="34" charset="0"/>
              </a:rPr>
              <a:t>אפשר להגדיר את ערכי ה-</a:t>
            </a:r>
            <a:r>
              <a:rPr lang="en-US" sz="2000" dirty="0">
                <a:solidFill>
                  <a:srgbClr val="000000"/>
                </a:solidFill>
                <a:latin typeface="Segoe UI" panose="020B0502040204020203" pitchFamily="34" charset="0"/>
              </a:rPr>
              <a:t>default</a:t>
            </a:r>
            <a:r>
              <a:rPr lang="he-IL" sz="2000" dirty="0">
                <a:solidFill>
                  <a:srgbClr val="000000"/>
                </a:solidFill>
                <a:latin typeface="Segoe UI" panose="020B0502040204020203" pitchFamily="34" charset="0"/>
              </a:rPr>
              <a:t> רק לפרמטרים האחרונים של הפונקציה, כמו ב-</a:t>
            </a:r>
            <a:r>
              <a:rPr lang="en-US" sz="2000" dirty="0">
                <a:solidFill>
                  <a:srgbClr val="000000"/>
                </a:solidFill>
                <a:latin typeface="Segoe UI" panose="020B0502040204020203" pitchFamily="34" charset="0"/>
              </a:rPr>
              <a:t>C++</a:t>
            </a:r>
            <a:r>
              <a:rPr lang="ar" sz="2000" dirty="0">
                <a:solidFill>
                  <a:srgbClr val="000000"/>
                </a:solidFill>
                <a:latin typeface="Segoe UI" panose="020B0502040204020203" pitchFamily="34" charset="0"/>
              </a:rPr>
              <a:t>.</a:t>
            </a:r>
            <a:endParaRPr lang="en-US" sz="2000" dirty="0">
              <a:solidFill>
                <a:prstClr val="black"/>
              </a:solidFill>
              <a:latin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5AC44BCF-56E9-748B-CDE7-F18B46EACB0C}"/>
              </a:ext>
            </a:extLst>
          </p:cNvPr>
          <p:cNvSpPr/>
          <p:nvPr/>
        </p:nvSpPr>
        <p:spPr>
          <a:xfrm>
            <a:off x="436948" y="2830001"/>
            <a:ext cx="8507288" cy="16754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student(name, grade = 100):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	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The student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name,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got a grade of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grade)</a:t>
            </a:r>
            <a:endParaRPr lang="en-US" b="1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student(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Alice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 # The student Alice got a grade of 100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student(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Bob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90) # The student Bob got a grade of 90.</a:t>
            </a:r>
          </a:p>
        </p:txBody>
      </p:sp>
    </p:spTree>
    <p:extLst>
      <p:ext uri="{BB962C8B-B14F-4D97-AF65-F5344CB8AC3E}">
        <p14:creationId xmlns:p14="http://schemas.microsoft.com/office/powerpoint/2010/main" val="16694937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852" y="208826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פרמטרים עם שם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351826"/>
            <a:ext cx="7935834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בפייתון, ניתן להעביר ארגומנטים לפונקציה בשתי דרכים: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בדרך </a:t>
            </a:r>
            <a:r>
              <a:rPr lang="he-IL" sz="2000" u="sng" dirty="0">
                <a:latin typeface="Consolas" panose="020B0609020204030204" pitchFamily="49" charset="0"/>
              </a:rPr>
              <a:t>המיקומית (</a:t>
            </a:r>
            <a:r>
              <a:rPr lang="en-US" sz="2000" u="sng" dirty="0">
                <a:latin typeface="Consolas" panose="020B0609020204030204" pitchFamily="49" charset="0"/>
              </a:rPr>
              <a:t>positional</a:t>
            </a:r>
            <a:r>
              <a:rPr lang="he-IL" sz="2000" u="sng" dirty="0">
                <a:latin typeface="Consolas" panose="020B0609020204030204" pitchFamily="49" charset="0"/>
              </a:rPr>
              <a:t>)</a:t>
            </a:r>
            <a:r>
              <a:rPr lang="he-IL" sz="2000" dirty="0">
                <a:latin typeface="Consolas" panose="020B0609020204030204" pitchFamily="49" charset="0"/>
              </a:rPr>
              <a:t>, כאשר מציבים את הפרמטרים לפי הסדר בחתימת הפונקציה.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בדרך </a:t>
            </a:r>
            <a:r>
              <a:rPr lang="he-IL" sz="2000" u="sng" dirty="0">
                <a:latin typeface="Consolas" panose="020B0609020204030204" pitchFamily="49" charset="0"/>
              </a:rPr>
              <a:t>השמית (</a:t>
            </a:r>
            <a:r>
              <a:rPr lang="en-US" sz="2000" u="sng" dirty="0">
                <a:latin typeface="Consolas" panose="020B0609020204030204" pitchFamily="49" charset="0"/>
              </a:rPr>
              <a:t>named</a:t>
            </a:r>
            <a:r>
              <a:rPr lang="he-IL" sz="2000" u="sng" dirty="0">
                <a:latin typeface="Consolas" panose="020B0609020204030204" pitchFamily="49" charset="0"/>
              </a:rPr>
              <a:t>)</a:t>
            </a:r>
            <a:r>
              <a:rPr lang="he-IL" sz="2000" dirty="0">
                <a:latin typeface="Consolas" panose="020B0609020204030204" pitchFamily="49" charset="0"/>
              </a:rPr>
              <a:t>, כאשר כל פרמטר ניתן בתוספת השם שלו.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הדרך השמית שימושית במיוחד במקרים בהם יש פרמטרים רבים ורבים מהם אופציונליים.</a:t>
            </a: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5AC44BCF-56E9-748B-CDE7-F18B46EACB0C}"/>
              </a:ext>
            </a:extLst>
          </p:cNvPr>
          <p:cNvSpPr/>
          <p:nvPr/>
        </p:nvSpPr>
        <p:spPr>
          <a:xfrm>
            <a:off x="426852" y="3530281"/>
            <a:ext cx="8507288" cy="23469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student(name, grade = 100):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	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The student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name,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got a grade of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grade)</a:t>
            </a:r>
            <a:endParaRPr lang="en-US" b="1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student(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Alice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 # Positional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student(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Bob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90) # Positional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student(name =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Alice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 # Named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student(name =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Bob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grade = 90) # Named</a:t>
            </a:r>
            <a:endParaRPr lang="he-IL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student(grade = 90 , name =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Bob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’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 </a:t>
            </a:r>
          </a:p>
        </p:txBody>
      </p:sp>
      <p:sp>
        <p:nvSpPr>
          <p:cNvPr id="10" name="Rectangular Callout 7">
            <a:extLst>
              <a:ext uri="{FF2B5EF4-FFF2-40B4-BE49-F238E27FC236}">
                <a16:creationId xmlns:a16="http://schemas.microsoft.com/office/drawing/2014/main" id="{6E591D8D-2D65-F0A5-DE0E-AE2D5612F7C5}"/>
              </a:ext>
            </a:extLst>
          </p:cNvPr>
          <p:cNvSpPr/>
          <p:nvPr/>
        </p:nvSpPr>
        <p:spPr>
          <a:xfrm>
            <a:off x="6334806" y="4953965"/>
            <a:ext cx="1925568" cy="1200403"/>
          </a:xfrm>
          <a:prstGeom prst="wedgeRectCallout">
            <a:avLst>
              <a:gd name="adj1" fmla="val -121350"/>
              <a:gd name="adj2" fmla="val 13458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500" dirty="0"/>
              <a:t>כאשר הפרמטרים מזוהים לפי שמם, אין צורך לשמור על הסדר המקורי שלהם לפי חתימת הפונקציה</a:t>
            </a:r>
          </a:p>
        </p:txBody>
      </p:sp>
    </p:spTree>
    <p:extLst>
      <p:ext uri="{BB962C8B-B14F-4D97-AF65-F5344CB8AC3E}">
        <p14:creationId xmlns:p14="http://schemas.microsoft.com/office/powerpoint/2010/main" val="38537783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8826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פרמטרים עם שם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מבוא לתכנות מערכות - 234124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351826"/>
            <a:ext cx="7935834" cy="27392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יתרונות של השיטה השמית להעברת פרמטרים: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שמות הפרמטרים מופיעים ליד הערכים המתאימים, מה שתורם לקריאות ומונע שגיאות.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e-IL" sz="1600" dirty="0">
                <a:latin typeface="Consolas" panose="020B0609020204030204" pitchFamily="49" charset="0"/>
              </a:rPr>
              <a:t>למשל, האם פונקציה המעתיקה בין שני קבצים מקבלת קודם את המקור או את היעד?).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הפרמטרים לא חייבים להופיע לפי הסדר שלהם בחתימת הפונקציה.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ניתן לשלב בין שתי השיטות אבל חייבים לשים קודם את כל הפרמטרים המיקומיים על פי סדרם בחתימת הפונקציה, ורק לאחר מכן את הפרמטרים השמיים.:</a:t>
            </a: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5AC44BCF-56E9-748B-CDE7-F18B46EACB0C}"/>
              </a:ext>
            </a:extLst>
          </p:cNvPr>
          <p:cNvSpPr/>
          <p:nvPr/>
        </p:nvSpPr>
        <p:spPr>
          <a:xfrm>
            <a:off x="465239" y="4150698"/>
            <a:ext cx="8507288" cy="1440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student(name, grade = 100):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	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The student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name,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got a grade of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grade)</a:t>
            </a:r>
            <a:endParaRPr lang="en-US" b="1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student(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‘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Bob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grade = 90) # Named</a:t>
            </a:r>
          </a:p>
        </p:txBody>
      </p:sp>
    </p:spTree>
    <p:extLst>
      <p:ext uri="{BB962C8B-B14F-4D97-AF65-F5344CB8AC3E}">
        <p14:creationId xmlns:p14="http://schemas.microsoft.com/office/powerpoint/2010/main" val="30081340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פרמטרים שמים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351826"/>
            <a:ext cx="7935834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מה הקריאה הבאה עושה?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5AC44BCF-56E9-748B-CDE7-F18B46EACB0C}"/>
              </a:ext>
            </a:extLst>
          </p:cNvPr>
          <p:cNvSpPr/>
          <p:nvPr/>
        </p:nvSpPr>
        <p:spPr>
          <a:xfrm>
            <a:off x="787896" y="2002815"/>
            <a:ext cx="7442522" cy="20536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applyFactor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(grades,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additive_factor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multiply_factor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use_factor_shoresh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= False):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if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use_factor_shoresh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 grades = [sqrt(grade)*10 for grade in grades]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grades = [grade*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multiply_factor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+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additive_factor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					for grade in grades]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return [round(grade) for grade in grades]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752E29AC-1A45-D7A2-D78C-2D80F6BFD787}"/>
              </a:ext>
            </a:extLst>
          </p:cNvPr>
          <p:cNvSpPr/>
          <p:nvPr/>
        </p:nvSpPr>
        <p:spPr>
          <a:xfrm>
            <a:off x="597716" y="5187667"/>
            <a:ext cx="8145338" cy="637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applyFactor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(grades,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additive_factor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= 5,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multiply_factor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= 1.1,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use_factor_shoresh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= True)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0F26C948-0C17-F965-AB57-E460A361C5D4}"/>
              </a:ext>
            </a:extLst>
          </p:cNvPr>
          <p:cNvSpPr txBox="1"/>
          <p:nvPr/>
        </p:nvSpPr>
        <p:spPr>
          <a:xfrm>
            <a:off x="5135202" y="4631826"/>
            <a:ext cx="289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000" dirty="0">
                <a:latin typeface="Consolas" panose="020B0609020204030204" pitchFamily="49" charset="0"/>
              </a:rPr>
              <a:t>יותר ברור עכשיו?</a:t>
            </a:r>
          </a:p>
          <a:p>
            <a:endParaRPr lang="en-US" sz="2000" dirty="0"/>
          </a:p>
        </p:txBody>
      </p:sp>
      <p:sp>
        <p:nvSpPr>
          <p:cNvPr id="11" name="Rectangle 19">
            <a:extLst>
              <a:ext uri="{FF2B5EF4-FFF2-40B4-BE49-F238E27FC236}">
                <a16:creationId xmlns:a16="http://schemas.microsoft.com/office/drawing/2014/main" id="{44BB056F-D676-E036-1104-8A029BCD9E6D}"/>
              </a:ext>
            </a:extLst>
          </p:cNvPr>
          <p:cNvSpPr/>
          <p:nvPr/>
        </p:nvSpPr>
        <p:spPr>
          <a:xfrm>
            <a:off x="787896" y="4217492"/>
            <a:ext cx="6267001" cy="424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applyFactor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(grades,5,1.1, True)</a:t>
            </a:r>
          </a:p>
        </p:txBody>
      </p:sp>
    </p:spTree>
    <p:extLst>
      <p:ext uri="{BB962C8B-B14F-4D97-AF65-F5344CB8AC3E}">
        <p14:creationId xmlns:p14="http://schemas.microsoft.com/office/powerpoint/2010/main" val="8401617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3" grpId="0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pPr rtl="0"/>
            <a:r>
              <a:rPr lang="he-IL" sz="3600" dirty="0"/>
              <a:t>פונקציות עם מספר פרמטרים משתנה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351826"/>
            <a:ext cx="7935834" cy="3477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rgbClr val="000000"/>
                </a:solidFill>
                <a:latin typeface="Segoe UI" panose="020B0502040204020203" pitchFamily="34" charset="0"/>
              </a:rPr>
              <a:t>ניתן להגדיר פונקציה שמקבלת מספר לא ידוע מראש של פרמטרים מיקומיים (ללא שם). אופציונלית, ניתן גם לקבל לאחריהם פרמטרים שמיים.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rgbClr val="000000"/>
                </a:solidFill>
                <a:latin typeface="Segoe UI" panose="020B0502040204020203" pitchFamily="34" charset="0"/>
              </a:rPr>
              <a:t>כל הפרמטרים המיקומיים יתקבלו בפונקציה כרשימה (</a:t>
            </a:r>
            <a:r>
              <a:rPr lang="en-US" sz="2000" dirty="0">
                <a:solidFill>
                  <a:srgbClr val="000000"/>
                </a:solidFill>
                <a:latin typeface="Segoe UI" panose="020B0502040204020203" pitchFamily="34" charset="0"/>
              </a:rPr>
              <a:t>list</a:t>
            </a:r>
            <a:r>
              <a:rPr lang="he-IL" sz="2000" dirty="0">
                <a:solidFill>
                  <a:srgbClr val="000000"/>
                </a:solidFill>
                <a:latin typeface="Segoe UI" panose="020B0502040204020203" pitchFamily="34" charset="0"/>
              </a:rPr>
              <a:t>) אחת, שאורכה כמספר הפרמטרים המיקומיים שהועברו.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5AC44BCF-56E9-748B-CDE7-F18B46EACB0C}"/>
              </a:ext>
            </a:extLst>
          </p:cNvPr>
          <p:cNvSpPr/>
          <p:nvPr/>
        </p:nvSpPr>
        <p:spPr>
          <a:xfrm>
            <a:off x="585618" y="3090763"/>
            <a:ext cx="7935834" cy="1498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print_numbers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(*numbers, separator=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for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num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numbers[:-1]: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print(num, end =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print(separator, end =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print(numbers[-1])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DD2C5D38-978A-036F-17CF-57DF79EC41B1}"/>
              </a:ext>
            </a:extLst>
          </p:cNvPr>
          <p:cNvSpPr/>
          <p:nvPr/>
        </p:nvSpPr>
        <p:spPr>
          <a:xfrm>
            <a:off x="604083" y="4793289"/>
            <a:ext cx="7935834" cy="12798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print_numbers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(1, 2, 3, 4)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1, 2, 3, 4</a:t>
            </a:r>
            <a:b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</a:b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print_numbers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(1, 2, 3, 4, 5, separator =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1 2 3 4 5</a:t>
            </a:r>
          </a:p>
        </p:txBody>
      </p:sp>
      <p:sp>
        <p:nvSpPr>
          <p:cNvPr id="11" name="Rectangular Callout 7">
            <a:extLst>
              <a:ext uri="{FF2B5EF4-FFF2-40B4-BE49-F238E27FC236}">
                <a16:creationId xmlns:a16="http://schemas.microsoft.com/office/drawing/2014/main" id="{21F9C70E-4442-D076-C292-BDAE4A61864C}"/>
              </a:ext>
            </a:extLst>
          </p:cNvPr>
          <p:cNvSpPr/>
          <p:nvPr/>
        </p:nvSpPr>
        <p:spPr>
          <a:xfrm>
            <a:off x="6219059" y="3054292"/>
            <a:ext cx="1925568" cy="1200403"/>
          </a:xfrm>
          <a:prstGeom prst="wedgeRectCallout">
            <a:avLst>
              <a:gd name="adj1" fmla="val -121350"/>
              <a:gd name="adj2" fmla="val 13458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500" dirty="0"/>
              <a:t>הפרמטר השמי </a:t>
            </a:r>
            <a:r>
              <a:rPr lang="en-US" sz="1500" dirty="0"/>
              <a:t>end</a:t>
            </a:r>
            <a:r>
              <a:rPr lang="he-IL" sz="1500" dirty="0"/>
              <a:t> מגדיר את התו/מחרוזת שיודפס אחרי תוכן ה</a:t>
            </a:r>
            <a:r>
              <a:rPr lang="en-US" sz="1500" dirty="0"/>
              <a:t>print</a:t>
            </a:r>
            <a:r>
              <a:rPr lang="he-IL" sz="1500" dirty="0"/>
              <a:t>. (ברירת המחדל היא ירידת שורה)</a:t>
            </a:r>
          </a:p>
        </p:txBody>
      </p:sp>
    </p:spTree>
    <p:extLst>
      <p:ext uri="{BB962C8B-B14F-4D97-AF65-F5344CB8AC3E}">
        <p14:creationId xmlns:p14="http://schemas.microsoft.com/office/powerpoint/2010/main" val="27231613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pPr rtl="0"/>
            <a:r>
              <a:rPr lang="he-IL" sz="3600" dirty="0"/>
              <a:t>פונקציות עם מספר פרמטרים משתנה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351826"/>
            <a:ext cx="7935834" cy="2862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 rtl="1"/>
            <a:r>
              <a:rPr lang="he-IL" sz="2000" dirty="0">
                <a:solidFill>
                  <a:srgbClr val="000000"/>
                </a:solidFill>
                <a:latin typeface="Segoe UI" panose="020B0502040204020203" pitchFamily="34" charset="0"/>
              </a:rPr>
              <a:t> ניתן להגדיר פונקציה המקבלת מספר לא ידוע מראש של פרמטרים שמיים, שיתקבלו בתור מילון (</a:t>
            </a:r>
            <a:r>
              <a:rPr lang="en-US" sz="2000" dirty="0" err="1">
                <a:solidFill>
                  <a:srgbClr val="000000"/>
                </a:solidFill>
                <a:latin typeface="Segoe UI" panose="020B0502040204020203" pitchFamily="34" charset="0"/>
              </a:rPr>
              <a:t>dict</a:t>
            </a:r>
            <a:r>
              <a:rPr lang="he-IL" sz="2000" dirty="0">
                <a:solidFill>
                  <a:srgbClr val="000000"/>
                </a:solidFill>
                <a:latin typeface="Segoe UI" panose="020B0502040204020203" pitchFamily="34" charset="0"/>
              </a:rPr>
              <a:t>) שהמפתחות שלו הם שמות הפרמטרים, והערכים שלו הם ערכי הפרמטרים שהועברו:</a:t>
            </a:r>
            <a:endParaRPr lang="he-IL" sz="2000" dirty="0">
              <a:solidFill>
                <a:prstClr val="black"/>
              </a:solidFill>
              <a:latin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5AC44BCF-56E9-748B-CDE7-F18B46EACB0C}"/>
              </a:ext>
            </a:extLst>
          </p:cNvPr>
          <p:cNvSpPr/>
          <p:nvPr/>
        </p:nvSpPr>
        <p:spPr>
          <a:xfrm>
            <a:off x="604083" y="2408276"/>
            <a:ext cx="7935834" cy="10207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print_grades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(**students):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for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student, grade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students.items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():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 print(student, grade)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9AC2CD69-C3AB-CD58-D8B9-6FBB3AEB66D5}"/>
              </a:ext>
            </a:extLst>
          </p:cNvPr>
          <p:cNvSpPr/>
          <p:nvPr/>
        </p:nvSpPr>
        <p:spPr>
          <a:xfrm>
            <a:off x="604083" y="3913353"/>
            <a:ext cx="7935834" cy="1143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print_grades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alex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=100, bob=90,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alice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=95)</a:t>
            </a:r>
          </a:p>
          <a:p>
            <a:pPr algn="l" rtl="0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alex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100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bob 90</a:t>
            </a:r>
          </a:p>
          <a:p>
            <a:pPr algn="l" rtl="0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alice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95</a:t>
            </a:r>
          </a:p>
        </p:txBody>
      </p:sp>
    </p:spTree>
    <p:extLst>
      <p:ext uri="{BB962C8B-B14F-4D97-AF65-F5344CB8AC3E}">
        <p14:creationId xmlns:p14="http://schemas.microsoft.com/office/powerpoint/2010/main" val="28762779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פרמטרים שמים - סיכום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292608" y="1772816"/>
            <a:ext cx="8394192" cy="32316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כמו ב-</a:t>
            </a:r>
            <a:r>
              <a:rPr lang="en-US" sz="2000" dirty="0">
                <a:latin typeface="Consolas" panose="020B0609020204030204" pitchFamily="49" charset="0"/>
              </a:rPr>
              <a:t>C++</a:t>
            </a:r>
            <a:r>
              <a:rPr lang="he-IL" sz="2000" dirty="0">
                <a:latin typeface="Consolas" panose="020B0609020204030204" pitchFamily="49" charset="0"/>
              </a:rPr>
              <a:t>, </a:t>
            </a:r>
            <a:r>
              <a:rPr lang="he-IL" sz="2000" dirty="0" err="1">
                <a:latin typeface="Consolas" panose="020B0609020204030204" pitchFamily="49" charset="0"/>
              </a:rPr>
              <a:t>בפייתון</a:t>
            </a:r>
            <a:r>
              <a:rPr lang="he-IL" sz="2000" dirty="0">
                <a:latin typeface="Consolas" panose="020B0609020204030204" pitchFamily="49" charset="0"/>
              </a:rPr>
              <a:t> יש אפשרות להגדיר ערכי ברירת-מחדל לפרמטרים לפונקציות ולמתודות.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 err="1">
                <a:latin typeface="Consolas" panose="020B0609020204030204" pitchFamily="49" charset="0"/>
              </a:rPr>
              <a:t>בפייתון</a:t>
            </a:r>
            <a:r>
              <a:rPr lang="he-IL" sz="2000" dirty="0">
                <a:latin typeface="Consolas" panose="020B0609020204030204" pitchFamily="49" charset="0"/>
              </a:rPr>
              <a:t> ניתן לקרוא לפונקציות באמצעות שמות הפרמטרים ולא רק באמצעות הסדר שלהם.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סגנון זה נקרא </a:t>
            </a:r>
            <a:r>
              <a:rPr lang="en-US" sz="2000" dirty="0">
                <a:latin typeface="Consolas" panose="020B0609020204030204" pitchFamily="49" charset="0"/>
              </a:rPr>
              <a:t>Named</a:t>
            </a:r>
            <a:r>
              <a:rPr lang="he-IL" sz="2000" dirty="0">
                <a:latin typeface="Consolas" panose="020B0609020204030204" pitchFamily="49" charset="0"/>
              </a:rPr>
              <a:t> והיתרונות שלו כוללים קריאות משופרת וחוסר תלות בסדר הפרמטרים.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ניתן להגדיר פונקציות עם מספר פרמטרים משתנה. ניתן לבחור האם לקבל אותם לפי </a:t>
            </a:r>
            <a:r>
              <a:rPr lang="en-US" sz="2000" dirty="0">
                <a:latin typeface="Consolas" panose="020B0609020204030204" pitchFamily="49" charset="0"/>
              </a:rPr>
              <a:t>Positional</a:t>
            </a:r>
            <a:r>
              <a:rPr lang="he-IL" sz="2000" dirty="0">
                <a:latin typeface="Consolas" panose="020B0609020204030204" pitchFamily="49" charset="0"/>
              </a:rPr>
              <a:t> (ואז תתקבל רשימה) או לפי </a:t>
            </a:r>
            <a:r>
              <a:rPr lang="en-US" sz="2000" dirty="0">
                <a:latin typeface="Consolas" panose="020B0609020204030204" pitchFamily="49" charset="0"/>
              </a:rPr>
              <a:t>Named</a:t>
            </a:r>
            <a:r>
              <a:rPr lang="he-IL" sz="2000" dirty="0">
                <a:latin typeface="Consolas" panose="020B0609020204030204" pitchFamily="49" charset="0"/>
              </a:rPr>
              <a:t> (ואז יתקבל </a:t>
            </a:r>
            <a:r>
              <a:rPr lang="en-US" sz="2000" dirty="0" err="1">
                <a:latin typeface="Consolas" panose="020B0609020204030204" pitchFamily="49" charset="0"/>
              </a:rPr>
              <a:t>dict</a:t>
            </a:r>
            <a:r>
              <a:rPr lang="he-IL" sz="2000" dirty="0">
                <a:latin typeface="Consolas" panose="020B0609020204030204" pitchFamily="49" charset="0"/>
              </a:rPr>
              <a:t>).</a:t>
            </a: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אפשר לשלב בין האפשרויות.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14120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Gisha"/>
      </a:majorFont>
      <a:minorFont>
        <a:latin typeface="Calibri"/>
        <a:ea typeface=""/>
        <a:cs typeface="Gish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3599</Words>
  <Application>Microsoft Office PowerPoint</Application>
  <PresentationFormat>On-screen Show (4:3)</PresentationFormat>
  <Paragraphs>669</Paragraphs>
  <Slides>35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Wingdings</vt:lpstr>
      <vt:lpstr>Verdana</vt:lpstr>
      <vt:lpstr>Consolas</vt:lpstr>
      <vt:lpstr>Arial</vt:lpstr>
      <vt:lpstr>Segoe UI</vt:lpstr>
      <vt:lpstr>Calibri</vt:lpstr>
      <vt:lpstr>Office Theme</vt:lpstr>
      <vt:lpstr>תרגול מס’ 12  </vt:lpstr>
      <vt:lpstr>לולאות for</vt:lpstr>
      <vt:lpstr>לולאת  for</vt:lpstr>
      <vt:lpstr>Range</vt:lpstr>
      <vt:lpstr>לולאת  forעם range</vt:lpstr>
      <vt:lpstr>לולאת  forעם enumerate</vt:lpstr>
      <vt:lpstr>פקודת zip</vt:lpstr>
      <vt:lpstr>לולאת  for</vt:lpstr>
      <vt:lpstr>List Comprehensions </vt:lpstr>
      <vt:lpstr>List Comprehensions </vt:lpstr>
      <vt:lpstr>לולאות for – סיכום </vt:lpstr>
      <vt:lpstr>מילונים</vt:lpstr>
      <vt:lpstr>dict</vt:lpstr>
      <vt:lpstr>פעולות על מילון</vt:lpstr>
      <vt:lpstr>for על מילון</vt:lpstr>
      <vt:lpstr>dictionary comprehensions </vt:lpstr>
      <vt:lpstr>dictionary comprehensions </vt:lpstr>
      <vt:lpstr>פונקציות</vt:lpstr>
      <vt:lpstr>פונקציות בפייתון</vt:lpstr>
      <vt:lpstr>דוגמאות</vt:lpstr>
      <vt:lpstr>העברת פונקציה כפרמטר</vt:lpstr>
      <vt:lpstr>דוגמה: חישוב נגזרת (נומרית)</vt:lpstr>
      <vt:lpstr>ייבוא והרצת קבצי פייתון, import</vt:lpstr>
      <vt:lpstr>ייבוא והרצת קבצי פייתון</vt:lpstr>
      <vt:lpstr>הרצה כתסריט</vt:lpstr>
      <vt:lpstr>ייבוא והרצת קבצי פייתון</vt:lpstr>
      <vt:lpstr>הרצת קבצי פייתון - סיכום </vt:lpstr>
      <vt:lpstr>Named &amp; Unnamed Arguments</vt:lpstr>
      <vt:lpstr>פרמטרים ברירת-מחדל</vt:lpstr>
      <vt:lpstr>פרמטרים עם שם</vt:lpstr>
      <vt:lpstr>פרמטרים עם שם</vt:lpstr>
      <vt:lpstr>פרמטרים שמים</vt:lpstr>
      <vt:lpstr>פונקציות עם מספר פרמטרים משתנה</vt:lpstr>
      <vt:lpstr>פונקציות עם מספר פרמטרים משתנה</vt:lpstr>
      <vt:lpstr>פרמטרים שמים - סיכום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Tomer Golany</dc:creator>
  <cp:keywords>CTPClassification=CTP_NT</cp:keywords>
  <cp:lastModifiedBy>Adi Harif</cp:lastModifiedBy>
  <cp:revision>119</cp:revision>
  <cp:lastPrinted>2010-11-27T20:42:52Z</cp:lastPrinted>
  <dcterms:created xsi:type="dcterms:W3CDTF">2010-10-03T12:36:09Z</dcterms:created>
  <dcterms:modified xsi:type="dcterms:W3CDTF">2024-03-17T09:38:33Z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8cf038d0-292a-4d5d-acd8-667d3ef86cef</vt:lpwstr>
  </property>
  <property fmtid="{D5CDD505-2E9C-101B-9397-08002B2CF9AE}" pid="3" name="CTP_BU">
    <vt:lpwstr>NA</vt:lpwstr>
  </property>
  <property fmtid="{D5CDD505-2E9C-101B-9397-08002B2CF9AE}" pid="4" name="CTP_IDSID">
    <vt:lpwstr>NA</vt:lpwstr>
  </property>
  <property fmtid="{D5CDD505-2E9C-101B-9397-08002B2CF9AE}" pid="5" name="CTP_WWID">
    <vt:lpwstr>NA</vt:lpwstr>
  </property>
  <property fmtid="{D5CDD505-2E9C-101B-9397-08002B2CF9AE}" pid="6" name="CTPClassification">
    <vt:lpwstr>CTP_NT</vt:lpwstr>
  </property>
  <property fmtid="{D5CDD505-2E9C-101B-9397-08002B2CF9AE}" pid="7" name="CTP_TimeStamp">
    <vt:lpwstr>2020-05-11 19:47:00Z</vt:lpwstr>
  </property>
</Properties>
</file>